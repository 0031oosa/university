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4"/>
  </p:notesMasterIdLst>
  <p:sldIdLst>
    <p:sldId id="256" r:id="rId2"/>
    <p:sldId id="257" r:id="rId3"/>
    <p:sldId id="258" r:id="rId4"/>
    <p:sldId id="259" r:id="rId5"/>
    <p:sldId id="261" r:id="rId6"/>
    <p:sldId id="275" r:id="rId7"/>
    <p:sldId id="262" r:id="rId8"/>
    <p:sldId id="264" r:id="rId9"/>
    <p:sldId id="263" r:id="rId10"/>
    <p:sldId id="265" r:id="rId11"/>
    <p:sldId id="266" r:id="rId12"/>
    <p:sldId id="267" r:id="rId13"/>
    <p:sldId id="269" r:id="rId14"/>
    <p:sldId id="268" r:id="rId15"/>
    <p:sldId id="270" r:id="rId16"/>
    <p:sldId id="271" r:id="rId17"/>
    <p:sldId id="272" r:id="rId18"/>
    <p:sldId id="273" r:id="rId19"/>
    <p:sldId id="274" r:id="rId20"/>
    <p:sldId id="311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1" r:id="rId42"/>
    <p:sldId id="302" r:id="rId43"/>
    <p:sldId id="303" r:id="rId44"/>
    <p:sldId id="304" r:id="rId45"/>
    <p:sldId id="308" r:id="rId46"/>
    <p:sldId id="309" r:id="rId47"/>
    <p:sldId id="310" r:id="rId48"/>
    <p:sldId id="300" r:id="rId49"/>
    <p:sldId id="305" r:id="rId50"/>
    <p:sldId id="306" r:id="rId51"/>
    <p:sldId id="307" r:id="rId52"/>
    <p:sldId id="260" r:id="rId5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098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1D202E-6756-4D62-A30B-5C8AC988AC0E}" type="datetimeFigureOut">
              <a:rPr lang="ru-RU" smtClean="0"/>
              <a:t>27.09.2023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FDDD27-F7E6-492A-A0EE-ADFFC749A3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5118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5314D-F3D3-461F-85A1-283661C4C455}" type="datetime1">
              <a:rPr lang="ru-RU" smtClean="0"/>
              <a:t>27.09.2023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3164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ABD67-6DD8-4611-8E38-45CEDF8BA3D5}" type="datetime1">
              <a:rPr lang="ru-RU" smtClean="0"/>
              <a:t>27.09.2023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4229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170F1-5F1E-4B38-AEC9-573264B1A05E}" type="datetime1">
              <a:rPr lang="ru-RU" smtClean="0"/>
              <a:t>27.09.2023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9002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13A20-2D7F-4B9E-9135-B78B9AF4BF14}" type="datetime1">
              <a:rPr lang="ru-RU" smtClean="0"/>
              <a:t>27.09.2023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0648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68C79-B0A5-4795-9D0F-FB1E8914ADC0}" type="datetime1">
              <a:rPr lang="ru-RU" smtClean="0"/>
              <a:t>27.09.2023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1479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EE470-D0DF-46D1-A8B8-212B3F2147E3}" type="datetime1">
              <a:rPr lang="ru-RU" smtClean="0"/>
              <a:t>27.09.2023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3531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EDAC5-C53E-4019-99BF-3703D3BA6FC5}" type="datetime1">
              <a:rPr lang="ru-RU" smtClean="0"/>
              <a:t>27.09.2023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9391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09B-54DB-43CF-8A79-7AF83BAEAAD7}" type="datetime1">
              <a:rPr lang="ru-RU" smtClean="0"/>
              <a:t>27.09.2023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6530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ADCAB-10CD-4CC5-942F-D0496CCEAE26}" type="datetime1">
              <a:rPr lang="ru-RU" smtClean="0"/>
              <a:t>27.09.2023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5376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91204-4B6F-4E82-9ACB-5EF9BD355208}" type="datetime1">
              <a:rPr lang="ru-RU" smtClean="0"/>
              <a:t>27.09.2023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3697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2DCE2-3848-4026-B150-C046361DF51B}" type="datetime1">
              <a:rPr lang="ru-RU" smtClean="0"/>
              <a:t>27.09.2023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9852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CD6747-9607-4F18-95B8-977FD01C586A}" type="datetime1">
              <a:rPr lang="ru-RU" smtClean="0"/>
              <a:t>27.09.2023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8C6A66-60B7-4ADF-9805-5C9ECF54A7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1409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169317"/>
            <a:ext cx="7772400" cy="2907755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Экспертные и рекомендательные информационно-аналитические системы</a:t>
            </a:r>
            <a:br>
              <a:rPr lang="ru-RU" b="1" dirty="0" smtClean="0"/>
            </a:br>
            <a:r>
              <a:rPr lang="ru-RU" b="1" dirty="0" smtClean="0"/>
              <a:t>(</a:t>
            </a:r>
            <a:r>
              <a:rPr lang="ru-RU" dirty="0" smtClean="0"/>
              <a:t>Раздел 1</a:t>
            </a:r>
            <a:r>
              <a:rPr lang="ru-RU" b="1" dirty="0" smtClean="0"/>
              <a:t>)</a:t>
            </a:r>
            <a:endParaRPr lang="ru-RU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4534272"/>
            <a:ext cx="6400800" cy="1415008"/>
          </a:xfrm>
        </p:spPr>
        <p:txBody>
          <a:bodyPr/>
          <a:lstStyle/>
          <a:p>
            <a:r>
              <a:rPr lang="ru-RU" dirty="0" smtClean="0"/>
              <a:t>Соловьев А.В.</a:t>
            </a:r>
          </a:p>
          <a:p>
            <a:r>
              <a:rPr lang="ru-RU" dirty="0" smtClean="0"/>
              <a:t>НИТУ </a:t>
            </a:r>
            <a:r>
              <a:rPr lang="ru-RU" dirty="0" err="1" smtClean="0"/>
              <a:t>МИСиС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81884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Экспертные системы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 lnSpcReduction="10000"/>
          </a:bodyPr>
          <a:lstStyle/>
          <a:p>
            <a:r>
              <a:rPr lang="ru-RU" b="1" i="1" dirty="0"/>
              <a:t>Экспертная </a:t>
            </a:r>
            <a:r>
              <a:rPr lang="ru-RU" b="1" i="1" dirty="0" smtClean="0"/>
              <a:t>система</a:t>
            </a:r>
            <a:r>
              <a:rPr lang="ru-RU" dirty="0"/>
              <a:t> </a:t>
            </a:r>
            <a:r>
              <a:rPr lang="ru-RU" dirty="0" smtClean="0"/>
              <a:t>(</a:t>
            </a:r>
            <a:r>
              <a:rPr lang="en-US" dirty="0" smtClean="0"/>
              <a:t>expert system)</a:t>
            </a:r>
            <a:r>
              <a:rPr lang="ru-RU" dirty="0" smtClean="0"/>
              <a:t>— </a:t>
            </a:r>
            <a:r>
              <a:rPr lang="ru-RU" dirty="0"/>
              <a:t>это </a:t>
            </a:r>
            <a:r>
              <a:rPr lang="ru-RU" dirty="0" smtClean="0"/>
              <a:t>информационная система, </a:t>
            </a:r>
            <a:r>
              <a:rPr lang="ru-RU" dirty="0"/>
              <a:t>которая заменяет эксперта в </a:t>
            </a:r>
            <a:r>
              <a:rPr lang="ru-RU" dirty="0" smtClean="0"/>
              <a:t>соответствующей предметной области</a:t>
            </a:r>
          </a:p>
          <a:p>
            <a:r>
              <a:rPr lang="ru-RU" b="1" i="1" dirty="0"/>
              <a:t>Экспертные системы </a:t>
            </a:r>
            <a:r>
              <a:rPr lang="ru-RU" dirty="0" smtClean="0"/>
              <a:t>— это </a:t>
            </a:r>
            <a:r>
              <a:rPr lang="ru-RU" dirty="0"/>
              <a:t>направление исследований в области </a:t>
            </a:r>
            <a:r>
              <a:rPr lang="ru-RU" dirty="0" smtClean="0"/>
              <a:t>ИИ </a:t>
            </a:r>
            <a:r>
              <a:rPr lang="ru-RU" dirty="0"/>
              <a:t>по созданию </a:t>
            </a:r>
            <a:r>
              <a:rPr lang="ru-RU" dirty="0" smtClean="0"/>
              <a:t>информационных </a:t>
            </a:r>
            <a:r>
              <a:rPr lang="ru-RU" dirty="0"/>
              <a:t>систем, </a:t>
            </a:r>
            <a:r>
              <a:rPr lang="ru-RU" dirty="0" smtClean="0"/>
              <a:t>целью которых является принятие решений, схожих </a:t>
            </a:r>
            <a:r>
              <a:rPr lang="ru-RU" dirty="0"/>
              <a:t>с решениями экспертов в заданной предметной </a:t>
            </a:r>
            <a:r>
              <a:rPr lang="ru-RU" dirty="0" smtClean="0"/>
              <a:t>области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3950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Рекомендательные системы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i="1" dirty="0"/>
              <a:t>Рекомендательная система</a:t>
            </a:r>
            <a:r>
              <a:rPr lang="ru-RU" dirty="0"/>
              <a:t> (</a:t>
            </a:r>
            <a:r>
              <a:rPr lang="ru-RU" dirty="0" err="1"/>
              <a:t>recommender</a:t>
            </a:r>
            <a:r>
              <a:rPr lang="ru-RU" dirty="0"/>
              <a:t> </a:t>
            </a:r>
            <a:r>
              <a:rPr lang="ru-RU" dirty="0" err="1"/>
              <a:t>system</a:t>
            </a:r>
            <a:r>
              <a:rPr lang="ru-RU" dirty="0" smtClean="0"/>
              <a:t>) – это информационная система целью которой является максимально точный прогноз предпочтений </a:t>
            </a:r>
            <a:r>
              <a:rPr lang="ru-RU" dirty="0"/>
              <a:t>потребителя и </a:t>
            </a:r>
            <a:r>
              <a:rPr lang="ru-RU" dirty="0" smtClean="0"/>
              <a:t>предложение ему </a:t>
            </a:r>
            <a:r>
              <a:rPr lang="ru-RU" dirty="0"/>
              <a:t>наиболее </a:t>
            </a:r>
            <a:r>
              <a:rPr lang="ru-RU" dirty="0" smtClean="0"/>
              <a:t>подходящих товаров </a:t>
            </a:r>
            <a:r>
              <a:rPr lang="ru-RU" dirty="0"/>
              <a:t>или </a:t>
            </a:r>
            <a:r>
              <a:rPr lang="ru-RU" dirty="0" smtClean="0"/>
              <a:t>услуг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6973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Информационно-аналитические системы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37112"/>
          </a:xfrm>
        </p:spPr>
        <p:txBody>
          <a:bodyPr>
            <a:normAutofit/>
          </a:bodyPr>
          <a:lstStyle/>
          <a:p>
            <a:r>
              <a:rPr lang="ru-RU" b="1" dirty="0"/>
              <a:t>Информационно</a:t>
            </a:r>
            <a:r>
              <a:rPr lang="ru-RU" dirty="0"/>
              <a:t>-</a:t>
            </a:r>
            <a:r>
              <a:rPr lang="ru-RU" b="1" dirty="0"/>
              <a:t>аналитические</a:t>
            </a:r>
            <a:r>
              <a:rPr lang="ru-RU" dirty="0"/>
              <a:t> </a:t>
            </a:r>
            <a:r>
              <a:rPr lang="ru-RU" b="1" dirty="0" smtClean="0"/>
              <a:t>системы (ИАС)</a:t>
            </a:r>
            <a:r>
              <a:rPr lang="ru-RU" dirty="0"/>
              <a:t> – это </a:t>
            </a:r>
            <a:r>
              <a:rPr lang="ru-RU" dirty="0" smtClean="0"/>
              <a:t>информационные</a:t>
            </a:r>
            <a:r>
              <a:rPr lang="ru-RU" dirty="0"/>
              <a:t> </a:t>
            </a:r>
            <a:r>
              <a:rPr lang="ru-RU" dirty="0" smtClean="0"/>
              <a:t>системы, предназначенные </a:t>
            </a:r>
            <a:r>
              <a:rPr lang="ru-RU" dirty="0"/>
              <a:t>для аналитической обработки </a:t>
            </a:r>
            <a:r>
              <a:rPr lang="ru-RU" dirty="0" smtClean="0"/>
              <a:t>данных</a:t>
            </a:r>
          </a:p>
          <a:p>
            <a:r>
              <a:rPr lang="ru-RU" b="1" dirty="0" smtClean="0"/>
              <a:t>Информационно</a:t>
            </a:r>
            <a:r>
              <a:rPr lang="ru-RU" dirty="0" smtClean="0"/>
              <a:t>-</a:t>
            </a:r>
            <a:r>
              <a:rPr lang="ru-RU" b="1" dirty="0" smtClean="0"/>
              <a:t>аналитические системы</a:t>
            </a:r>
            <a:r>
              <a:rPr lang="ru-RU" dirty="0"/>
              <a:t> объединяют, анализируют и хранят как единое целое информацию, извлекаемую </a:t>
            </a:r>
            <a:r>
              <a:rPr lang="ru-RU" dirty="0" smtClean="0"/>
              <a:t>из различных </a:t>
            </a:r>
            <a:r>
              <a:rPr lang="ru-RU" dirty="0"/>
              <a:t>баз данных </a:t>
            </a:r>
            <a:r>
              <a:rPr lang="ru-RU" dirty="0" smtClean="0"/>
              <a:t>(знаний) и/или </a:t>
            </a:r>
            <a:r>
              <a:rPr lang="ru-RU" dirty="0"/>
              <a:t>из внешних </a:t>
            </a:r>
            <a:r>
              <a:rPr lang="ru-RU" dirty="0" smtClean="0"/>
              <a:t>источников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2755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Что общего с ИАС?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09120"/>
          </a:xfrm>
        </p:spPr>
        <p:txBody>
          <a:bodyPr>
            <a:normAutofit/>
          </a:bodyPr>
          <a:lstStyle/>
          <a:p>
            <a:r>
              <a:rPr lang="ru-RU" dirty="0" smtClean="0"/>
              <a:t>ЭС и РС – проводят классификацию объектов. ЭС – для определения похожих ситуаций. РС – для определения похожих пользователей, товаров</a:t>
            </a:r>
          </a:p>
          <a:p>
            <a:r>
              <a:rPr lang="ru-RU" dirty="0" smtClean="0"/>
              <a:t>ЭС и РС – анализируют данные как накопленные, так и поступающие из вне</a:t>
            </a:r>
          </a:p>
          <a:p>
            <a:r>
              <a:rPr lang="ru-RU" dirty="0" smtClean="0"/>
              <a:t>ЭС и РС – «обучаются». ЭС – в режиме ввода знаний на начальном этапе, РС – на основе данных о предпочтениях пользователей.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1661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Системы, основанные на знаниях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09120"/>
          </a:xfrm>
        </p:spPr>
        <p:txBody>
          <a:bodyPr>
            <a:normAutofit lnSpcReduction="10000"/>
          </a:bodyPr>
          <a:lstStyle/>
          <a:p>
            <a:r>
              <a:rPr lang="ru-RU" dirty="0" smtClean="0"/>
              <a:t>ЭС и РС – основаны на знаниях о предметной области</a:t>
            </a:r>
          </a:p>
          <a:p>
            <a:r>
              <a:rPr lang="ru-RU" b="1" dirty="0"/>
              <a:t>Знания</a:t>
            </a:r>
            <a:r>
              <a:rPr lang="ru-RU" dirty="0"/>
              <a:t> (в </a:t>
            </a:r>
            <a:r>
              <a:rPr lang="ru-RU" dirty="0" smtClean="0"/>
              <a:t>информационной </a:t>
            </a:r>
            <a:r>
              <a:rPr lang="ru-RU" dirty="0"/>
              <a:t>системе) – закодированные некоторым образом сведения об объектах предметной области, их взаимосвязях и особенностях поведения, а также о способах  решения задач. Эти сведения в условиях, характеризуемых некоторыми данными, служат инструментом решения </a:t>
            </a:r>
            <a:r>
              <a:rPr lang="ru-RU" dirty="0" smtClean="0"/>
              <a:t>задач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2494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Автоматическая классификация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dirty="0"/>
              <a:t>Под </a:t>
            </a:r>
            <a:r>
              <a:rPr lang="ru-RU" b="1" dirty="0"/>
              <a:t>классификацией</a:t>
            </a:r>
            <a:r>
              <a:rPr lang="ru-RU" dirty="0"/>
              <a:t> понимается система группировки множества объектов, составленная на основе учета общих признаков этих объектов и закономерных связей между ними. </a:t>
            </a:r>
          </a:p>
          <a:p>
            <a:r>
              <a:rPr lang="ru-RU" dirty="0"/>
              <a:t>Целью </a:t>
            </a:r>
            <a:r>
              <a:rPr lang="ru-RU" b="1" dirty="0"/>
              <a:t>классификации</a:t>
            </a:r>
            <a:r>
              <a:rPr lang="ru-RU" dirty="0"/>
              <a:t> является образование групп схожих между собой объектов, которые принято называть классами или кластерами. </a:t>
            </a:r>
            <a:endParaRPr lang="ru-RU" dirty="0" smtClean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r>
              <a:rPr lang="ru-RU" dirty="0" smtClean="0"/>
              <a:t>/* Кластер (</a:t>
            </a:r>
            <a:r>
              <a:rPr lang="ru-RU" dirty="0" err="1"/>
              <a:t>cluster</a:t>
            </a:r>
            <a:r>
              <a:rPr lang="ru-RU" dirty="0" smtClean="0"/>
              <a:t>) </a:t>
            </a:r>
            <a:r>
              <a:rPr lang="ru-RU" dirty="0"/>
              <a:t>переводится как сгусток, пучок, группа. Родственные понятия, используемые в литературе, – таксон, сгущение, </a:t>
            </a:r>
            <a:r>
              <a:rPr lang="ru-RU" dirty="0" smtClean="0"/>
              <a:t>сегмент */</a:t>
            </a: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66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Гипотеза компактности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556792"/>
            <a:ext cx="8496944" cy="482453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При геометрическом подходе в основе применения методов классификации лежит так называемая </a:t>
            </a:r>
            <a:r>
              <a:rPr lang="ru-RU" b="1" dirty="0"/>
              <a:t>гипотеза компактности</a:t>
            </a:r>
            <a:r>
              <a:rPr lang="ru-RU" dirty="0"/>
              <a:t>. Согласно ей, близким в содержательном смысле объектам в геометрическом пространстве признаков соответствуют обособленные множества точек, обладающие свойствами хорошей </a:t>
            </a:r>
            <a:r>
              <a:rPr lang="ru-RU" dirty="0" smtClean="0"/>
              <a:t>отделимости:</a:t>
            </a:r>
            <a:endParaRPr lang="ru-RU" dirty="0"/>
          </a:p>
          <a:p>
            <a:pPr lvl="0"/>
            <a:r>
              <a:rPr lang="ru-RU" dirty="0"/>
              <a:t>множества разных образов соприкасаются в сравнительно небольшом числе точек, либо вообще не соприкасаются и разделены точками, не принадлежащими ни одному из классов; </a:t>
            </a:r>
          </a:p>
          <a:p>
            <a:r>
              <a:rPr lang="ru-RU" dirty="0"/>
              <a:t>границы классов имеют сравнительно плавную форму – не изрезаны, и у классов отсутствуют глубокие выступы в пределы других классов.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4155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Гипотеза </a:t>
            </a:r>
            <a:r>
              <a:rPr lang="ru-RU" b="1" dirty="0" smtClean="0"/>
              <a:t>компактности</a:t>
            </a:r>
            <a:endParaRPr lang="ru-RU" dirty="0"/>
          </a:p>
        </p:txBody>
      </p:sp>
      <p:pic>
        <p:nvPicPr>
          <p:cNvPr id="1026" name="Рисунок 304" descr="Описание: Выполнение и невыполнение гипотезы компактности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730" y="1412776"/>
            <a:ext cx="8337734" cy="4536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9</a:t>
            </a:fld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2771800" y="1340768"/>
            <a:ext cx="3456384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7322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Методы классификации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10</a:t>
            </a:fld>
            <a:endParaRPr lang="ru-RU"/>
          </a:p>
        </p:txBody>
      </p:sp>
      <p:pic>
        <p:nvPicPr>
          <p:cNvPr id="2050" name="Рисунок 303" descr="Описание: Методы классификации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340768"/>
            <a:ext cx="8162621" cy="4968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Прямоугольник 7"/>
          <p:cNvSpPr/>
          <p:nvPr/>
        </p:nvSpPr>
        <p:spPr>
          <a:xfrm>
            <a:off x="899592" y="5661248"/>
            <a:ext cx="3456384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0021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Методы классификации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11</a:t>
            </a:fld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899592" y="5661248"/>
            <a:ext cx="3456384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683568" y="1477228"/>
            <a:ext cx="792088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err="1" smtClean="0"/>
              <a:t>Дивизимные</a:t>
            </a:r>
            <a:r>
              <a:rPr lang="ru-RU" sz="2800" dirty="0" smtClean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FOREL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FOREL2</a:t>
            </a:r>
          </a:p>
          <a:p>
            <a:r>
              <a:rPr lang="ru-RU" sz="2800" b="1" dirty="0" err="1" smtClean="0"/>
              <a:t>Агломеративные</a:t>
            </a:r>
            <a:r>
              <a:rPr lang="ru-RU" sz="2800" dirty="0" smtClean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 smtClean="0"/>
              <a:t>Одиночной связи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 smtClean="0"/>
              <a:t>Полной связи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UPGMA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WPGMA</a:t>
            </a:r>
          </a:p>
          <a:p>
            <a:r>
              <a:rPr lang="ru-RU" sz="2800" b="1" dirty="0" smtClean="0"/>
              <a:t>Итеративные</a:t>
            </a:r>
            <a:r>
              <a:rPr lang="ru-RU" sz="2800" dirty="0" smtClean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K-</a:t>
            </a:r>
            <a:r>
              <a:rPr lang="ru-RU" sz="2800" dirty="0" smtClean="0"/>
              <a:t>средних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 smtClean="0"/>
              <a:t>Поиска сгущений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520028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Кластерный анализ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Кластерный анализ</a:t>
            </a:r>
            <a:r>
              <a:rPr lang="ru-RU" dirty="0"/>
              <a:t> – это совокупность методов, позволяющих классифицировать многомерные наблюдения, каждое из которых описывается набором исходных переменных </a:t>
            </a:r>
            <a:r>
              <a:rPr lang="en-US" b="1" dirty="0" smtClean="0"/>
              <a:t>{ </a:t>
            </a:r>
            <a:r>
              <a:rPr lang="en-US" b="1" i="1" dirty="0" smtClean="0"/>
              <a:t>X</a:t>
            </a:r>
            <a:r>
              <a:rPr lang="en-US" b="1" dirty="0" smtClean="0"/>
              <a:t> }</a:t>
            </a:r>
            <a:r>
              <a:rPr lang="ru-RU" dirty="0" smtClean="0"/>
              <a:t>. </a:t>
            </a:r>
            <a:r>
              <a:rPr lang="ru-RU" dirty="0"/>
              <a:t>К</a:t>
            </a:r>
            <a:r>
              <a:rPr lang="ru-RU" dirty="0" smtClean="0"/>
              <a:t>ластерный </a:t>
            </a:r>
            <a:r>
              <a:rPr lang="ru-RU" dirty="0"/>
              <a:t>анализ приводит к разбиению на группы с учетом всех </a:t>
            </a:r>
            <a:r>
              <a:rPr lang="ru-RU" dirty="0" err="1"/>
              <a:t>группировочных</a:t>
            </a:r>
            <a:r>
              <a:rPr lang="ru-RU" dirty="0"/>
              <a:t> признаков </a:t>
            </a:r>
            <a:r>
              <a:rPr lang="ru-RU" dirty="0" smtClean="0"/>
              <a:t>одновременно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4169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Кластерный анализ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Кластерный анализ</a:t>
            </a:r>
            <a:r>
              <a:rPr lang="ru-RU" dirty="0"/>
              <a:t> – </a:t>
            </a:r>
            <a:r>
              <a:rPr lang="ru-RU" dirty="0" smtClean="0"/>
              <a:t>вся совокупность объектов разбивается кластеры одновременно по всем своим признакам, </a:t>
            </a:r>
            <a:r>
              <a:rPr lang="ru-RU" dirty="0"/>
              <a:t>т. е. </a:t>
            </a:r>
            <a:r>
              <a:rPr lang="ru-RU" dirty="0" smtClean="0"/>
              <a:t>признаки </a:t>
            </a:r>
            <a:r>
              <a:rPr lang="ru-RU" dirty="0"/>
              <a:t>учитываются все сразу при отнесении </a:t>
            </a:r>
            <a:r>
              <a:rPr lang="ru-RU" dirty="0" smtClean="0"/>
              <a:t>объекта к тому </a:t>
            </a:r>
            <a:r>
              <a:rPr lang="ru-RU" dirty="0"/>
              <a:t>или </a:t>
            </a:r>
            <a:r>
              <a:rPr lang="ru-RU" dirty="0" smtClean="0"/>
              <a:t>иному кластеру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215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Комбинационные </a:t>
            </a:r>
            <a:r>
              <a:rPr lang="ru-RU" b="1" dirty="0"/>
              <a:t>группировки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 err="1" smtClean="0"/>
              <a:t>Монотетический</a:t>
            </a:r>
            <a:r>
              <a:rPr lang="ru-RU" b="1" dirty="0" smtClean="0"/>
              <a:t> подход</a:t>
            </a:r>
            <a:r>
              <a:rPr lang="ru-RU" dirty="0" smtClean="0"/>
              <a:t> – вся </a:t>
            </a:r>
            <a:r>
              <a:rPr lang="ru-RU" dirty="0"/>
              <a:t>совокупность объектов </a:t>
            </a:r>
            <a:r>
              <a:rPr lang="ru-RU" dirty="0" smtClean="0"/>
              <a:t>разбивается </a:t>
            </a:r>
            <a:r>
              <a:rPr lang="ru-RU" dirty="0"/>
              <a:t>на </a:t>
            </a:r>
            <a:r>
              <a:rPr lang="ru-RU" dirty="0" smtClean="0"/>
              <a:t>кластеры </a:t>
            </a:r>
            <a:r>
              <a:rPr lang="ru-RU" dirty="0"/>
              <a:t>по </a:t>
            </a:r>
            <a:r>
              <a:rPr lang="ru-RU" dirty="0" smtClean="0"/>
              <a:t>признаку </a:t>
            </a:r>
            <a:r>
              <a:rPr lang="en-US" b="1" i="1" dirty="0" smtClean="0"/>
              <a:t>P</a:t>
            </a:r>
            <a:r>
              <a:rPr lang="en-US" sz="1800" b="1" dirty="0" smtClean="0"/>
              <a:t>1</a:t>
            </a:r>
            <a:r>
              <a:rPr lang="ru-RU" dirty="0" smtClean="0"/>
              <a:t>, </a:t>
            </a:r>
            <a:r>
              <a:rPr lang="ru-RU" dirty="0"/>
              <a:t>а затем внутри </a:t>
            </a:r>
            <a:r>
              <a:rPr lang="ru-RU" dirty="0" smtClean="0"/>
              <a:t>каждого выделенного кластера </a:t>
            </a:r>
            <a:r>
              <a:rPr lang="ru-RU" dirty="0"/>
              <a:t>будут образованы </a:t>
            </a:r>
            <a:r>
              <a:rPr lang="ru-RU" dirty="0" err="1" smtClean="0"/>
              <a:t>подкластеры</a:t>
            </a:r>
            <a:r>
              <a:rPr lang="ru-RU" dirty="0" smtClean="0"/>
              <a:t> по признаку </a:t>
            </a:r>
            <a:r>
              <a:rPr lang="en-US" b="1" i="1" dirty="0" smtClean="0"/>
              <a:t>P</a:t>
            </a:r>
            <a:r>
              <a:rPr lang="ru-RU" sz="1800" b="1" dirty="0" smtClean="0"/>
              <a:t>2</a:t>
            </a:r>
            <a:r>
              <a:rPr lang="en-US" dirty="0" smtClean="0"/>
              <a:t> </a:t>
            </a:r>
            <a:r>
              <a:rPr lang="ru-RU" dirty="0" smtClean="0"/>
              <a:t>и т.д.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3585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Кластерный </a:t>
            </a:r>
            <a:r>
              <a:rPr lang="ru-RU" b="1" dirty="0" smtClean="0"/>
              <a:t>анализ. Задачи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340768"/>
            <a:ext cx="8496944" cy="5040560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ru-RU" b="1" dirty="0" smtClean="0"/>
              <a:t>построение классификаций</a:t>
            </a:r>
            <a:r>
              <a:rPr lang="ru-RU" dirty="0" smtClean="0"/>
              <a:t> </a:t>
            </a:r>
            <a:r>
              <a:rPr lang="ru-RU" dirty="0"/>
              <a:t>объектов с учетом признаков, отражающих сущность, природу объектов. Решение такой задачи, как правило, приводит к углублению знаний о совокупности классифицируемых </a:t>
            </a:r>
            <a:r>
              <a:rPr lang="ru-RU" dirty="0" smtClean="0"/>
              <a:t>объектов</a:t>
            </a:r>
            <a:endParaRPr lang="ru-RU" dirty="0"/>
          </a:p>
          <a:p>
            <a:r>
              <a:rPr lang="ru-RU" b="1" dirty="0" smtClean="0"/>
              <a:t>построение классификаций </a:t>
            </a:r>
            <a:r>
              <a:rPr lang="ru-RU" dirty="0" smtClean="0"/>
              <a:t>для слабоизученных явлений, когда необходимо установить наличие связей внутри совокупности и попытаться привнести в нее структуру</a:t>
            </a:r>
          </a:p>
          <a:p>
            <a:pPr lvl="0"/>
            <a:r>
              <a:rPr lang="ru-RU" b="1" dirty="0" smtClean="0"/>
              <a:t>проверка гипотез </a:t>
            </a:r>
            <a:r>
              <a:rPr lang="ru-RU" dirty="0"/>
              <a:t>о наличии некоторой структуры в изучаемой совокупности объектов, т.е. поиск существующей </a:t>
            </a:r>
            <a:r>
              <a:rPr lang="ru-RU" dirty="0" smtClean="0"/>
              <a:t>структуры</a:t>
            </a:r>
            <a:endParaRPr lang="ru-RU" dirty="0"/>
          </a:p>
          <a:p>
            <a:pPr lvl="0"/>
            <a:r>
              <a:rPr lang="ru-RU" b="1" dirty="0" smtClean="0"/>
              <a:t>сжатие </a:t>
            </a:r>
            <a:r>
              <a:rPr lang="ru-RU" b="1" dirty="0"/>
              <a:t>данных </a:t>
            </a:r>
            <a:r>
              <a:rPr lang="ru-RU" dirty="0"/>
              <a:t>– если исходная выборка избыточно большая, то можно сократить её, оставив по одному наиболее типичному представителю от каждого </a:t>
            </a:r>
            <a:r>
              <a:rPr lang="ru-RU" dirty="0" smtClean="0"/>
              <a:t>кластера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0310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Типы шкал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641379"/>
          </a:xfrm>
        </p:spPr>
        <p:txBody>
          <a:bodyPr/>
          <a:lstStyle/>
          <a:p>
            <a:r>
              <a:rPr lang="ru-RU" b="1" dirty="0" smtClean="0"/>
              <a:t>Номинальная</a:t>
            </a:r>
          </a:p>
          <a:p>
            <a:endParaRPr lang="ru-RU" b="1" dirty="0"/>
          </a:p>
          <a:p>
            <a:r>
              <a:rPr lang="ru-RU" b="1" dirty="0" smtClean="0"/>
              <a:t>Порядковая </a:t>
            </a:r>
          </a:p>
          <a:p>
            <a:endParaRPr lang="ru-RU" b="1" dirty="0"/>
          </a:p>
          <a:p>
            <a:r>
              <a:rPr lang="ru-RU" b="1" dirty="0" smtClean="0"/>
              <a:t>Интервальная</a:t>
            </a:r>
          </a:p>
          <a:p>
            <a:endParaRPr lang="ru-RU" b="1" dirty="0"/>
          </a:p>
          <a:p>
            <a:r>
              <a:rPr lang="ru-RU" b="1" dirty="0" smtClean="0"/>
              <a:t>Относительная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16</a:t>
            </a:fld>
            <a:endParaRPr lang="ru-RU"/>
          </a:p>
        </p:txBody>
      </p:sp>
      <p:pic>
        <p:nvPicPr>
          <p:cNvPr id="3074" name="Рисунок 292" descr="Описание: (A=~B)~,~(A&lt;&gt;~B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79" y="1596796"/>
            <a:ext cx="2216083" cy="464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Рисунок 287" descr="Описание: (A=~B)~,~(A&lt;&gt;~B)~,~(A&gt;~B)~,~(A&lt;~B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2780928"/>
            <a:ext cx="4625973" cy="4551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Рисунок 286" descr="Описание: (A=~B)~,~(A&lt;&gt;~B)~,~(A&gt;~B)~,~(A&lt;~B)~,~(A~+~B)~,~(A~-~B)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9" y="4286389"/>
            <a:ext cx="6066132" cy="3815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Рисунок 285" descr="Описание: (A=~B)~,~(A&lt;&gt;~B)~,~(A&gt;~B)~,~(A&lt;~B)~,~(A~+~B)~,~(A~-~B)~,~(A~*~B)~,~(~~A/B)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0" y="5333212"/>
            <a:ext cx="7380932" cy="66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4893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Мера расстояния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040560"/>
          </a:xfrm>
        </p:spPr>
        <p:txBody>
          <a:bodyPr/>
          <a:lstStyle/>
          <a:p>
            <a:r>
              <a:rPr lang="ru-RU" b="1" dirty="0"/>
              <a:t>Евклидово </a:t>
            </a:r>
            <a:r>
              <a:rPr lang="ru-RU" b="1" dirty="0" smtClean="0"/>
              <a:t>расстояние</a:t>
            </a:r>
          </a:p>
          <a:p>
            <a:endParaRPr lang="ru-RU" b="1" dirty="0"/>
          </a:p>
          <a:p>
            <a:endParaRPr lang="ru-RU" b="1" dirty="0" smtClean="0"/>
          </a:p>
          <a:p>
            <a:endParaRPr lang="ru-RU" b="1" dirty="0"/>
          </a:p>
          <a:p>
            <a:r>
              <a:rPr lang="ru-RU" b="1" dirty="0"/>
              <a:t>Квадрат евклидова расстояния</a:t>
            </a:r>
            <a:r>
              <a:rPr lang="ru-RU" b="1" dirty="0" smtClean="0"/>
              <a:t>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17</a:t>
            </a:fld>
            <a:endParaRPr lang="ru-RU"/>
          </a:p>
        </p:txBody>
      </p:sp>
      <p:pic>
        <p:nvPicPr>
          <p:cNvPr id="4098" name="Рисунок 282" descr="Описание: P~=~sqrt{sum{i=~1}{N}{(~A_{i}~-~B_{i})^{2}}}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1484784"/>
            <a:ext cx="3537784" cy="18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Рисунок 272" descr="Описание: P~=~sum{i=~1}{N}{(~A_{i}~-~B_{i})^2}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1547" y="4255972"/>
            <a:ext cx="3364829" cy="1765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80757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Мера расстояния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040560"/>
          </a:xfrm>
        </p:spPr>
        <p:txBody>
          <a:bodyPr/>
          <a:lstStyle/>
          <a:p>
            <a:r>
              <a:rPr lang="ru-RU" b="1" dirty="0"/>
              <a:t>Взвешенное евклидово расстояние</a:t>
            </a:r>
            <a:endParaRPr lang="ru-RU" b="1" dirty="0" smtClean="0"/>
          </a:p>
          <a:p>
            <a:endParaRPr lang="ru-RU" b="1" dirty="0"/>
          </a:p>
          <a:p>
            <a:endParaRPr lang="ru-RU" b="1" dirty="0" smtClean="0"/>
          </a:p>
          <a:p>
            <a:endParaRPr lang="ru-RU" b="1" dirty="0"/>
          </a:p>
          <a:p>
            <a:r>
              <a:rPr lang="ru-RU" b="1" dirty="0" err="1"/>
              <a:t>Хеммингово</a:t>
            </a:r>
            <a:r>
              <a:rPr lang="ru-RU" b="1" dirty="0"/>
              <a:t> расстояние</a:t>
            </a:r>
            <a:r>
              <a:rPr lang="ru-RU" b="1" dirty="0" smtClean="0"/>
              <a:t>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18</a:t>
            </a:fld>
            <a:endParaRPr lang="ru-RU"/>
          </a:p>
        </p:txBody>
      </p:sp>
      <p:pic>
        <p:nvPicPr>
          <p:cNvPr id="5122" name="Рисунок 269" descr="Описание: P~=~sqrt{sum{i=~1}{N}{w_{i}(A_{i}~-~B_{i})^{2}}}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1868" y="1772816"/>
            <a:ext cx="3996556" cy="1935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Рисунок 268" descr="Описание: P~=~sum{i=~1}{N}{(delim{|}{~A_{i}}{|}~-~delim{|}{~B_{i}}{|})}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3836" y="4221088"/>
            <a:ext cx="3708524" cy="16599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35264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Мера расстояния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040560"/>
          </a:xfrm>
        </p:spPr>
        <p:txBody>
          <a:bodyPr/>
          <a:lstStyle/>
          <a:p>
            <a:r>
              <a:rPr lang="ru-RU" b="1" dirty="0"/>
              <a:t>Расстояние Чебышева</a:t>
            </a:r>
            <a:endParaRPr lang="ru-RU" b="1" dirty="0" smtClean="0"/>
          </a:p>
          <a:p>
            <a:endParaRPr lang="ru-RU" b="1" dirty="0"/>
          </a:p>
          <a:p>
            <a:r>
              <a:rPr lang="ru-RU" b="1" dirty="0" smtClean="0"/>
              <a:t>Процент несогласия</a:t>
            </a:r>
            <a:endParaRPr lang="ru-RU" b="1" dirty="0"/>
          </a:p>
          <a:p>
            <a:endParaRPr lang="ru-RU" b="1" dirty="0" smtClean="0"/>
          </a:p>
          <a:p>
            <a:r>
              <a:rPr lang="ru-RU" b="1" dirty="0" smtClean="0"/>
              <a:t>Косинусное расстояние (подобие)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19</a:t>
            </a:fld>
            <a:endParaRPr lang="ru-RU"/>
          </a:p>
        </p:txBody>
      </p:sp>
      <p:pic>
        <p:nvPicPr>
          <p:cNvPr id="6146" name="Рисунок 267" descr="Описание: P~=~MAX~delim{|}{~A_{i}~-~B_{i}}{|}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1412776"/>
            <a:ext cx="3384376" cy="605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Рисунок 266" descr="Описание: P~=~VALUE~delim{|}{~A_{i}~&lt;&gt;~~B_{i}}{|}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2625782"/>
            <a:ext cx="3672408" cy="567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4221088"/>
            <a:ext cx="5472608" cy="2039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0381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Мера расстояния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040560"/>
          </a:xfrm>
        </p:spPr>
        <p:txBody>
          <a:bodyPr/>
          <a:lstStyle/>
          <a:p>
            <a:r>
              <a:rPr lang="ru-RU" b="1" dirty="0" smtClean="0"/>
              <a:t>Коэффициент корреляции Пирсона</a:t>
            </a:r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20</a:t>
            </a:fld>
            <a:endParaRPr lang="ru-RU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204864"/>
            <a:ext cx="6696744" cy="17199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8" y="4312210"/>
            <a:ext cx="8964488" cy="1637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0287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Метод ближайшего соседа или метод одиночной связи</a:t>
            </a:r>
            <a:endParaRPr lang="ru-RU" dirty="0"/>
          </a:p>
        </p:txBody>
      </p:sp>
      <p:pic>
        <p:nvPicPr>
          <p:cNvPr id="2050" name="Рисунок 313" descr="Расстояние между классами в методе ближайшего соседа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77"/>
          <a:stretch/>
        </p:blipFill>
        <p:spPr bwMode="auto">
          <a:xfrm>
            <a:off x="403466" y="2060848"/>
            <a:ext cx="8417006" cy="3456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89415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Метод ближайшего соседа или метод одиночной связи</a:t>
            </a: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3325329"/>
              </p:ext>
            </p:extLst>
          </p:nvPr>
        </p:nvGraphicFramePr>
        <p:xfrm>
          <a:off x="611561" y="1772816"/>
          <a:ext cx="2664295" cy="1872210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532859"/>
                <a:gridCol w="532859"/>
                <a:gridCol w="532859"/>
                <a:gridCol w="532859"/>
                <a:gridCol w="532859"/>
              </a:tblGrid>
              <a:tr h="37444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 </a:t>
                      </a:r>
                      <a:endParaRPr lang="ru-RU" sz="2000" dirty="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1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2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3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4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444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1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0</a:t>
                      </a:r>
                      <a:endParaRPr lang="ru-RU" sz="2000" dirty="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2.06</a:t>
                      </a:r>
                      <a:endParaRPr lang="ru-RU" sz="2000" dirty="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4.03</a:t>
                      </a:r>
                      <a:endParaRPr lang="ru-RU" sz="20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6.32</a:t>
                      </a:r>
                      <a:endParaRPr lang="ru-RU" sz="20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444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2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2.06</a:t>
                      </a:r>
                      <a:endParaRPr lang="ru-RU" sz="20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0</a:t>
                      </a:r>
                      <a:endParaRPr lang="ru-RU" sz="2000" dirty="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2.50</a:t>
                      </a:r>
                      <a:endParaRPr lang="ru-RU" sz="20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4.12</a:t>
                      </a:r>
                      <a:endParaRPr lang="ru-RU" sz="20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444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3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4.03</a:t>
                      </a:r>
                      <a:endParaRPr lang="ru-RU" sz="2000" dirty="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2.50</a:t>
                      </a:r>
                      <a:endParaRPr lang="ru-RU" sz="2000" dirty="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0</a:t>
                      </a:r>
                      <a:endParaRPr lang="ru-RU" sz="2000" dirty="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2.24</a:t>
                      </a:r>
                      <a:endParaRPr lang="ru-RU" sz="20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444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4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6.32</a:t>
                      </a:r>
                      <a:endParaRPr lang="ru-RU" sz="2000" dirty="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4.12</a:t>
                      </a:r>
                      <a:endParaRPr lang="ru-RU" sz="2000" dirty="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2.24</a:t>
                      </a:r>
                      <a:endParaRPr lang="ru-RU" sz="2000" dirty="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0</a:t>
                      </a:r>
                      <a:endParaRPr lang="ru-RU" sz="2000" dirty="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3107767"/>
              </p:ext>
            </p:extLst>
          </p:nvPr>
        </p:nvGraphicFramePr>
        <p:xfrm>
          <a:off x="6145832" y="1844824"/>
          <a:ext cx="2314600" cy="1584176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578650"/>
                <a:gridCol w="578650"/>
                <a:gridCol w="578650"/>
                <a:gridCol w="578650"/>
              </a:tblGrid>
              <a:tr h="39604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 </a:t>
                      </a:r>
                      <a:endParaRPr lang="ru-RU" sz="2800" dirty="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1,2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3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4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9604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1,2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0</a:t>
                      </a:r>
                      <a:endParaRPr lang="ru-RU" sz="2800" dirty="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2.50</a:t>
                      </a:r>
                      <a:endParaRPr lang="ru-RU" sz="28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4.12</a:t>
                      </a:r>
                      <a:endParaRPr lang="ru-RU" sz="28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9604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3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2.50</a:t>
                      </a:r>
                      <a:endParaRPr lang="ru-RU" sz="2800" dirty="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0</a:t>
                      </a:r>
                      <a:endParaRPr lang="ru-RU" sz="28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2.24</a:t>
                      </a:r>
                      <a:endParaRPr lang="ru-RU" sz="28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9604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4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4.12</a:t>
                      </a:r>
                      <a:endParaRPr lang="ru-RU" sz="2800" dirty="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2.24</a:t>
                      </a:r>
                      <a:endParaRPr lang="ru-RU" sz="2800" dirty="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0</a:t>
                      </a:r>
                      <a:endParaRPr lang="ru-RU" sz="2800" dirty="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5" name="Стрелка вправо 4"/>
          <p:cNvSpPr/>
          <p:nvPr/>
        </p:nvSpPr>
        <p:spPr>
          <a:xfrm>
            <a:off x="4211960" y="2420888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3914529"/>
              </p:ext>
            </p:extLst>
          </p:nvPr>
        </p:nvGraphicFramePr>
        <p:xfrm>
          <a:off x="6300192" y="4869160"/>
          <a:ext cx="1872207" cy="1512168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624069"/>
                <a:gridCol w="624069"/>
                <a:gridCol w="624069"/>
              </a:tblGrid>
              <a:tr h="50405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 </a:t>
                      </a:r>
                      <a:endParaRPr lang="ru-RU" sz="2800" dirty="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1,2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3,4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50405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1,2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0</a:t>
                      </a:r>
                      <a:endParaRPr lang="ru-RU" sz="28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2.50</a:t>
                      </a:r>
                      <a:endParaRPr lang="ru-RU" sz="28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50405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3,4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2.50</a:t>
                      </a:r>
                      <a:endParaRPr lang="ru-RU" sz="28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0</a:t>
                      </a:r>
                      <a:endParaRPr lang="ru-RU" sz="2800" dirty="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7" name="Стрелка вниз 6"/>
          <p:cNvSpPr/>
          <p:nvPr/>
        </p:nvSpPr>
        <p:spPr>
          <a:xfrm>
            <a:off x="7092280" y="3789040"/>
            <a:ext cx="484632" cy="69037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091" name="Рисунок 347" descr="Метод ближайших соседей. Дендрограмма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16"/>
          <a:stretch/>
        </p:blipFill>
        <p:spPr bwMode="auto">
          <a:xfrm>
            <a:off x="262996" y="3789040"/>
            <a:ext cx="5677156" cy="291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57109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Метод наиболее удаленных соседей или метод полной связи</a:t>
            </a:r>
            <a:endParaRPr lang="ru-RU" dirty="0"/>
          </a:p>
        </p:txBody>
      </p:sp>
      <p:pic>
        <p:nvPicPr>
          <p:cNvPr id="4098" name="Рисунок 383" descr="Расстояние между классами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31"/>
          <a:stretch/>
        </p:blipFill>
        <p:spPr bwMode="auto">
          <a:xfrm>
            <a:off x="574278" y="2132856"/>
            <a:ext cx="7886154" cy="3217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1519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Метод наиболее удаленных соседей или метод полной связи</a:t>
            </a: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8650094"/>
              </p:ext>
            </p:extLst>
          </p:nvPr>
        </p:nvGraphicFramePr>
        <p:xfrm>
          <a:off x="611561" y="1772816"/>
          <a:ext cx="2664295" cy="1872210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532859"/>
                <a:gridCol w="532859"/>
                <a:gridCol w="532859"/>
                <a:gridCol w="532859"/>
                <a:gridCol w="532859"/>
              </a:tblGrid>
              <a:tr h="37444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 </a:t>
                      </a:r>
                      <a:endParaRPr lang="ru-RU" sz="2000" dirty="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1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2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3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4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444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1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2A2A2A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0</a:t>
                      </a:r>
                      <a:endParaRPr lang="ru-RU" sz="2800" dirty="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2A2A2A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2.06</a:t>
                      </a:r>
                      <a:endParaRPr lang="ru-RU" sz="2800" dirty="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2A2A2A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4.03</a:t>
                      </a:r>
                      <a:endParaRPr lang="ru-RU" sz="28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2A2A2A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6.32</a:t>
                      </a:r>
                      <a:endParaRPr lang="ru-RU" sz="28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444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2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2A2A2A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2.06</a:t>
                      </a:r>
                      <a:endParaRPr lang="ru-RU" sz="28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2A2A2A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0</a:t>
                      </a:r>
                      <a:endParaRPr lang="ru-RU" sz="2800" dirty="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2A2A2A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4.12</a:t>
                      </a:r>
                      <a:endParaRPr lang="ru-RU" sz="2800" dirty="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2A2A2A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2.25</a:t>
                      </a:r>
                      <a:endParaRPr lang="ru-RU" sz="28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444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3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2A2A2A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4.03</a:t>
                      </a:r>
                      <a:endParaRPr lang="ru-RU" sz="28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2A2A2A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4.12</a:t>
                      </a:r>
                      <a:endParaRPr lang="ru-RU" sz="28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2A2A2A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0</a:t>
                      </a:r>
                      <a:endParaRPr lang="ru-RU" sz="2800" dirty="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2A2A2A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3.50</a:t>
                      </a:r>
                      <a:endParaRPr lang="ru-RU" sz="28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7444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4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2A2A2A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6.32</a:t>
                      </a:r>
                      <a:endParaRPr lang="ru-RU" sz="28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2A2A2A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2.25</a:t>
                      </a:r>
                      <a:endParaRPr lang="ru-RU" sz="28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2A2A2A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3.50</a:t>
                      </a:r>
                      <a:endParaRPr lang="ru-RU" sz="2800" dirty="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2A2A2A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0</a:t>
                      </a:r>
                      <a:endParaRPr lang="ru-RU" sz="2800" dirty="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1051928"/>
              </p:ext>
            </p:extLst>
          </p:nvPr>
        </p:nvGraphicFramePr>
        <p:xfrm>
          <a:off x="6145832" y="1844824"/>
          <a:ext cx="2314600" cy="1584176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578650"/>
                <a:gridCol w="578650"/>
                <a:gridCol w="578650"/>
                <a:gridCol w="578650"/>
              </a:tblGrid>
              <a:tr h="39604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 </a:t>
                      </a:r>
                      <a:endParaRPr lang="ru-RU" sz="2800" dirty="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1,2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3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4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9604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1,2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2A2A2A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0</a:t>
                      </a:r>
                      <a:endParaRPr lang="ru-RU" sz="28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2A2A2A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4.12</a:t>
                      </a:r>
                      <a:endParaRPr lang="ru-RU" sz="28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2A2A2A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6.32</a:t>
                      </a:r>
                      <a:endParaRPr lang="ru-RU" sz="28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9604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3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2A2A2A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4.12</a:t>
                      </a:r>
                      <a:endParaRPr lang="ru-RU" sz="28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2A2A2A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0</a:t>
                      </a:r>
                      <a:endParaRPr lang="ru-RU" sz="28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2A2A2A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3.50</a:t>
                      </a:r>
                      <a:endParaRPr lang="ru-RU" sz="28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9604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4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2A2A2A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6.32</a:t>
                      </a:r>
                      <a:endParaRPr lang="ru-RU" sz="28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2A2A2A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3.50</a:t>
                      </a:r>
                      <a:endParaRPr lang="ru-RU" sz="28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2A2A2A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0</a:t>
                      </a:r>
                      <a:endParaRPr lang="ru-RU" sz="2800" dirty="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5" name="Стрелка вправо 4"/>
          <p:cNvSpPr/>
          <p:nvPr/>
        </p:nvSpPr>
        <p:spPr>
          <a:xfrm>
            <a:off x="4211960" y="2420888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985508"/>
              </p:ext>
            </p:extLst>
          </p:nvPr>
        </p:nvGraphicFramePr>
        <p:xfrm>
          <a:off x="6300192" y="4869160"/>
          <a:ext cx="1872207" cy="1512168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624069"/>
                <a:gridCol w="624069"/>
                <a:gridCol w="624069"/>
              </a:tblGrid>
              <a:tr h="50405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 </a:t>
                      </a:r>
                      <a:endParaRPr lang="ru-RU" sz="2800" dirty="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1,2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3,4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50405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1,2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2A2A2A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0</a:t>
                      </a:r>
                      <a:endParaRPr lang="ru-RU" sz="28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2A2A2A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6.32</a:t>
                      </a:r>
                      <a:endParaRPr lang="ru-RU" sz="28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50405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3,4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solidFill>
                            <a:srgbClr val="2A2A2A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6.32</a:t>
                      </a:r>
                      <a:endParaRPr lang="ru-RU" sz="28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solidFill>
                            <a:srgbClr val="2A2A2A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0</a:t>
                      </a:r>
                      <a:endParaRPr lang="ru-RU" sz="2800" dirty="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7" name="Стрелка вниз 6"/>
          <p:cNvSpPr/>
          <p:nvPr/>
        </p:nvSpPr>
        <p:spPr>
          <a:xfrm>
            <a:off x="7092280" y="3789040"/>
            <a:ext cx="484632" cy="69037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122" name="Рисунок 415" descr="Метод наиболее удаленных соседей. Дендрограмма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65"/>
          <a:stretch/>
        </p:blipFill>
        <p:spPr bwMode="auto">
          <a:xfrm>
            <a:off x="467544" y="3898287"/>
            <a:ext cx="5400600" cy="2699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2908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Метод невзвешенного попарного среднего - UPGMA</a:t>
            </a:r>
            <a:endParaRPr lang="ru-RU" dirty="0"/>
          </a:p>
        </p:txBody>
      </p:sp>
      <p:pic>
        <p:nvPicPr>
          <p:cNvPr id="6146" name="Рисунок 477" descr="D((u,v),w)~=~{T_{u}D_{u,w}~+~ T_{v}D_{v,w}}/{T_{u}~+~ T_{v}}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438" y="1700808"/>
            <a:ext cx="6110882" cy="1224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1300449"/>
              </p:ext>
            </p:extLst>
          </p:nvPr>
        </p:nvGraphicFramePr>
        <p:xfrm>
          <a:off x="457198" y="3140968"/>
          <a:ext cx="3178698" cy="2103120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529783"/>
                <a:gridCol w="529783"/>
                <a:gridCol w="529783"/>
                <a:gridCol w="529783"/>
                <a:gridCol w="529783"/>
                <a:gridCol w="529783"/>
              </a:tblGrid>
              <a:tr h="2672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 </a:t>
                      </a:r>
                      <a:endParaRPr lang="ru-RU" sz="2800" dirty="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1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2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3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4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5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2672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1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0</a:t>
                      </a:r>
                      <a:endParaRPr lang="ru-RU" sz="2800" dirty="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2.06</a:t>
                      </a:r>
                      <a:endParaRPr lang="ru-RU" sz="2800" dirty="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4.03</a:t>
                      </a:r>
                      <a:endParaRPr lang="ru-RU" sz="28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6.32</a:t>
                      </a:r>
                      <a:endParaRPr lang="ru-RU" sz="28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2.08</a:t>
                      </a:r>
                      <a:endParaRPr lang="ru-RU" sz="28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2672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2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2.06</a:t>
                      </a:r>
                      <a:endParaRPr lang="ru-RU" sz="28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0</a:t>
                      </a:r>
                      <a:endParaRPr lang="ru-RU" sz="2800" dirty="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3.50</a:t>
                      </a:r>
                      <a:endParaRPr lang="ru-RU" sz="2800" dirty="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4.12</a:t>
                      </a:r>
                      <a:endParaRPr lang="ru-RU" sz="28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5.43</a:t>
                      </a:r>
                      <a:endParaRPr lang="ru-RU" sz="28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2672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3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4.03</a:t>
                      </a:r>
                      <a:endParaRPr lang="ru-RU" sz="28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3.50</a:t>
                      </a:r>
                      <a:endParaRPr lang="ru-RU" sz="28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0</a:t>
                      </a:r>
                      <a:endParaRPr lang="ru-RU" sz="2800" dirty="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2.25</a:t>
                      </a:r>
                      <a:endParaRPr lang="ru-RU" sz="2800" dirty="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3.65</a:t>
                      </a:r>
                      <a:endParaRPr lang="ru-RU" sz="28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2672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4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6.32</a:t>
                      </a:r>
                      <a:endParaRPr lang="ru-RU" sz="28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4.12</a:t>
                      </a:r>
                      <a:endParaRPr lang="ru-RU" sz="28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2.25</a:t>
                      </a:r>
                      <a:endParaRPr lang="ru-RU" sz="28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0</a:t>
                      </a:r>
                      <a:endParaRPr lang="ru-RU" sz="2800" dirty="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4.81</a:t>
                      </a:r>
                      <a:endParaRPr lang="ru-RU" sz="28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26729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5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2.08</a:t>
                      </a:r>
                      <a:endParaRPr lang="ru-RU" sz="28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5.43</a:t>
                      </a:r>
                      <a:endParaRPr lang="ru-RU" sz="28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3.65</a:t>
                      </a:r>
                      <a:endParaRPr lang="ru-RU" sz="28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4.81</a:t>
                      </a:r>
                      <a:endParaRPr lang="ru-RU" sz="2800" dirty="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0</a:t>
                      </a:r>
                      <a:endParaRPr lang="ru-RU" sz="2800" dirty="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4" name="Стрелка вправо 3"/>
          <p:cNvSpPr/>
          <p:nvPr/>
        </p:nvSpPr>
        <p:spPr>
          <a:xfrm>
            <a:off x="3851920" y="3933056"/>
            <a:ext cx="576064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2361273"/>
              </p:ext>
            </p:extLst>
          </p:nvPr>
        </p:nvGraphicFramePr>
        <p:xfrm>
          <a:off x="4644006" y="3126536"/>
          <a:ext cx="2952330" cy="2143812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590466"/>
                <a:gridCol w="590466"/>
                <a:gridCol w="590466"/>
                <a:gridCol w="590466"/>
                <a:gridCol w="590466"/>
              </a:tblGrid>
              <a:tr h="30186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 </a:t>
                      </a:r>
                      <a:endParaRPr lang="ru-RU" sz="2800" dirty="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1,2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3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4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5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8092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1,2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0</a:t>
                      </a:r>
                      <a:endParaRPr lang="ru-RU" sz="2800" dirty="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3.765</a:t>
                      </a:r>
                      <a:endParaRPr lang="ru-RU" sz="2800" dirty="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5.22</a:t>
                      </a:r>
                      <a:endParaRPr lang="ru-RU" sz="28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3.755</a:t>
                      </a:r>
                      <a:endParaRPr lang="ru-RU" sz="2800" dirty="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8092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3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3.765</a:t>
                      </a:r>
                      <a:endParaRPr lang="ru-RU" sz="28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0</a:t>
                      </a:r>
                      <a:endParaRPr lang="ru-RU" sz="2800" dirty="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2.25</a:t>
                      </a:r>
                      <a:endParaRPr lang="ru-RU" sz="28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3.65</a:t>
                      </a:r>
                      <a:endParaRPr lang="ru-RU" sz="28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30186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4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5.22</a:t>
                      </a:r>
                      <a:endParaRPr lang="ru-RU" sz="28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2.25</a:t>
                      </a:r>
                      <a:endParaRPr lang="ru-RU" sz="28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0</a:t>
                      </a:r>
                      <a:endParaRPr lang="ru-RU" sz="2800" dirty="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4.81</a:t>
                      </a:r>
                      <a:endParaRPr lang="ru-RU" sz="2800" dirty="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8092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5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3.755</a:t>
                      </a:r>
                      <a:endParaRPr lang="ru-RU" sz="28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3.65</a:t>
                      </a:r>
                      <a:endParaRPr lang="ru-RU" sz="28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4.81</a:t>
                      </a:r>
                      <a:endParaRPr lang="ru-RU" sz="28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0</a:t>
                      </a:r>
                      <a:endParaRPr lang="ru-RU" sz="2800" dirty="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26" name="Стрелка вправо 25"/>
          <p:cNvSpPr/>
          <p:nvPr/>
        </p:nvSpPr>
        <p:spPr>
          <a:xfrm>
            <a:off x="7812360" y="3880472"/>
            <a:ext cx="576064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1511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Метод невзвешенного попарного среднего - UPGMA</a:t>
            </a:r>
            <a:endParaRPr lang="ru-RU" dirty="0"/>
          </a:p>
        </p:txBody>
      </p:sp>
      <p:pic>
        <p:nvPicPr>
          <p:cNvPr id="6146" name="Рисунок 477" descr="D((u,v),w)~=~{T_{u}D_{u,w}~+~ T_{v}D_{v,w}}/{T_{u}~+~ T_{v}}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438" y="1700808"/>
            <a:ext cx="6110882" cy="1224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Стрелка вправо 3"/>
          <p:cNvSpPr/>
          <p:nvPr/>
        </p:nvSpPr>
        <p:spPr>
          <a:xfrm>
            <a:off x="4427984" y="3933056"/>
            <a:ext cx="576064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654217"/>
              </p:ext>
            </p:extLst>
          </p:nvPr>
        </p:nvGraphicFramePr>
        <p:xfrm>
          <a:off x="961256" y="3512659"/>
          <a:ext cx="2890664" cy="1402080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722666"/>
                <a:gridCol w="722666"/>
                <a:gridCol w="722666"/>
                <a:gridCol w="722666"/>
              </a:tblGrid>
              <a:tr h="26711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 </a:t>
                      </a:r>
                      <a:endParaRPr lang="ru-RU" sz="2800" dirty="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1,2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3,4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5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26711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1,2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0</a:t>
                      </a:r>
                      <a:endParaRPr lang="ru-RU" sz="2800" dirty="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4.4925</a:t>
                      </a:r>
                      <a:endParaRPr lang="ru-RU" sz="2800" dirty="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3.755</a:t>
                      </a:r>
                      <a:endParaRPr lang="ru-RU" sz="28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26711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3,4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4.4925</a:t>
                      </a:r>
                      <a:endParaRPr lang="ru-RU" sz="28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0</a:t>
                      </a:r>
                      <a:endParaRPr lang="ru-RU" sz="2800" dirty="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4.23</a:t>
                      </a:r>
                      <a:endParaRPr lang="ru-RU" sz="2800" dirty="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26711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5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3.755</a:t>
                      </a:r>
                      <a:endParaRPr lang="ru-RU" sz="28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effectLst/>
                        </a:rPr>
                        <a:t>4.23</a:t>
                      </a:r>
                      <a:endParaRPr lang="ru-RU" sz="280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0</a:t>
                      </a:r>
                      <a:endParaRPr lang="ru-RU" sz="2800" dirty="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3981519"/>
              </p:ext>
            </p:extLst>
          </p:nvPr>
        </p:nvGraphicFramePr>
        <p:xfrm>
          <a:off x="5508104" y="3501008"/>
          <a:ext cx="2170584" cy="1440160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723528"/>
                <a:gridCol w="723528"/>
                <a:gridCol w="723528"/>
              </a:tblGrid>
              <a:tr h="45619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 </a:t>
                      </a:r>
                      <a:endParaRPr lang="ru-RU" sz="2800" dirty="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1,2,5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3,4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9198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1,2,5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0</a:t>
                      </a:r>
                      <a:endParaRPr lang="ru-RU" sz="2800" dirty="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4.405</a:t>
                      </a:r>
                      <a:endParaRPr lang="ru-RU" sz="2800" dirty="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  <a:tr h="49198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  <a:ea typeface="MS Mincho"/>
                          <a:cs typeface="Times New Roman"/>
                        </a:rPr>
                        <a:t>3,4</a:t>
                      </a:r>
                      <a:endParaRPr lang="ru-RU" sz="2000" dirty="0">
                        <a:solidFill>
                          <a:schemeClr val="bg1"/>
                        </a:solidFill>
                        <a:effectLst/>
                        <a:latin typeface="Tahoma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4.405</a:t>
                      </a:r>
                      <a:endParaRPr lang="ru-RU" sz="2800" dirty="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0</a:t>
                      </a:r>
                      <a:endParaRPr lang="ru-RU" sz="2800" dirty="0">
                        <a:effectLst/>
                        <a:latin typeface="Calibri"/>
                        <a:ea typeface="MS Mincho"/>
                        <a:cs typeface="Times New Roman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4303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Метод невзвешенного попарного среднего - UPGMA</a:t>
            </a:r>
            <a:endParaRPr lang="ru-RU" dirty="0"/>
          </a:p>
        </p:txBody>
      </p:sp>
      <p:pic>
        <p:nvPicPr>
          <p:cNvPr id="6146" name="Рисунок 477" descr="D((u,v),w)~=~{T_{u}D_{u,w}~+~ T_{v}D_{v,w}}/{T_{u}~+~ T_{v}}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438" y="1700808"/>
            <a:ext cx="6110882" cy="1224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4" name="Рисунок 536" descr="Метод невзвешенного попарного среднего - UPGMA. Дендрограма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37"/>
          <a:stretch/>
        </p:blipFill>
        <p:spPr bwMode="auto">
          <a:xfrm>
            <a:off x="1332083" y="3250581"/>
            <a:ext cx="6264253" cy="3418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61362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Метод взвешенного попарного среднего - WPGMA</a:t>
            </a:r>
            <a:endParaRPr lang="ru-RU" dirty="0"/>
          </a:p>
        </p:txBody>
      </p:sp>
      <p:pic>
        <p:nvPicPr>
          <p:cNvPr id="9218" name="Рисунок 646" descr="D((u,v),w)~=~{D_{u,w}~+~ D_{v,w}}/{2}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4128" y="1628800"/>
            <a:ext cx="5904176" cy="14057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Рисунок 705" descr="Метод взвешенного попарного среднего - WPGMA. Дендрограма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95"/>
          <a:stretch/>
        </p:blipFill>
        <p:spPr bwMode="auto">
          <a:xfrm>
            <a:off x="1187624" y="3140968"/>
            <a:ext cx="6552728" cy="3453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30478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Алгоритмы </a:t>
            </a:r>
            <a:r>
              <a:rPr lang="ru-RU" b="1" dirty="0" smtClean="0"/>
              <a:t>Форель (</a:t>
            </a:r>
            <a:r>
              <a:rPr lang="en-US" b="1" dirty="0" smtClean="0"/>
              <a:t>FOREL)</a:t>
            </a:r>
            <a:r>
              <a:rPr lang="ru-RU" b="1" dirty="0" smtClean="0"/>
              <a:t> </a:t>
            </a:r>
            <a:r>
              <a:rPr lang="ru-RU" b="1" dirty="0"/>
              <a:t>и Форель </a:t>
            </a:r>
            <a:r>
              <a:rPr lang="ru-RU" b="1" dirty="0" smtClean="0"/>
              <a:t>2</a:t>
            </a:r>
            <a:r>
              <a:rPr lang="en-US" b="1" dirty="0" smtClean="0"/>
              <a:t> (FOREL2)</a:t>
            </a:r>
            <a:endParaRPr lang="ru-RU" dirty="0"/>
          </a:p>
        </p:txBody>
      </p:sp>
      <p:pic>
        <p:nvPicPr>
          <p:cNvPr id="10242" name="Рисунок 801" descr="Алгоритм Форель: исходное множество объектов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99"/>
          <a:stretch/>
        </p:blipFill>
        <p:spPr bwMode="auto">
          <a:xfrm>
            <a:off x="1907704" y="1628800"/>
            <a:ext cx="5328592" cy="4909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48548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Алгоритмы </a:t>
            </a:r>
            <a:r>
              <a:rPr lang="ru-RU" b="1" dirty="0" smtClean="0"/>
              <a:t>Форель (</a:t>
            </a:r>
            <a:r>
              <a:rPr lang="en-US" b="1" dirty="0" smtClean="0"/>
              <a:t>FOREL)</a:t>
            </a:r>
            <a:r>
              <a:rPr lang="ru-RU" b="1" dirty="0" smtClean="0"/>
              <a:t> </a:t>
            </a:r>
            <a:r>
              <a:rPr lang="ru-RU" b="1" dirty="0"/>
              <a:t>и Форель </a:t>
            </a:r>
            <a:r>
              <a:rPr lang="ru-RU" b="1" dirty="0" smtClean="0"/>
              <a:t>2</a:t>
            </a:r>
            <a:r>
              <a:rPr lang="en-US" b="1" dirty="0" smtClean="0"/>
              <a:t> (FOREL2)</a:t>
            </a:r>
            <a:endParaRPr lang="ru-RU" dirty="0"/>
          </a:p>
        </p:txBody>
      </p:sp>
      <p:pic>
        <p:nvPicPr>
          <p:cNvPr id="11266" name="Рисунок 803" descr="Алгоритм Форель: начальная гиперсфера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77"/>
          <a:stretch/>
        </p:blipFill>
        <p:spPr bwMode="auto">
          <a:xfrm>
            <a:off x="1829402" y="1556792"/>
            <a:ext cx="5550910" cy="5009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4175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Алгоритмы </a:t>
            </a:r>
            <a:r>
              <a:rPr lang="ru-RU" b="1" dirty="0" smtClean="0"/>
              <a:t>Форель (</a:t>
            </a:r>
            <a:r>
              <a:rPr lang="en-US" b="1" dirty="0" smtClean="0"/>
              <a:t>FOREL)</a:t>
            </a:r>
            <a:r>
              <a:rPr lang="ru-RU" b="1" dirty="0" smtClean="0"/>
              <a:t> </a:t>
            </a:r>
            <a:r>
              <a:rPr lang="ru-RU" b="1" dirty="0"/>
              <a:t>и Форель </a:t>
            </a:r>
            <a:r>
              <a:rPr lang="ru-RU" b="1" dirty="0" smtClean="0"/>
              <a:t>2</a:t>
            </a:r>
            <a:r>
              <a:rPr lang="en-US" b="1" dirty="0" smtClean="0"/>
              <a:t> (FOREL2)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51520" y="1720840"/>
            <a:ext cx="8712968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x-none" sz="2800" b="1"/>
              <a:t>Эвристики выбора центра тяжести:</a:t>
            </a:r>
            <a:endParaRPr lang="ru-RU" sz="2800" b="1" dirty="0"/>
          </a:p>
          <a:p>
            <a:pPr marL="342900" lvl="0" indent="-342900">
              <a:buFont typeface="+mj-lt"/>
              <a:buAutoNum type="arabicPeriod"/>
            </a:pPr>
            <a:r>
              <a:rPr lang="ru-RU" sz="2800" dirty="0"/>
              <a:t>В линейном пространстве — </a:t>
            </a:r>
            <a:r>
              <a:rPr lang="ru-RU" sz="2800" dirty="0" smtClean="0"/>
              <a:t>«центр масс» всех точек</a:t>
            </a:r>
            <a:endParaRPr lang="ru-RU" sz="2800" dirty="0"/>
          </a:p>
          <a:p>
            <a:pPr marL="342900" lvl="0" indent="-342900">
              <a:buFont typeface="+mj-lt"/>
              <a:buAutoNum type="arabicPeriod"/>
            </a:pPr>
            <a:r>
              <a:rPr lang="ru-RU" sz="2800" dirty="0"/>
              <a:t>В метрическом пространстве — объект, сумма расстояний до которого минимальна, среди всех внутри сферы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2800" dirty="0"/>
              <a:t>Объект, который внутри сферы радиуса R содержит максимальное количество других объектов из всей выборки (медленно вычисляется)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2800" dirty="0"/>
              <a:t>Объект, который внутри сферы маленького радиуса содержит максимальное количество объектов (из сферы радиуса R)</a:t>
            </a:r>
          </a:p>
        </p:txBody>
      </p:sp>
    </p:spTree>
    <p:extLst>
      <p:ext uri="{BB962C8B-B14F-4D97-AF65-F5344CB8AC3E}">
        <p14:creationId xmlns:p14="http://schemas.microsoft.com/office/powerpoint/2010/main" val="2742668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Алгоритмы </a:t>
            </a:r>
            <a:r>
              <a:rPr lang="ru-RU" b="1" dirty="0" smtClean="0"/>
              <a:t>Форель (</a:t>
            </a:r>
            <a:r>
              <a:rPr lang="en-US" b="1" dirty="0" smtClean="0"/>
              <a:t>FOREL)</a:t>
            </a:r>
            <a:r>
              <a:rPr lang="ru-RU" b="1" dirty="0" smtClean="0"/>
              <a:t> </a:t>
            </a:r>
            <a:r>
              <a:rPr lang="ru-RU" b="1" dirty="0"/>
              <a:t>и Форель </a:t>
            </a:r>
            <a:r>
              <a:rPr lang="ru-RU" b="1" dirty="0" smtClean="0"/>
              <a:t>2</a:t>
            </a:r>
            <a:r>
              <a:rPr lang="en-US" b="1" dirty="0" smtClean="0"/>
              <a:t> (FOREL2)</a:t>
            </a:r>
            <a:endParaRPr lang="ru-RU" dirty="0"/>
          </a:p>
        </p:txBody>
      </p:sp>
      <p:pic>
        <p:nvPicPr>
          <p:cNvPr id="12290" name="Рисунок 805" descr="Алгоритм Форель: перенос центра гиперсферы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16"/>
          <a:stretch/>
        </p:blipFill>
        <p:spPr bwMode="auto">
          <a:xfrm>
            <a:off x="1979712" y="1464650"/>
            <a:ext cx="5184576" cy="52767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55401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Алгоритмы </a:t>
            </a:r>
            <a:r>
              <a:rPr lang="ru-RU" b="1" dirty="0" smtClean="0"/>
              <a:t>Форель (</a:t>
            </a:r>
            <a:r>
              <a:rPr lang="en-US" b="1" dirty="0" smtClean="0"/>
              <a:t>FOREL)</a:t>
            </a:r>
            <a:r>
              <a:rPr lang="ru-RU" b="1" dirty="0" smtClean="0"/>
              <a:t> </a:t>
            </a:r>
            <a:r>
              <a:rPr lang="ru-RU" b="1" dirty="0"/>
              <a:t>и Форель </a:t>
            </a:r>
            <a:r>
              <a:rPr lang="ru-RU" b="1" dirty="0" smtClean="0"/>
              <a:t>2</a:t>
            </a:r>
            <a:r>
              <a:rPr lang="en-US" b="1" dirty="0" smtClean="0"/>
              <a:t> (FOREL2)</a:t>
            </a:r>
            <a:endParaRPr lang="ru-RU" dirty="0"/>
          </a:p>
        </p:txBody>
      </p:sp>
      <p:pic>
        <p:nvPicPr>
          <p:cNvPr id="13314" name="Рисунок 806" descr="Алгоритм Форель: вычисление нового центра тяжести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77"/>
          <a:stretch/>
        </p:blipFill>
        <p:spPr bwMode="auto">
          <a:xfrm>
            <a:off x="1907704" y="1445887"/>
            <a:ext cx="5184576" cy="5313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95550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Алгоритмы </a:t>
            </a:r>
            <a:r>
              <a:rPr lang="ru-RU" b="1" dirty="0" smtClean="0"/>
              <a:t>Форель (</a:t>
            </a:r>
            <a:r>
              <a:rPr lang="en-US" b="1" dirty="0" smtClean="0"/>
              <a:t>FOREL)</a:t>
            </a:r>
            <a:r>
              <a:rPr lang="ru-RU" b="1" dirty="0" smtClean="0"/>
              <a:t> </a:t>
            </a:r>
            <a:r>
              <a:rPr lang="ru-RU" b="1" dirty="0"/>
              <a:t>и Форель </a:t>
            </a:r>
            <a:r>
              <a:rPr lang="ru-RU" b="1" dirty="0" smtClean="0"/>
              <a:t>2</a:t>
            </a:r>
            <a:r>
              <a:rPr lang="en-US" b="1" dirty="0" smtClean="0"/>
              <a:t> (FOREL2)</a:t>
            </a:r>
            <a:endParaRPr lang="ru-RU" dirty="0"/>
          </a:p>
        </p:txBody>
      </p:sp>
      <p:pic>
        <p:nvPicPr>
          <p:cNvPr id="14338" name="Рисунок 809" descr="Алгоритм Форель: перенос центра гиперсферы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16"/>
          <a:stretch/>
        </p:blipFill>
        <p:spPr bwMode="auto">
          <a:xfrm>
            <a:off x="1979712" y="1384096"/>
            <a:ext cx="5184928" cy="5357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43198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Алгоритмы </a:t>
            </a:r>
            <a:r>
              <a:rPr lang="ru-RU" b="1" dirty="0" smtClean="0"/>
              <a:t>Форель (</a:t>
            </a:r>
            <a:r>
              <a:rPr lang="en-US" b="1" dirty="0" smtClean="0"/>
              <a:t>FOREL)</a:t>
            </a:r>
            <a:r>
              <a:rPr lang="ru-RU" b="1" dirty="0" smtClean="0"/>
              <a:t> </a:t>
            </a:r>
            <a:r>
              <a:rPr lang="ru-RU" b="1" dirty="0"/>
              <a:t>и Форель </a:t>
            </a:r>
            <a:r>
              <a:rPr lang="ru-RU" b="1" dirty="0" smtClean="0"/>
              <a:t>2</a:t>
            </a:r>
            <a:r>
              <a:rPr lang="en-US" b="1" dirty="0" smtClean="0"/>
              <a:t> (FOREL2)</a:t>
            </a:r>
            <a:endParaRPr lang="ru-RU" dirty="0"/>
          </a:p>
        </p:txBody>
      </p:sp>
      <p:pic>
        <p:nvPicPr>
          <p:cNvPr id="15362" name="Рисунок 811" descr="Алгоритм Форель: выявление первого таксона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19"/>
          <a:stretch/>
        </p:blipFill>
        <p:spPr bwMode="auto">
          <a:xfrm>
            <a:off x="1979712" y="1340768"/>
            <a:ext cx="5309235" cy="54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330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Алгоритмы </a:t>
            </a:r>
            <a:r>
              <a:rPr lang="ru-RU" b="1" dirty="0" smtClean="0"/>
              <a:t>Форель (</a:t>
            </a:r>
            <a:r>
              <a:rPr lang="en-US" b="1" dirty="0" smtClean="0"/>
              <a:t>FOREL)</a:t>
            </a:r>
            <a:r>
              <a:rPr lang="ru-RU" b="1" dirty="0" smtClean="0"/>
              <a:t> </a:t>
            </a:r>
            <a:r>
              <a:rPr lang="ru-RU" b="1" dirty="0"/>
              <a:t>и Форель </a:t>
            </a:r>
            <a:r>
              <a:rPr lang="ru-RU" b="1" dirty="0" smtClean="0"/>
              <a:t>2</a:t>
            </a:r>
            <a:r>
              <a:rPr lang="en-US" b="1" dirty="0" smtClean="0"/>
              <a:t> (FOREL2)</a:t>
            </a:r>
            <a:endParaRPr lang="ru-RU" dirty="0"/>
          </a:p>
        </p:txBody>
      </p:sp>
      <p:pic>
        <p:nvPicPr>
          <p:cNvPr id="16386" name="Рисунок 812" descr="Алгоритм Форель: исключение нового таксона из анализа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61"/>
          <a:stretch/>
        </p:blipFill>
        <p:spPr bwMode="auto">
          <a:xfrm>
            <a:off x="1682149" y="1340768"/>
            <a:ext cx="5907429" cy="54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52470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Алгоритмы </a:t>
            </a:r>
            <a:r>
              <a:rPr lang="ru-RU" b="1" dirty="0" smtClean="0"/>
              <a:t>Форель (</a:t>
            </a:r>
            <a:r>
              <a:rPr lang="en-US" b="1" dirty="0" smtClean="0"/>
              <a:t>FOREL)</a:t>
            </a:r>
            <a:r>
              <a:rPr lang="ru-RU" b="1" dirty="0" smtClean="0"/>
              <a:t> </a:t>
            </a:r>
            <a:r>
              <a:rPr lang="ru-RU" b="1" dirty="0"/>
              <a:t>и Форель </a:t>
            </a:r>
            <a:r>
              <a:rPr lang="ru-RU" b="1" dirty="0" smtClean="0"/>
              <a:t>2</a:t>
            </a:r>
            <a:r>
              <a:rPr lang="en-US" b="1" dirty="0" smtClean="0"/>
              <a:t> (FOREL2)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51520" y="1443841"/>
            <a:ext cx="871296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x-none" sz="2800" b="1"/>
              <a:t>Преимущества алгоритма:</a:t>
            </a:r>
            <a:endParaRPr lang="ru-RU" sz="2800" b="1" dirty="0"/>
          </a:p>
          <a:p>
            <a:pPr marL="342900" lvl="0" indent="-342900">
              <a:buFont typeface="+mj-lt"/>
              <a:buAutoNum type="arabicPeriod"/>
            </a:pPr>
            <a:r>
              <a:rPr lang="ru-RU" sz="2800" dirty="0"/>
              <a:t>Точность минимизации функционала качества (при удачном подборе параметра R)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2800" dirty="0"/>
              <a:t>Наглядность визуализации кластеризации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2800" dirty="0"/>
              <a:t>Сходимость алгоритма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2800" dirty="0"/>
              <a:t>Возможность операций над центрами кластеров — они известны в процессе работы алгоритма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2800" dirty="0"/>
              <a:t>Возможность подсчета промежуточных функционалов качества, например, длины цепочки локальных сгущений</a:t>
            </a:r>
          </a:p>
          <a:p>
            <a:pPr marL="342900" lvl="0" indent="-342900">
              <a:buFont typeface="+mj-lt"/>
              <a:buAutoNum type="arabicPeriod"/>
            </a:pPr>
            <a:r>
              <a:rPr lang="ru-RU" sz="2800" dirty="0"/>
              <a:t>Возможность проверки гипотез схожести и компактности в процессе работы алгоритма</a:t>
            </a:r>
          </a:p>
        </p:txBody>
      </p:sp>
    </p:spTree>
    <p:extLst>
      <p:ext uri="{BB962C8B-B14F-4D97-AF65-F5344CB8AC3E}">
        <p14:creationId xmlns:p14="http://schemas.microsoft.com/office/powerpoint/2010/main" val="2055905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Алгоритмы </a:t>
            </a:r>
            <a:r>
              <a:rPr lang="ru-RU" b="1" dirty="0" smtClean="0"/>
              <a:t>Форель (</a:t>
            </a:r>
            <a:r>
              <a:rPr lang="en-US" b="1" dirty="0" smtClean="0"/>
              <a:t>FOREL)</a:t>
            </a:r>
            <a:r>
              <a:rPr lang="ru-RU" b="1" dirty="0" smtClean="0"/>
              <a:t> </a:t>
            </a:r>
            <a:r>
              <a:rPr lang="ru-RU" b="1" dirty="0"/>
              <a:t>и Форель </a:t>
            </a:r>
            <a:r>
              <a:rPr lang="ru-RU" b="1" dirty="0" smtClean="0"/>
              <a:t>2</a:t>
            </a:r>
            <a:r>
              <a:rPr lang="en-US" b="1" dirty="0" smtClean="0"/>
              <a:t> (FOREL2)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51520" y="1443841"/>
            <a:ext cx="871296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x-none" sz="2800" b="1"/>
              <a:t>Недостатки алгоритма:</a:t>
            </a:r>
            <a:endParaRPr lang="ru-RU" sz="2800" b="1" dirty="0"/>
          </a:p>
          <a:p>
            <a:pPr marL="514350" lvl="0" indent="-514350">
              <a:buFont typeface="+mj-lt"/>
              <a:buAutoNum type="arabicPeriod"/>
            </a:pPr>
            <a:r>
              <a:rPr lang="ru-RU" sz="2800" dirty="0"/>
              <a:t>Относительно низкая производительность (решается введение функции пересчета поиска центра при добавлении 1 объекта внутрь сферы)</a:t>
            </a:r>
          </a:p>
          <a:p>
            <a:pPr marL="514350" lvl="0" indent="-514350">
              <a:buFont typeface="+mj-lt"/>
              <a:buAutoNum type="arabicPeriod"/>
            </a:pPr>
            <a:r>
              <a:rPr lang="ru-RU" sz="2800" dirty="0"/>
              <a:t>Плохая применимость алгоритма при плохой разделимости выборки на кластеры</a:t>
            </a:r>
          </a:p>
          <a:p>
            <a:pPr marL="514350" lvl="0" indent="-514350">
              <a:buFont typeface="+mj-lt"/>
              <a:buAutoNum type="arabicPeriod"/>
            </a:pPr>
            <a:r>
              <a:rPr lang="ru-RU" sz="2800" dirty="0"/>
              <a:t>Неустойчивость алгоритма (зависимость от выбора начального объекта)</a:t>
            </a:r>
          </a:p>
          <a:p>
            <a:pPr marL="514350" lvl="0" indent="-514350">
              <a:buFont typeface="+mj-lt"/>
              <a:buAutoNum type="arabicPeriod"/>
            </a:pPr>
            <a:r>
              <a:rPr lang="ru-RU" sz="2800" dirty="0"/>
              <a:t>Произвольное по количеству разбиение на кластеры</a:t>
            </a:r>
          </a:p>
          <a:p>
            <a:pPr marL="514350" lvl="0" indent="-514350">
              <a:buFont typeface="+mj-lt"/>
              <a:buAutoNum type="arabicPeriod"/>
            </a:pPr>
            <a:r>
              <a:rPr lang="ru-RU" sz="2800" dirty="0"/>
              <a:t>Необходимость априорных знаний о ширине (диаметре) кластеров</a:t>
            </a:r>
          </a:p>
        </p:txBody>
      </p:sp>
    </p:spTree>
    <p:extLst>
      <p:ext uri="{BB962C8B-B14F-4D97-AF65-F5344CB8AC3E}">
        <p14:creationId xmlns:p14="http://schemas.microsoft.com/office/powerpoint/2010/main" val="1961253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Алгоритмы </a:t>
            </a:r>
            <a:r>
              <a:rPr lang="en-US" b="1" i="1" dirty="0" smtClean="0"/>
              <a:t>k</a:t>
            </a:r>
            <a:r>
              <a:rPr lang="en-US" b="1" dirty="0" smtClean="0"/>
              <a:t>-means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51520" y="1443841"/>
            <a:ext cx="871296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Один из наиболее популярных методов</a:t>
            </a:r>
            <a:endParaRPr lang="en-US" sz="2800" dirty="0" smtClean="0"/>
          </a:p>
          <a:p>
            <a:endParaRPr lang="en-US" sz="2800" dirty="0"/>
          </a:p>
          <a:p>
            <a:r>
              <a:rPr lang="ru-RU" sz="2800" dirty="0" smtClean="0"/>
              <a:t>Итеративное </a:t>
            </a:r>
            <a:r>
              <a:rPr lang="ru-RU" sz="2800" dirty="0"/>
              <a:t>повторение двух шагов: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распределение объектов выборки по </a:t>
            </a:r>
            <a:r>
              <a:rPr lang="ru-RU" sz="2800" dirty="0" smtClean="0"/>
              <a:t>кластерам</a:t>
            </a:r>
            <a:endParaRPr lang="ru-RU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пересчёт центров </a:t>
            </a:r>
            <a:r>
              <a:rPr lang="ru-RU" sz="2800" dirty="0" smtClean="0"/>
              <a:t>кластеров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740511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Алгоритмы </a:t>
            </a:r>
            <a:r>
              <a:rPr lang="en-US" b="1" i="1" dirty="0" smtClean="0"/>
              <a:t>k</a:t>
            </a:r>
            <a:r>
              <a:rPr lang="en-US" b="1" dirty="0" smtClean="0"/>
              <a:t>-means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51520" y="1443841"/>
            <a:ext cx="8712968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выбираются</a:t>
            </a:r>
            <a:r>
              <a:rPr lang="ru-RU" sz="2800" dirty="0"/>
              <a:t> </a:t>
            </a:r>
            <a:r>
              <a:rPr lang="en-US" sz="2800" b="1" i="1" dirty="0"/>
              <a:t>k</a:t>
            </a:r>
            <a:r>
              <a:rPr lang="ru-RU" sz="2800" dirty="0"/>
              <a:t> случайных центров в пространстве </a:t>
            </a:r>
            <a:r>
              <a:rPr lang="ru-RU" sz="2800" dirty="0" smtClean="0"/>
              <a:t>признаков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каждый </a:t>
            </a:r>
            <a:r>
              <a:rPr lang="ru-RU" sz="2800" dirty="0"/>
              <a:t>объект </a:t>
            </a:r>
            <a:r>
              <a:rPr lang="ru-RU" sz="2800" dirty="0" smtClean="0"/>
              <a:t>относят </a:t>
            </a:r>
            <a:r>
              <a:rPr lang="ru-RU" sz="2800" dirty="0"/>
              <a:t>к тому кластеру, к центру которого объект оказался </a:t>
            </a:r>
            <a:r>
              <a:rPr lang="ru-RU" sz="2800" dirty="0" smtClean="0"/>
              <a:t>ближе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центры </a:t>
            </a:r>
            <a:r>
              <a:rPr lang="ru-RU" sz="2800" dirty="0"/>
              <a:t>кластеров пересчитывают как среднее арифметическое векторов признаков всех вошедших в этот кластер объектов </a:t>
            </a:r>
            <a:r>
              <a:rPr lang="ru-RU" sz="2800" dirty="0" smtClean="0"/>
              <a:t>(центр </a:t>
            </a:r>
            <a:r>
              <a:rPr lang="ru-RU" sz="2800" dirty="0"/>
              <a:t>масс кластера</a:t>
            </a:r>
            <a:r>
              <a:rPr lang="ru-RU" sz="2800" dirty="0" smtClean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объекты </a:t>
            </a:r>
            <a:r>
              <a:rPr lang="ru-RU" sz="2800" dirty="0"/>
              <a:t>заново перераспределяются по </a:t>
            </a:r>
            <a:r>
              <a:rPr lang="ru-RU" sz="2800" dirty="0" smtClean="0"/>
              <a:t>кластерам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затем </a:t>
            </a:r>
            <a:r>
              <a:rPr lang="ru-RU" sz="2800" dirty="0"/>
              <a:t>можно снова уточнить положение </a:t>
            </a:r>
            <a:r>
              <a:rPr lang="ru-RU" sz="2800" dirty="0" smtClean="0"/>
              <a:t>центров</a:t>
            </a:r>
          </a:p>
          <a:p>
            <a:r>
              <a:rPr lang="ru-RU" sz="2800" dirty="0" smtClean="0"/>
              <a:t>Продолжаем </a:t>
            </a:r>
            <a:r>
              <a:rPr lang="ru-RU" sz="2800" dirty="0"/>
              <a:t>до тех пор, пока центры кластеров не перестанут </a:t>
            </a:r>
            <a:r>
              <a:rPr lang="ru-RU" sz="2800" dirty="0" smtClean="0"/>
              <a:t>меняться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359410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Алгоритмы </a:t>
            </a:r>
            <a:r>
              <a:rPr lang="en-US" b="1" i="1" dirty="0" smtClean="0"/>
              <a:t>k</a:t>
            </a:r>
            <a:r>
              <a:rPr lang="en-US" b="1" dirty="0" smtClean="0"/>
              <a:t>-means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51520" y="1443841"/>
            <a:ext cx="8712968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800" dirty="0" smtClean="0"/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/>
          </a:p>
          <a:p>
            <a:pPr algn="ctr"/>
            <a:r>
              <a:rPr lang="ru-RU" sz="2800" dirty="0" smtClean="0"/>
              <a:t>1. Выбор числа кластеров </a:t>
            </a:r>
            <a:r>
              <a:rPr lang="ru-RU" sz="2800" b="1" i="1" dirty="0" smtClean="0"/>
              <a:t>k</a:t>
            </a:r>
            <a:endParaRPr lang="ru-RU" sz="2800" b="1" i="1" dirty="0"/>
          </a:p>
        </p:txBody>
      </p:sp>
      <p:pic>
        <p:nvPicPr>
          <p:cNvPr id="1026" name="Picture 2" descr="https://media.proglib.io/posts/2022/02/23/7705360ee83fe67e322e862d95858d0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268760"/>
            <a:ext cx="7320812" cy="439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5419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Алгоритмы </a:t>
            </a:r>
            <a:r>
              <a:rPr lang="en-US" b="1" i="1" dirty="0" smtClean="0"/>
              <a:t>k</a:t>
            </a:r>
            <a:r>
              <a:rPr lang="en-US" b="1" dirty="0" smtClean="0"/>
              <a:t>-means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51520" y="1443841"/>
            <a:ext cx="8712968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800" dirty="0" smtClean="0"/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/>
          </a:p>
          <a:p>
            <a:pPr algn="ctr"/>
            <a:r>
              <a:rPr lang="ru-RU" sz="2800" dirty="0" smtClean="0"/>
              <a:t>2. Выбор </a:t>
            </a:r>
            <a:r>
              <a:rPr lang="ru-RU" sz="2800" b="1" i="1" dirty="0"/>
              <a:t>k</a:t>
            </a:r>
            <a:r>
              <a:rPr lang="ru-RU" sz="2800" dirty="0"/>
              <a:t> случайных </a:t>
            </a:r>
            <a:r>
              <a:rPr lang="ru-RU" sz="2800" dirty="0" smtClean="0"/>
              <a:t>значений центров кластеров</a:t>
            </a:r>
            <a:endParaRPr lang="ru-RU" sz="2800" dirty="0"/>
          </a:p>
        </p:txBody>
      </p:sp>
      <p:pic>
        <p:nvPicPr>
          <p:cNvPr id="2050" name="Picture 2" descr="https://media.proglib.io/posts/2022/02/23/b16b86ee92cdf6c3de4dba6de5954f1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268760"/>
            <a:ext cx="6667500" cy="4381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4450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Алгоритмы </a:t>
            </a:r>
            <a:r>
              <a:rPr lang="en-US" b="1" i="1" dirty="0" smtClean="0"/>
              <a:t>k</a:t>
            </a:r>
            <a:r>
              <a:rPr lang="en-US" b="1" dirty="0" smtClean="0"/>
              <a:t>-means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51520" y="1443841"/>
            <a:ext cx="871296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800" dirty="0" smtClean="0"/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 smtClean="0"/>
          </a:p>
          <a:p>
            <a:pPr algn="ctr"/>
            <a:r>
              <a:rPr lang="ru-RU" sz="2800" dirty="0" smtClean="0"/>
              <a:t>3. Размещение объектов по </a:t>
            </a:r>
            <a:r>
              <a:rPr lang="ru-RU" sz="2800" b="1" i="1" dirty="0"/>
              <a:t>k</a:t>
            </a:r>
            <a:r>
              <a:rPr lang="ru-RU" sz="2800" dirty="0"/>
              <a:t> </a:t>
            </a:r>
            <a:r>
              <a:rPr lang="ru-RU" sz="2800" dirty="0" smtClean="0"/>
              <a:t>кластерам</a:t>
            </a:r>
          </a:p>
          <a:p>
            <a:pPr algn="ctr"/>
            <a:r>
              <a:rPr lang="ru-RU" sz="2800" dirty="0" smtClean="0"/>
              <a:t>(измерение расстояний до каждого из центров)</a:t>
            </a:r>
            <a:endParaRPr lang="ru-RU" sz="2800" dirty="0"/>
          </a:p>
        </p:txBody>
      </p:sp>
      <p:pic>
        <p:nvPicPr>
          <p:cNvPr id="3074" name="Picture 2" descr="https://media.proglib.io/posts/2022/02/23/768ef15754a96ce8e926231d64de9ec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255365"/>
            <a:ext cx="6667500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6933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Алгоритмы </a:t>
            </a:r>
            <a:r>
              <a:rPr lang="en-US" b="1" i="1" dirty="0" smtClean="0"/>
              <a:t>k</a:t>
            </a:r>
            <a:r>
              <a:rPr lang="en-US" b="1" dirty="0" smtClean="0"/>
              <a:t>-means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51520" y="1443841"/>
            <a:ext cx="8712968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800" dirty="0" smtClean="0"/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 smtClean="0"/>
          </a:p>
          <a:p>
            <a:pPr algn="ctr"/>
            <a:r>
              <a:rPr lang="ru-RU" sz="2800" dirty="0" smtClean="0"/>
              <a:t>3. Возможный результат кластеризации</a:t>
            </a:r>
            <a:endParaRPr lang="ru-RU" sz="2800" dirty="0"/>
          </a:p>
        </p:txBody>
      </p:sp>
      <p:pic>
        <p:nvPicPr>
          <p:cNvPr id="4098" name="Picture 2" descr="👦✨ Объясните так, как будто мне 10 лет: простое описание популярного алгоритма кластеризации k-средних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6868" y="1268760"/>
            <a:ext cx="6667500" cy="4352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0404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Алгоритмы </a:t>
            </a:r>
            <a:r>
              <a:rPr lang="en-US" b="1" i="1" dirty="0" smtClean="0"/>
              <a:t>k</a:t>
            </a:r>
            <a:r>
              <a:rPr lang="en-US" b="1" dirty="0" smtClean="0"/>
              <a:t>-means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51520" y="1443841"/>
            <a:ext cx="871296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800" dirty="0" smtClean="0"/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 smtClean="0"/>
          </a:p>
          <a:p>
            <a:pPr algn="ctr"/>
            <a:r>
              <a:rPr lang="ru-RU" sz="2800" dirty="0" smtClean="0"/>
              <a:t>4. Расчет новых центров кластеров</a:t>
            </a:r>
          </a:p>
          <a:p>
            <a:pPr algn="ctr"/>
            <a:r>
              <a:rPr lang="ru-RU" sz="2800" dirty="0" smtClean="0"/>
              <a:t>(например, центры масс каждого кластера)</a:t>
            </a:r>
            <a:endParaRPr lang="ru-RU" sz="2800" dirty="0"/>
          </a:p>
        </p:txBody>
      </p:sp>
      <p:pic>
        <p:nvPicPr>
          <p:cNvPr id="5122" name="Picture 2" descr="https://media.proglib.io/posts/2022/02/23/44e2652790ebec89ee7b1db1e857b0c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157063"/>
            <a:ext cx="6667500" cy="4648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7851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Алгоритмы </a:t>
            </a:r>
            <a:r>
              <a:rPr lang="en-US" b="1" i="1" dirty="0" smtClean="0"/>
              <a:t>k</a:t>
            </a:r>
            <a:r>
              <a:rPr lang="en-US" b="1" dirty="0" smtClean="0"/>
              <a:t>-means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51520" y="1443841"/>
            <a:ext cx="8712968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800" dirty="0" smtClean="0"/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/>
          </a:p>
          <a:p>
            <a:pPr algn="ctr"/>
            <a:r>
              <a:rPr lang="ru-RU" sz="2800" dirty="0" smtClean="0"/>
              <a:t>5. Оценка «качества» кластеров по минимуму суммарного квадратичного отклонения объектов </a:t>
            </a:r>
            <a:r>
              <a:rPr lang="ru-RU" sz="2800" dirty="0"/>
              <a:t>кластеров от центров этих </a:t>
            </a:r>
            <a:r>
              <a:rPr lang="ru-RU" sz="2800" dirty="0" smtClean="0"/>
              <a:t>кластеров</a:t>
            </a:r>
          </a:p>
          <a:p>
            <a:pPr algn="ctr"/>
            <a:endParaRPr lang="ru-RU" sz="2800" dirty="0"/>
          </a:p>
          <a:p>
            <a:pPr algn="ctr"/>
            <a:r>
              <a:rPr lang="ru-RU" sz="2800" dirty="0" smtClean="0"/>
              <a:t>(</a:t>
            </a:r>
            <a:r>
              <a:rPr lang="en-US" sz="2800" b="1" i="1" dirty="0" smtClean="0"/>
              <a:t>x</a:t>
            </a:r>
            <a:r>
              <a:rPr lang="en-US" sz="2800" dirty="0" smtClean="0"/>
              <a:t> – </a:t>
            </a:r>
            <a:r>
              <a:rPr lang="ru-RU" sz="2800" dirty="0" smtClean="0"/>
              <a:t>объекты кластера </a:t>
            </a:r>
            <a:r>
              <a:rPr lang="en-US" sz="2800" b="1" i="1" dirty="0" smtClean="0"/>
              <a:t>Si</a:t>
            </a:r>
            <a:r>
              <a:rPr lang="ru-RU" sz="2800" dirty="0" smtClean="0"/>
              <a:t>, </a:t>
            </a:r>
            <a:r>
              <a:rPr lang="en-US" sz="2800" b="1" i="1" dirty="0" err="1" smtClean="0"/>
              <a:t>μi</a:t>
            </a:r>
            <a:r>
              <a:rPr lang="en-US" sz="2800" dirty="0" smtClean="0"/>
              <a:t> – </a:t>
            </a:r>
            <a:r>
              <a:rPr lang="ru-RU" sz="2800" dirty="0" smtClean="0"/>
              <a:t>центра кластера </a:t>
            </a:r>
            <a:r>
              <a:rPr lang="en-US" sz="2800" b="1" i="1" dirty="0" smtClean="0"/>
              <a:t>Si</a:t>
            </a:r>
            <a:r>
              <a:rPr lang="ru-RU" sz="2800" dirty="0" smtClean="0"/>
              <a:t>)</a:t>
            </a:r>
          </a:p>
          <a:p>
            <a:pPr algn="ctr"/>
            <a:endParaRPr lang="ru-RU" sz="2800" dirty="0"/>
          </a:p>
          <a:p>
            <a:pPr algn="ctr"/>
            <a:endParaRPr lang="ru-RU" sz="2800" dirty="0"/>
          </a:p>
        </p:txBody>
      </p:sp>
      <p:sp>
        <p:nvSpPr>
          <p:cNvPr id="5" name="AutoShape 2" descr="{\displaystyle V=\sum _{i=1}^{k}\sum _{x\in S_{i}}(x-\mu _{i})^{2}}"/>
          <p:cNvSpPr>
            <a:spLocks noChangeAspect="1" noChangeArrowheads="1"/>
          </p:cNvSpPr>
          <p:nvPr/>
        </p:nvSpPr>
        <p:spPr bwMode="auto">
          <a:xfrm>
            <a:off x="288925" y="920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3" descr="k"/>
          <p:cNvSpPr>
            <a:spLocks noChangeAspect="1" noChangeArrowheads="1"/>
          </p:cNvSpPr>
          <p:nvPr/>
        </p:nvSpPr>
        <p:spPr bwMode="auto">
          <a:xfrm>
            <a:off x="514350" y="2444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AutoShape 4" descr="S_{i}"/>
          <p:cNvSpPr>
            <a:spLocks noChangeAspect="1" noChangeArrowheads="1"/>
          </p:cNvSpPr>
          <p:nvPr/>
        </p:nvSpPr>
        <p:spPr bwMode="auto">
          <a:xfrm>
            <a:off x="1863725" y="2444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AutoShape 5" descr="i=1,2,\dots ,k"/>
          <p:cNvSpPr>
            <a:spLocks noChangeAspect="1" noChangeArrowheads="1"/>
          </p:cNvSpPr>
          <p:nvPr/>
        </p:nvSpPr>
        <p:spPr bwMode="auto">
          <a:xfrm>
            <a:off x="3535363" y="2444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" name="AutoShape 6" descr="\mu _{i}"/>
          <p:cNvSpPr>
            <a:spLocks noChangeAspect="1" noChangeArrowheads="1"/>
          </p:cNvSpPr>
          <p:nvPr/>
        </p:nvSpPr>
        <p:spPr bwMode="auto">
          <a:xfrm>
            <a:off x="3811588" y="2444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" name="AutoShape 7" descr="x"/>
          <p:cNvSpPr>
            <a:spLocks noChangeAspect="1" noChangeArrowheads="1"/>
          </p:cNvSpPr>
          <p:nvPr/>
        </p:nvSpPr>
        <p:spPr bwMode="auto">
          <a:xfrm>
            <a:off x="5762625" y="2444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" name="AutoShape 8" descr="S_{i}"/>
          <p:cNvSpPr>
            <a:spLocks noChangeAspect="1" noChangeArrowheads="1"/>
          </p:cNvSpPr>
          <p:nvPr/>
        </p:nvSpPr>
        <p:spPr bwMode="auto">
          <a:xfrm>
            <a:off x="6630988" y="2444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153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0535" y="1628800"/>
            <a:ext cx="3954938" cy="1412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75196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Алгоритмы </a:t>
            </a:r>
            <a:r>
              <a:rPr lang="en-US" b="1" i="1" dirty="0" smtClean="0"/>
              <a:t>k</a:t>
            </a:r>
            <a:r>
              <a:rPr lang="en-US" b="1" dirty="0" smtClean="0"/>
              <a:t>-means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51520" y="1443841"/>
            <a:ext cx="871296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 smtClean="0"/>
              <a:t>6</a:t>
            </a:r>
            <a:r>
              <a:rPr lang="ru-RU" sz="2800" dirty="0" smtClean="0"/>
              <a:t>. Повтор шагов 3-5 до тех пор, пока состав кластеров не перестанет изменяться</a:t>
            </a:r>
          </a:p>
        </p:txBody>
      </p:sp>
      <p:sp>
        <p:nvSpPr>
          <p:cNvPr id="5" name="AutoShape 2" descr="{\displaystyle V=\sum _{i=1}^{k}\sum _{x\in S_{i}}(x-\mu _{i})^{2}}"/>
          <p:cNvSpPr>
            <a:spLocks noChangeAspect="1" noChangeArrowheads="1"/>
          </p:cNvSpPr>
          <p:nvPr/>
        </p:nvSpPr>
        <p:spPr bwMode="auto">
          <a:xfrm>
            <a:off x="288925" y="920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3" descr="k"/>
          <p:cNvSpPr>
            <a:spLocks noChangeAspect="1" noChangeArrowheads="1"/>
          </p:cNvSpPr>
          <p:nvPr/>
        </p:nvSpPr>
        <p:spPr bwMode="auto">
          <a:xfrm>
            <a:off x="514350" y="2444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AutoShape 4" descr="S_{i}"/>
          <p:cNvSpPr>
            <a:spLocks noChangeAspect="1" noChangeArrowheads="1"/>
          </p:cNvSpPr>
          <p:nvPr/>
        </p:nvSpPr>
        <p:spPr bwMode="auto">
          <a:xfrm>
            <a:off x="1863725" y="2444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8" name="AutoShape 5" descr="i=1,2,\dots ,k"/>
          <p:cNvSpPr>
            <a:spLocks noChangeAspect="1" noChangeArrowheads="1"/>
          </p:cNvSpPr>
          <p:nvPr/>
        </p:nvSpPr>
        <p:spPr bwMode="auto">
          <a:xfrm>
            <a:off x="3535363" y="2444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" name="AutoShape 6" descr="\mu _{i}"/>
          <p:cNvSpPr>
            <a:spLocks noChangeAspect="1" noChangeArrowheads="1"/>
          </p:cNvSpPr>
          <p:nvPr/>
        </p:nvSpPr>
        <p:spPr bwMode="auto">
          <a:xfrm>
            <a:off x="3811588" y="2444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" name="AutoShape 7" descr="x"/>
          <p:cNvSpPr>
            <a:spLocks noChangeAspect="1" noChangeArrowheads="1"/>
          </p:cNvSpPr>
          <p:nvPr/>
        </p:nvSpPr>
        <p:spPr bwMode="auto">
          <a:xfrm>
            <a:off x="5762625" y="2444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" name="AutoShape 8" descr="S_{i}"/>
          <p:cNvSpPr>
            <a:spLocks noChangeAspect="1" noChangeArrowheads="1"/>
          </p:cNvSpPr>
          <p:nvPr/>
        </p:nvSpPr>
        <p:spPr bwMode="auto">
          <a:xfrm>
            <a:off x="6630988" y="2444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7243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Алгоритмы </a:t>
            </a:r>
            <a:r>
              <a:rPr lang="en-US" b="1" i="1" dirty="0" smtClean="0"/>
              <a:t>k</a:t>
            </a:r>
            <a:r>
              <a:rPr lang="en-US" b="1" dirty="0" smtClean="0"/>
              <a:t>-means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51520" y="1443841"/>
            <a:ext cx="8712968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smtClean="0"/>
              <a:t>Проблемы метода:</a:t>
            </a:r>
            <a:endParaRPr lang="ru-RU" sz="2800" b="1" dirty="0"/>
          </a:p>
          <a:p>
            <a:r>
              <a:rPr lang="ru-RU" sz="2800" dirty="0" smtClean="0"/>
              <a:t>1. Как</a:t>
            </a:r>
            <a:r>
              <a:rPr lang="ru-RU" sz="2800" dirty="0"/>
              <a:t>, выбирая центры из некоторого случайного распределения, не попасть в область пространства признаков, где нет точек </a:t>
            </a:r>
            <a:r>
              <a:rPr lang="ru-RU" sz="2800" dirty="0" smtClean="0"/>
              <a:t>выборки? </a:t>
            </a:r>
            <a:r>
              <a:rPr lang="ru-RU" sz="2800" dirty="0"/>
              <a:t>Базовое решение </a:t>
            </a:r>
            <a:r>
              <a:rPr lang="ru-RU" sz="2800" dirty="0" smtClean="0"/>
              <a:t>—выбрать </a:t>
            </a:r>
            <a:r>
              <a:rPr lang="ru-RU" sz="2800" dirty="0"/>
              <a:t>в качестве центров какие-то из </a:t>
            </a:r>
            <a:r>
              <a:rPr lang="ru-RU" sz="2800" dirty="0" smtClean="0"/>
              <a:t>объектов</a:t>
            </a:r>
            <a:endParaRPr lang="ru-RU" sz="2800" dirty="0"/>
          </a:p>
          <a:p>
            <a:endParaRPr lang="ru-RU" sz="2800" dirty="0" smtClean="0"/>
          </a:p>
          <a:p>
            <a:r>
              <a:rPr lang="ru-RU" sz="2800" dirty="0" smtClean="0"/>
              <a:t>2. Кучное </a:t>
            </a:r>
            <a:r>
              <a:rPr lang="ru-RU" sz="2800" dirty="0"/>
              <a:t>размещение центров. </a:t>
            </a:r>
            <a:r>
              <a:rPr lang="ru-RU" sz="2800" dirty="0" smtClean="0"/>
              <a:t>Тогда </a:t>
            </a:r>
            <a:r>
              <a:rPr lang="ru-RU" sz="2800" dirty="0"/>
              <a:t>их начальное положение с большой вероятностью окажется далёким от итогового положения центров кластеров</a:t>
            </a:r>
            <a:r>
              <a:rPr lang="ru-RU" sz="2800" dirty="0" smtClean="0"/>
              <a:t>. Базовое решение – нужно брать </a:t>
            </a:r>
            <a:r>
              <a:rPr lang="ru-RU" sz="2800" dirty="0"/>
              <a:t>максимально удаленные друг от друга центры</a:t>
            </a:r>
          </a:p>
        </p:txBody>
      </p:sp>
    </p:spTree>
    <p:extLst>
      <p:ext uri="{BB962C8B-B14F-4D97-AF65-F5344CB8AC3E}">
        <p14:creationId xmlns:p14="http://schemas.microsoft.com/office/powerpoint/2010/main" val="3834605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850106"/>
          </a:xfrm>
        </p:spPr>
        <p:txBody>
          <a:bodyPr>
            <a:normAutofit/>
          </a:bodyPr>
          <a:lstStyle/>
          <a:p>
            <a:r>
              <a:rPr lang="ru-RU" b="1" dirty="0" smtClean="0"/>
              <a:t>Алгоритм </a:t>
            </a:r>
            <a:r>
              <a:rPr lang="en-US" b="1" i="1" dirty="0" smtClean="0"/>
              <a:t>k</a:t>
            </a:r>
            <a:r>
              <a:rPr lang="en-US" b="1" dirty="0" smtClean="0"/>
              <a:t>-means</a:t>
            </a:r>
            <a:r>
              <a:rPr lang="ru-RU" b="1" dirty="0" smtClean="0"/>
              <a:t>++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51520" y="980728"/>
            <a:ext cx="8712968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2007 г. Улучшение </a:t>
            </a:r>
            <a:r>
              <a:rPr lang="ru-RU" sz="2800" dirty="0"/>
              <a:t>заключается в нахождении более «хороших» начальных значений </a:t>
            </a:r>
            <a:r>
              <a:rPr lang="ru-RU" sz="2800" dirty="0" smtClean="0"/>
              <a:t>центров кластеров</a:t>
            </a:r>
          </a:p>
          <a:p>
            <a:endParaRPr lang="ru-RU" sz="2800" dirty="0" smtClean="0"/>
          </a:p>
          <a:p>
            <a:r>
              <a:rPr lang="ru-RU" sz="2800" dirty="0" smtClean="0"/>
              <a:t>Изменения в этапе инициализации центров:</a:t>
            </a:r>
            <a:endParaRPr lang="ru-RU" sz="2800" dirty="0"/>
          </a:p>
          <a:p>
            <a:r>
              <a:rPr lang="ru-RU" sz="2800" dirty="0" smtClean="0"/>
              <a:t>1. Выбрать </a:t>
            </a:r>
            <a:r>
              <a:rPr lang="ru-RU" sz="2800" dirty="0"/>
              <a:t>первый </a:t>
            </a:r>
            <a:r>
              <a:rPr lang="ru-RU" sz="2800" dirty="0" smtClean="0"/>
              <a:t>центр </a:t>
            </a:r>
            <a:r>
              <a:rPr lang="ru-RU" sz="2800" dirty="0"/>
              <a:t>случайным образом (среди </a:t>
            </a:r>
            <a:r>
              <a:rPr lang="ru-RU" sz="2800" dirty="0" smtClean="0"/>
              <a:t>объектов кластеризации!!!)</a:t>
            </a:r>
            <a:endParaRPr lang="ru-RU" sz="2800" dirty="0"/>
          </a:p>
          <a:p>
            <a:r>
              <a:rPr lang="ru-RU" sz="2800" dirty="0" smtClean="0"/>
              <a:t>2. Для каждого объекта </a:t>
            </a:r>
            <a:r>
              <a:rPr lang="ru-RU" sz="2800" dirty="0"/>
              <a:t>найти значение квадрата расстояния до ближайшего </a:t>
            </a:r>
            <a:r>
              <a:rPr lang="ru-RU" sz="2800" dirty="0" smtClean="0"/>
              <a:t>центра </a:t>
            </a:r>
            <a:r>
              <a:rPr lang="ru-RU" sz="2800" b="1" i="1" dirty="0" smtClean="0"/>
              <a:t>dx</a:t>
            </a:r>
            <a:r>
              <a:rPr lang="ru-RU" sz="2800" b="1" dirty="0" smtClean="0"/>
              <a:t>²</a:t>
            </a:r>
            <a:endParaRPr lang="ru-RU" sz="2800" b="1" dirty="0"/>
          </a:p>
          <a:p>
            <a:r>
              <a:rPr lang="ru-RU" sz="2800" dirty="0" smtClean="0"/>
              <a:t>3. Выбрать следующий центр </a:t>
            </a:r>
            <a:r>
              <a:rPr lang="ru-RU" sz="2800" dirty="0"/>
              <a:t>так, чтобы вероятность выбора </a:t>
            </a:r>
            <a:r>
              <a:rPr lang="ru-RU" sz="2800" dirty="0" smtClean="0"/>
              <a:t>объекта </a:t>
            </a:r>
            <a:r>
              <a:rPr lang="ru-RU" sz="2800" dirty="0"/>
              <a:t>была пропорциональна вычисленному для неё квадрату </a:t>
            </a:r>
            <a:r>
              <a:rPr lang="ru-RU" sz="2800" dirty="0" smtClean="0"/>
              <a:t>расстояния </a:t>
            </a:r>
            <a:r>
              <a:rPr lang="ru-RU" sz="2800" b="1" i="1" dirty="0"/>
              <a:t>dx</a:t>
            </a:r>
            <a:r>
              <a:rPr lang="ru-RU" sz="2800" b="1" dirty="0"/>
              <a:t>²</a:t>
            </a:r>
            <a:r>
              <a:rPr lang="ru-RU" sz="2800" dirty="0"/>
              <a:t/>
            </a:r>
            <a:br>
              <a:rPr lang="ru-RU" sz="2800" dirty="0"/>
            </a:br>
            <a:r>
              <a:rPr lang="ru-RU" sz="2800" dirty="0" smtClean="0"/>
              <a:t>4. Повторять </a:t>
            </a:r>
            <a:r>
              <a:rPr lang="ru-RU" sz="2800" dirty="0"/>
              <a:t>шаги 2 и 3 до тех пор, пока не будут найдены все необходимые </a:t>
            </a:r>
            <a:r>
              <a:rPr lang="ru-RU" sz="2800" dirty="0" smtClean="0"/>
              <a:t>центры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231387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850106"/>
          </a:xfrm>
        </p:spPr>
        <p:txBody>
          <a:bodyPr>
            <a:normAutofit/>
          </a:bodyPr>
          <a:lstStyle/>
          <a:p>
            <a:r>
              <a:rPr lang="ru-RU" b="1" dirty="0" smtClean="0"/>
              <a:t>Алгоритм </a:t>
            </a:r>
            <a:r>
              <a:rPr lang="en-US" b="1" i="1" dirty="0" smtClean="0"/>
              <a:t>k</a:t>
            </a:r>
            <a:r>
              <a:rPr lang="en-US" b="1" dirty="0" smtClean="0"/>
              <a:t>-means</a:t>
            </a:r>
            <a:r>
              <a:rPr lang="ru-RU" b="1" dirty="0" smtClean="0"/>
              <a:t>++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51520" y="980137"/>
            <a:ext cx="8712968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err="1" smtClean="0"/>
              <a:t>Лайфхак</a:t>
            </a:r>
            <a:r>
              <a:rPr lang="ru-RU" sz="2800" dirty="0" smtClean="0"/>
              <a:t> для шага 3:</a:t>
            </a:r>
          </a:p>
          <a:p>
            <a:pPr marL="514350" indent="-514350">
              <a:buAutoNum type="arabicParenR"/>
            </a:pPr>
            <a:r>
              <a:rPr lang="ru-RU" sz="2800" dirty="0" smtClean="0"/>
              <a:t>На </a:t>
            </a:r>
            <a:r>
              <a:rPr lang="ru-RU" sz="2800" dirty="0"/>
              <a:t>шаге 2 нужно параллельно с расчётом </a:t>
            </a:r>
            <a:r>
              <a:rPr lang="ru-RU" sz="2800" b="1" i="1" dirty="0"/>
              <a:t>dx</a:t>
            </a:r>
            <a:r>
              <a:rPr lang="ru-RU" sz="2800" b="1" dirty="0"/>
              <a:t>²</a:t>
            </a:r>
            <a:r>
              <a:rPr lang="ru-RU" sz="2800" dirty="0"/>
              <a:t> подсчитывать сумму </a:t>
            </a:r>
            <a:r>
              <a:rPr lang="ru-RU" sz="2800" b="1" i="1" dirty="0" err="1" smtClean="0"/>
              <a:t>Sum</a:t>
            </a:r>
            <a:r>
              <a:rPr lang="ru-RU" sz="2800" dirty="0" smtClean="0"/>
              <a:t>(</a:t>
            </a:r>
            <a:r>
              <a:rPr lang="ru-RU" sz="2800" b="1" i="1" dirty="0"/>
              <a:t>dx</a:t>
            </a:r>
            <a:r>
              <a:rPr lang="ru-RU" sz="2800" b="1" dirty="0"/>
              <a:t>²</a:t>
            </a:r>
            <a:r>
              <a:rPr lang="ru-RU" sz="2800" dirty="0" smtClean="0"/>
              <a:t>) </a:t>
            </a:r>
          </a:p>
          <a:p>
            <a:pPr marL="514350" indent="-514350">
              <a:buAutoNum type="arabicParenR"/>
            </a:pPr>
            <a:r>
              <a:rPr lang="ru-RU" sz="2800" dirty="0" smtClean="0"/>
              <a:t>После </a:t>
            </a:r>
            <a:r>
              <a:rPr lang="ru-RU" sz="2800" dirty="0"/>
              <a:t>накопления суммы найти </a:t>
            </a:r>
            <a:r>
              <a:rPr lang="ru-RU" sz="2800" dirty="0" smtClean="0"/>
              <a:t>значение</a:t>
            </a:r>
            <a:br>
              <a:rPr lang="ru-RU" sz="2800" dirty="0" smtClean="0"/>
            </a:br>
            <a:r>
              <a:rPr lang="ru-RU" sz="2800" b="1" i="1" dirty="0" err="1" smtClean="0"/>
              <a:t>Rnd</a:t>
            </a:r>
            <a:r>
              <a:rPr lang="ru-RU" sz="2800" b="1" i="1" dirty="0" smtClean="0"/>
              <a:t> </a:t>
            </a:r>
            <a:r>
              <a:rPr lang="ru-RU" sz="2800" dirty="0" smtClean="0"/>
              <a:t>= </a:t>
            </a:r>
            <a:r>
              <a:rPr lang="ru-RU" sz="2800" b="1" dirty="0" err="1" smtClean="0"/>
              <a:t>random</a:t>
            </a:r>
            <a:r>
              <a:rPr lang="ru-RU" sz="2800" dirty="0" smtClean="0"/>
              <a:t>(</a:t>
            </a:r>
            <a:r>
              <a:rPr lang="ru-RU" sz="2800" b="1" dirty="0" smtClean="0"/>
              <a:t>0.0</a:t>
            </a:r>
            <a:r>
              <a:rPr lang="ru-RU" sz="2800" dirty="0" smtClean="0"/>
              <a:t>,</a:t>
            </a:r>
            <a:r>
              <a:rPr lang="ru-RU" sz="2800" b="1" dirty="0" smtClean="0"/>
              <a:t>1.0</a:t>
            </a:r>
            <a:r>
              <a:rPr lang="ru-RU" sz="2800" dirty="0" smtClean="0"/>
              <a:t>) х </a:t>
            </a:r>
            <a:r>
              <a:rPr lang="ru-RU" sz="2800" b="1" i="1" dirty="0" err="1" smtClean="0"/>
              <a:t>Sum</a:t>
            </a:r>
            <a:r>
              <a:rPr lang="ru-RU" sz="2800" dirty="0"/>
              <a:t>(</a:t>
            </a:r>
            <a:r>
              <a:rPr lang="ru-RU" sz="2800" b="1" i="1" dirty="0"/>
              <a:t>dx</a:t>
            </a:r>
            <a:r>
              <a:rPr lang="ru-RU" sz="2800" b="1" dirty="0"/>
              <a:t>²</a:t>
            </a:r>
            <a:r>
              <a:rPr lang="ru-RU" sz="2800" dirty="0"/>
              <a:t>)</a:t>
            </a:r>
            <a:r>
              <a:rPr lang="ru-RU" sz="2800" dirty="0" smtClean="0"/>
              <a:t> </a:t>
            </a:r>
          </a:p>
          <a:p>
            <a:pPr marL="514350" indent="-514350">
              <a:buAutoNum type="arabicParenR"/>
            </a:pPr>
            <a:r>
              <a:rPr lang="ru-RU" sz="2800" dirty="0" smtClean="0"/>
              <a:t>Значение </a:t>
            </a:r>
            <a:r>
              <a:rPr lang="ru-RU" sz="2800" b="1" i="1" dirty="0" err="1" smtClean="0"/>
              <a:t>Rnd</a:t>
            </a:r>
            <a:r>
              <a:rPr lang="ru-RU" sz="2800" dirty="0" smtClean="0"/>
              <a:t> </a:t>
            </a:r>
            <a:r>
              <a:rPr lang="ru-RU" sz="2800" dirty="0"/>
              <a:t>случайным образом укажет на число из интервала [</a:t>
            </a:r>
            <a:r>
              <a:rPr lang="ru-RU" sz="2800" b="1" dirty="0"/>
              <a:t>0</a:t>
            </a:r>
            <a:r>
              <a:rPr lang="ru-RU" sz="2800" dirty="0"/>
              <a:t>; </a:t>
            </a:r>
            <a:r>
              <a:rPr lang="ru-RU" sz="2800" b="1" i="1" dirty="0" err="1"/>
              <a:t>Sum</a:t>
            </a:r>
            <a:r>
              <a:rPr lang="ru-RU" sz="2800" dirty="0"/>
              <a:t>(</a:t>
            </a:r>
            <a:r>
              <a:rPr lang="ru-RU" sz="2800" b="1" i="1" dirty="0"/>
              <a:t>dx</a:t>
            </a:r>
            <a:r>
              <a:rPr lang="ru-RU" sz="2800" b="1" dirty="0"/>
              <a:t>²</a:t>
            </a:r>
            <a:r>
              <a:rPr lang="ru-RU" sz="2800" dirty="0"/>
              <a:t>)</a:t>
            </a:r>
            <a:r>
              <a:rPr lang="ru-RU" sz="2800" dirty="0" smtClean="0"/>
              <a:t>)</a:t>
            </a:r>
          </a:p>
          <a:p>
            <a:pPr marL="514350" indent="-514350">
              <a:buAutoNum type="arabicParenR"/>
            </a:pPr>
            <a:r>
              <a:rPr lang="ru-RU" sz="2800" dirty="0" smtClean="0"/>
              <a:t>Снова начать подсчитывать </a:t>
            </a:r>
            <a:r>
              <a:rPr lang="ru-RU" sz="2800" dirty="0"/>
              <a:t>сумму </a:t>
            </a:r>
            <a:r>
              <a:rPr lang="ru-RU" sz="2800" b="1" i="1" dirty="0" err="1"/>
              <a:t>Sum</a:t>
            </a:r>
            <a:r>
              <a:rPr lang="ru-RU" sz="2800" dirty="0"/>
              <a:t>(</a:t>
            </a:r>
            <a:r>
              <a:rPr lang="ru-RU" sz="2800" b="1" i="1" dirty="0"/>
              <a:t>dx</a:t>
            </a:r>
            <a:r>
              <a:rPr lang="ru-RU" sz="2800" b="1" dirty="0"/>
              <a:t>²</a:t>
            </a:r>
            <a:r>
              <a:rPr lang="ru-RU" sz="2800" dirty="0"/>
              <a:t>)</a:t>
            </a:r>
            <a:r>
              <a:rPr lang="ru-RU" sz="2800" dirty="0" smtClean="0"/>
              <a:t> </a:t>
            </a:r>
            <a:r>
              <a:rPr lang="ru-RU" sz="2800" dirty="0"/>
              <a:t>до тех пор, пока </a:t>
            </a:r>
            <a:r>
              <a:rPr lang="ru-RU" sz="2800" dirty="0" smtClean="0"/>
              <a:t>она </a:t>
            </a:r>
            <a:r>
              <a:rPr lang="ru-RU" sz="2800" dirty="0"/>
              <a:t>не превысит </a:t>
            </a:r>
            <a:r>
              <a:rPr lang="ru-RU" sz="2800" b="1" i="1" dirty="0" err="1"/>
              <a:t>Rnd</a:t>
            </a:r>
            <a:r>
              <a:rPr lang="ru-RU" sz="2800" dirty="0"/>
              <a:t>. </a:t>
            </a:r>
            <a:r>
              <a:rPr lang="ru-RU" sz="2800" dirty="0" smtClean="0"/>
              <a:t>Тогда можно </a:t>
            </a:r>
            <a:r>
              <a:rPr lang="ru-RU" sz="2800" dirty="0"/>
              <a:t>взять </a:t>
            </a:r>
            <a:r>
              <a:rPr lang="ru-RU" sz="2800" dirty="0" smtClean="0"/>
              <a:t>текущий объект </a:t>
            </a:r>
            <a:r>
              <a:rPr lang="ru-RU" sz="2800" dirty="0"/>
              <a:t>в качестве </a:t>
            </a:r>
            <a:r>
              <a:rPr lang="ru-RU" sz="2800" dirty="0" smtClean="0"/>
              <a:t>центра.</a:t>
            </a:r>
          </a:p>
          <a:p>
            <a:pPr marL="514350" indent="-514350">
              <a:buAutoNum type="arabicParenR"/>
            </a:pPr>
            <a:r>
              <a:rPr lang="ru-RU" sz="2800" dirty="0" smtClean="0"/>
              <a:t>Повторить шаги 2), 3), 4) </a:t>
            </a:r>
            <a:r>
              <a:rPr lang="en-US" sz="2800" b="1" i="1" dirty="0" smtClean="0"/>
              <a:t>k</a:t>
            </a:r>
            <a:r>
              <a:rPr lang="ru-RU" sz="2800" b="1" dirty="0" smtClean="0"/>
              <a:t>-1</a:t>
            </a:r>
            <a:r>
              <a:rPr lang="en-US" sz="2800" dirty="0" smtClean="0"/>
              <a:t> </a:t>
            </a:r>
            <a:r>
              <a:rPr lang="ru-RU" sz="2800" dirty="0" smtClean="0"/>
              <a:t>раз. При этом вероятность </a:t>
            </a:r>
            <a:r>
              <a:rPr lang="ru-RU" sz="2800" dirty="0"/>
              <a:t>повторного выбора </a:t>
            </a:r>
            <a:r>
              <a:rPr lang="ru-RU" sz="2800" dirty="0" smtClean="0"/>
              <a:t>некоторого объекта в качестве центра </a:t>
            </a:r>
            <a:r>
              <a:rPr lang="ru-RU" sz="2800" dirty="0"/>
              <a:t>равна </a:t>
            </a:r>
            <a:r>
              <a:rPr lang="ru-RU" sz="2800" b="1" dirty="0"/>
              <a:t>0</a:t>
            </a:r>
            <a:r>
              <a:rPr lang="ru-RU" sz="2800" dirty="0" smtClean="0"/>
              <a:t>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838026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850106"/>
          </a:xfrm>
        </p:spPr>
        <p:txBody>
          <a:bodyPr>
            <a:normAutofit/>
          </a:bodyPr>
          <a:lstStyle/>
          <a:p>
            <a:r>
              <a:rPr lang="ru-RU" b="1" dirty="0" smtClean="0"/>
              <a:t>Алгоритм </a:t>
            </a:r>
            <a:r>
              <a:rPr lang="en-US" b="1" i="1" dirty="0" smtClean="0"/>
              <a:t>k</a:t>
            </a:r>
            <a:r>
              <a:rPr lang="en-US" b="1" dirty="0" smtClean="0"/>
              <a:t>-means</a:t>
            </a:r>
            <a:r>
              <a:rPr lang="ru-RU" b="1" dirty="0" smtClean="0"/>
              <a:t>++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51520" y="980137"/>
            <a:ext cx="871296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После нахождения всех </a:t>
            </a:r>
            <a:r>
              <a:rPr lang="en-US" sz="2800" b="1" i="1" dirty="0" smtClean="0"/>
              <a:t>k</a:t>
            </a:r>
            <a:r>
              <a:rPr lang="en-US" sz="2800" dirty="0" smtClean="0"/>
              <a:t> </a:t>
            </a:r>
            <a:r>
              <a:rPr lang="ru-RU" sz="2800" dirty="0" smtClean="0"/>
              <a:t>центров кластеров выполняется стандартный алгоритм </a:t>
            </a:r>
            <a:r>
              <a:rPr lang="en-US" sz="2800" b="1" i="1" dirty="0"/>
              <a:t>k</a:t>
            </a:r>
            <a:r>
              <a:rPr lang="en-US" sz="2800" b="1" dirty="0"/>
              <a:t>-means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490772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Литература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 smtClean="0"/>
              <a:t>Джерратино</a:t>
            </a:r>
            <a:r>
              <a:rPr lang="ru-RU" dirty="0" smtClean="0"/>
              <a:t>, Д., </a:t>
            </a:r>
            <a:r>
              <a:rPr lang="ru-RU" dirty="0" err="1" smtClean="0"/>
              <a:t>Райли</a:t>
            </a:r>
            <a:r>
              <a:rPr lang="ru-RU" dirty="0" smtClean="0"/>
              <a:t> Г. Экспертные системы: принципы разработки и программирования</a:t>
            </a:r>
          </a:p>
          <a:p>
            <a:r>
              <a:rPr lang="ru-RU" dirty="0" smtClean="0"/>
              <a:t>Джексон, П. Введение в экспертные системы</a:t>
            </a:r>
            <a:endParaRPr lang="en-US" dirty="0" smtClean="0"/>
          </a:p>
          <a:p>
            <a:r>
              <a:rPr lang="ru-RU" dirty="0"/>
              <a:t>Фальк, Ким. Рекомендательные системы на практике. </a:t>
            </a:r>
            <a:r>
              <a:rPr lang="ru-RU"/>
              <a:t>М.: ДМК – </a:t>
            </a:r>
            <a:r>
              <a:rPr lang="ru-RU" smtClean="0"/>
              <a:t>2020</a:t>
            </a:r>
            <a:endParaRPr lang="ru-RU" dirty="0" smtClean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C6A66-60B7-4ADF-9805-5C9ECF54A740}" type="slidenum">
              <a:rPr lang="ru-RU" smtClean="0"/>
              <a:t>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7486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1321</Words>
  <Application>Microsoft Office PowerPoint</Application>
  <PresentationFormat>Экран (4:3)</PresentationFormat>
  <Paragraphs>432</Paragraphs>
  <Slides>52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52</vt:i4>
      </vt:variant>
    </vt:vector>
  </HeadingPairs>
  <TitlesOfParts>
    <vt:vector size="53" baseType="lpstr">
      <vt:lpstr>Тема Office</vt:lpstr>
      <vt:lpstr>Экспертные и рекомендательные информационно-аналитические системы (Раздел 1)</vt:lpstr>
      <vt:lpstr>Экспертные системы</vt:lpstr>
      <vt:lpstr>Рекомендательные системы</vt:lpstr>
      <vt:lpstr>Информационно-аналитические системы</vt:lpstr>
      <vt:lpstr>Что общего с ИАС?</vt:lpstr>
      <vt:lpstr>Системы, основанные на знаниях</vt:lpstr>
      <vt:lpstr>Автоматическая классификация</vt:lpstr>
      <vt:lpstr>Гипотеза компактности</vt:lpstr>
      <vt:lpstr>Гипотеза компактности</vt:lpstr>
      <vt:lpstr>Методы классификации</vt:lpstr>
      <vt:lpstr>Методы классификации</vt:lpstr>
      <vt:lpstr>Кластерный анализ</vt:lpstr>
      <vt:lpstr>Кластерный анализ</vt:lpstr>
      <vt:lpstr>Комбинационные группировки</vt:lpstr>
      <vt:lpstr>Кластерный анализ. Задачи</vt:lpstr>
      <vt:lpstr>Типы шкал</vt:lpstr>
      <vt:lpstr>Мера расстояния</vt:lpstr>
      <vt:lpstr>Мера расстояния</vt:lpstr>
      <vt:lpstr>Мера расстояния</vt:lpstr>
      <vt:lpstr>Мера расстояния</vt:lpstr>
      <vt:lpstr>Метод ближайшего соседа или метод одиночной связи</vt:lpstr>
      <vt:lpstr>Метод ближайшего соседа или метод одиночной связи</vt:lpstr>
      <vt:lpstr>Метод наиболее удаленных соседей или метод полной связи</vt:lpstr>
      <vt:lpstr>Метод наиболее удаленных соседей или метод полной связи</vt:lpstr>
      <vt:lpstr>Метод невзвешенного попарного среднего - UPGMA</vt:lpstr>
      <vt:lpstr>Метод невзвешенного попарного среднего - UPGMA</vt:lpstr>
      <vt:lpstr>Метод невзвешенного попарного среднего - UPGMA</vt:lpstr>
      <vt:lpstr>Метод взвешенного попарного среднего - WPGMA</vt:lpstr>
      <vt:lpstr>Алгоритмы Форель (FOREL) и Форель 2 (FOREL2)</vt:lpstr>
      <vt:lpstr>Алгоритмы Форель (FOREL) и Форель 2 (FOREL2)</vt:lpstr>
      <vt:lpstr>Алгоритмы Форель (FOREL) и Форель 2 (FOREL2)</vt:lpstr>
      <vt:lpstr>Алгоритмы Форель (FOREL) и Форель 2 (FOREL2)</vt:lpstr>
      <vt:lpstr>Алгоритмы Форель (FOREL) и Форель 2 (FOREL2)</vt:lpstr>
      <vt:lpstr>Алгоритмы Форель (FOREL) и Форель 2 (FOREL2)</vt:lpstr>
      <vt:lpstr>Алгоритмы Форель (FOREL) и Форель 2 (FOREL2)</vt:lpstr>
      <vt:lpstr>Алгоритмы Форель (FOREL) и Форель 2 (FOREL2)</vt:lpstr>
      <vt:lpstr>Алгоритмы Форель (FOREL) и Форель 2 (FOREL2)</vt:lpstr>
      <vt:lpstr>Алгоритмы Форель (FOREL) и Форель 2 (FOREL2)</vt:lpstr>
      <vt:lpstr>Алгоритмы k-means</vt:lpstr>
      <vt:lpstr>Алгоритмы k-means</vt:lpstr>
      <vt:lpstr>Алгоритмы k-means</vt:lpstr>
      <vt:lpstr>Алгоритмы k-means</vt:lpstr>
      <vt:lpstr>Алгоритмы k-means</vt:lpstr>
      <vt:lpstr>Алгоритмы k-means</vt:lpstr>
      <vt:lpstr>Алгоритмы k-means</vt:lpstr>
      <vt:lpstr>Алгоритмы k-means</vt:lpstr>
      <vt:lpstr>Алгоритмы k-means</vt:lpstr>
      <vt:lpstr>Алгоритмы k-means</vt:lpstr>
      <vt:lpstr>Алгоритм k-means++</vt:lpstr>
      <vt:lpstr>Алгоритм k-means++</vt:lpstr>
      <vt:lpstr>Алгоритм k-means++</vt:lpstr>
      <vt:lpstr>Литература</vt:lpstr>
    </vt:vector>
  </TitlesOfParts>
  <Company>ИСА РАН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Экспертные и рекомендательные информационно-аналитические системы</dc:title>
  <dc:creator>Alexander V. Soloviev</dc:creator>
  <cp:lastModifiedBy>Alexander V. Soloviev</cp:lastModifiedBy>
  <cp:revision>64</cp:revision>
  <dcterms:created xsi:type="dcterms:W3CDTF">2022-09-09T08:12:53Z</dcterms:created>
  <dcterms:modified xsi:type="dcterms:W3CDTF">2023-09-27T14:21:58Z</dcterms:modified>
</cp:coreProperties>
</file>