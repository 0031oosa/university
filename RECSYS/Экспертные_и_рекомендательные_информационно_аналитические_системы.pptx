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98" r:id="rId4"/>
    <p:sldId id="300" r:id="rId5"/>
    <p:sldId id="299" r:id="rId6"/>
    <p:sldId id="302" r:id="rId7"/>
    <p:sldId id="303" r:id="rId8"/>
    <p:sldId id="380" r:id="rId9"/>
    <p:sldId id="379" r:id="rId10"/>
    <p:sldId id="381" r:id="rId11"/>
    <p:sldId id="382" r:id="rId12"/>
    <p:sldId id="384" r:id="rId13"/>
    <p:sldId id="383" r:id="rId14"/>
    <p:sldId id="400" r:id="rId15"/>
    <p:sldId id="405" r:id="rId16"/>
    <p:sldId id="403" r:id="rId17"/>
    <p:sldId id="401" r:id="rId18"/>
    <p:sldId id="402" r:id="rId19"/>
    <p:sldId id="399" r:id="rId20"/>
    <p:sldId id="385" r:id="rId21"/>
    <p:sldId id="386" r:id="rId22"/>
    <p:sldId id="387" r:id="rId23"/>
    <p:sldId id="388" r:id="rId24"/>
    <p:sldId id="404" r:id="rId25"/>
    <p:sldId id="406" r:id="rId26"/>
    <p:sldId id="407" r:id="rId27"/>
    <p:sldId id="408" r:id="rId28"/>
    <p:sldId id="409" r:id="rId29"/>
    <p:sldId id="410" r:id="rId30"/>
    <p:sldId id="411" r:id="rId31"/>
    <p:sldId id="412" r:id="rId32"/>
    <p:sldId id="413" r:id="rId33"/>
    <p:sldId id="414" r:id="rId34"/>
    <p:sldId id="415" r:id="rId35"/>
    <p:sldId id="416" r:id="rId36"/>
    <p:sldId id="419" r:id="rId37"/>
    <p:sldId id="417" r:id="rId38"/>
    <p:sldId id="260" r:id="rId3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098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1D202E-6756-4D62-A30B-5C8AC988AC0E}" type="datetimeFigureOut">
              <a:rPr lang="ru-RU" smtClean="0"/>
              <a:t>07.11.2023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FDDD27-F7E6-492A-A0EE-ADFFC749A3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5118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5314D-F3D3-461F-85A1-283661C4C455}" type="datetime1">
              <a:rPr lang="ru-RU" smtClean="0"/>
              <a:t>07.11.2023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3164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ABD67-6DD8-4611-8E38-45CEDF8BA3D5}" type="datetime1">
              <a:rPr lang="ru-RU" smtClean="0"/>
              <a:t>07.11.2023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4229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170F1-5F1E-4B38-AEC9-573264B1A05E}" type="datetime1">
              <a:rPr lang="ru-RU" smtClean="0"/>
              <a:t>07.11.2023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9002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13A20-2D7F-4B9E-9135-B78B9AF4BF14}" type="datetime1">
              <a:rPr lang="ru-RU" smtClean="0"/>
              <a:t>07.11.2023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0648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68C79-B0A5-4795-9D0F-FB1E8914ADC0}" type="datetime1">
              <a:rPr lang="ru-RU" smtClean="0"/>
              <a:t>07.11.2023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1479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EE470-D0DF-46D1-A8B8-212B3F2147E3}" type="datetime1">
              <a:rPr lang="ru-RU" smtClean="0"/>
              <a:t>07.11.2023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3531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EDAC5-C53E-4019-99BF-3703D3BA6FC5}" type="datetime1">
              <a:rPr lang="ru-RU" smtClean="0"/>
              <a:t>07.11.2023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9391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09B-54DB-43CF-8A79-7AF83BAEAAD7}" type="datetime1">
              <a:rPr lang="ru-RU" smtClean="0"/>
              <a:t>07.11.2023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6530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ADCAB-10CD-4CC5-942F-D0496CCEAE26}" type="datetime1">
              <a:rPr lang="ru-RU" smtClean="0"/>
              <a:t>07.11.2023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5376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91204-4B6F-4E82-9ACB-5EF9BD355208}" type="datetime1">
              <a:rPr lang="ru-RU" smtClean="0"/>
              <a:t>07.11.2023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3697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2DCE2-3848-4026-B150-C046361DF51B}" type="datetime1">
              <a:rPr lang="ru-RU" smtClean="0"/>
              <a:t>07.11.2023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9852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CD6747-9607-4F18-95B8-977FD01C586A}" type="datetime1">
              <a:rPr lang="ru-RU" smtClean="0"/>
              <a:t>07.11.2023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8C6A66-60B7-4ADF-9805-5C9ECF54A7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1409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169317"/>
            <a:ext cx="7772400" cy="2907755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Экспертные и рекомендательные информационно-аналитические системы</a:t>
            </a:r>
            <a:br>
              <a:rPr lang="ru-RU" b="1" dirty="0" smtClean="0"/>
            </a:br>
            <a:r>
              <a:rPr lang="ru-RU" b="1" dirty="0" smtClean="0"/>
              <a:t>(</a:t>
            </a:r>
            <a:r>
              <a:rPr lang="ru-RU" dirty="0" smtClean="0"/>
              <a:t>Раздел </a:t>
            </a:r>
            <a:r>
              <a:rPr lang="en-US" dirty="0"/>
              <a:t>2</a:t>
            </a:r>
            <a:r>
              <a:rPr lang="ru-RU" b="1" smtClean="0"/>
              <a:t>)</a:t>
            </a:r>
            <a:endParaRPr lang="ru-RU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4534272"/>
            <a:ext cx="6400800" cy="1415008"/>
          </a:xfrm>
        </p:spPr>
        <p:txBody>
          <a:bodyPr/>
          <a:lstStyle/>
          <a:p>
            <a:r>
              <a:rPr lang="ru-RU" dirty="0" smtClean="0"/>
              <a:t>Соловьев А.В.</a:t>
            </a:r>
          </a:p>
          <a:p>
            <a:r>
              <a:rPr lang="ru-RU" dirty="0" smtClean="0"/>
              <a:t>НИТУ </a:t>
            </a:r>
            <a:r>
              <a:rPr lang="ru-RU" dirty="0" err="1" smtClean="0"/>
              <a:t>МИСиС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1884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Рекомендательные системы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/>
          </a:bodyPr>
          <a:lstStyle/>
          <a:p>
            <a:r>
              <a:rPr lang="ru-RU" b="1" i="1" dirty="0"/>
              <a:t>Рекомендательная система</a:t>
            </a:r>
            <a:r>
              <a:rPr lang="ru-RU" dirty="0"/>
              <a:t> (</a:t>
            </a:r>
            <a:r>
              <a:rPr lang="ru-RU" dirty="0" err="1"/>
              <a:t>recommender</a:t>
            </a:r>
            <a:r>
              <a:rPr lang="ru-RU" dirty="0"/>
              <a:t> </a:t>
            </a:r>
            <a:r>
              <a:rPr lang="ru-RU" dirty="0" err="1"/>
              <a:t>system</a:t>
            </a:r>
            <a:r>
              <a:rPr lang="ru-RU" dirty="0"/>
              <a:t>) – это информационная система целью которой является максимально точный прогноз предпочтений потребителя и предложение ему наиболее подходящих товаров или услуг</a:t>
            </a:r>
            <a:endParaRPr lang="ru-RU" dirty="0" smtClean="0"/>
          </a:p>
          <a:p>
            <a:r>
              <a:rPr lang="ru-RU" b="1" i="1" dirty="0" smtClean="0"/>
              <a:t>Рекомендательные </a:t>
            </a:r>
            <a:r>
              <a:rPr lang="ru-RU" b="1" i="1" dirty="0"/>
              <a:t>системы</a:t>
            </a:r>
            <a:r>
              <a:rPr lang="en-US" b="1" i="1" dirty="0" smtClean="0"/>
              <a:t> </a:t>
            </a:r>
            <a:r>
              <a:rPr lang="en-US" b="1" dirty="0" smtClean="0"/>
              <a:t>(</a:t>
            </a:r>
            <a:r>
              <a:rPr lang="ru-RU" b="1" dirty="0" smtClean="0"/>
              <a:t>РС)</a:t>
            </a:r>
            <a:r>
              <a:rPr lang="ru-RU" b="1" i="1" dirty="0" smtClean="0"/>
              <a:t> </a:t>
            </a:r>
            <a:r>
              <a:rPr lang="ru-RU" dirty="0" smtClean="0"/>
              <a:t>— это </a:t>
            </a:r>
            <a:r>
              <a:rPr lang="ru-RU" dirty="0"/>
              <a:t>направление исследований в области </a:t>
            </a:r>
            <a:r>
              <a:rPr lang="ru-RU" dirty="0" smtClean="0"/>
              <a:t>ИИ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3950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Что общего у ЭС и РС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/>
          </a:bodyPr>
          <a:lstStyle/>
          <a:p>
            <a:r>
              <a:rPr lang="ru-RU" dirty="0"/>
              <a:t>ЭС и РС – проводят классификацию </a:t>
            </a:r>
            <a:r>
              <a:rPr lang="ru-RU" dirty="0" smtClean="0"/>
              <a:t>объектов</a:t>
            </a:r>
            <a:endParaRPr lang="ru-RU" dirty="0"/>
          </a:p>
          <a:p>
            <a:r>
              <a:rPr lang="ru-RU" dirty="0"/>
              <a:t>ЭС и РС – анализируют данные как накопленные, так и поступающие из вне</a:t>
            </a:r>
          </a:p>
          <a:p>
            <a:r>
              <a:rPr lang="ru-RU" dirty="0"/>
              <a:t>ЭС и РС – «обучаются</a:t>
            </a:r>
            <a:r>
              <a:rPr lang="ru-RU" dirty="0" smtClean="0"/>
              <a:t>»</a:t>
            </a:r>
          </a:p>
          <a:p>
            <a:r>
              <a:rPr lang="ru-RU" dirty="0"/>
              <a:t>ЭС и РС – основаны на знаниях о предметной области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996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Рекомендательные системы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/>
              <a:t>РС крайне популярны:</a:t>
            </a:r>
          </a:p>
          <a:p>
            <a:r>
              <a:rPr lang="ru-RU" dirty="0" smtClean="0"/>
              <a:t>интернет-магазин</a:t>
            </a:r>
          </a:p>
          <a:p>
            <a:r>
              <a:rPr lang="ru-RU" dirty="0" smtClean="0"/>
              <a:t>онлайн-кинотеатр</a:t>
            </a:r>
          </a:p>
          <a:p>
            <a:r>
              <a:rPr lang="ru-RU" dirty="0" smtClean="0"/>
              <a:t>новостной </a:t>
            </a:r>
            <a:r>
              <a:rPr lang="ru-RU" dirty="0"/>
              <a:t>портал</a:t>
            </a:r>
            <a:endParaRPr lang="ru-RU" dirty="0" smtClean="0"/>
          </a:p>
          <a:p>
            <a:r>
              <a:rPr lang="ru-RU" dirty="0" smtClean="0"/>
              <a:t>поисковые системы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2562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История РС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/>
          </a:bodyPr>
          <a:lstStyle/>
          <a:p>
            <a:r>
              <a:rPr lang="ru-RU" b="1" dirty="0" err="1"/>
              <a:t>Tapestry</a:t>
            </a:r>
            <a:r>
              <a:rPr lang="ru-RU" dirty="0"/>
              <a:t> (</a:t>
            </a:r>
            <a:r>
              <a:rPr lang="ru-RU" dirty="0" err="1"/>
              <a:t>Xerox</a:t>
            </a:r>
            <a:r>
              <a:rPr lang="ru-RU" dirty="0"/>
              <a:t> </a:t>
            </a:r>
            <a:r>
              <a:rPr lang="ru-RU" dirty="0" err="1"/>
              <a:t>Palo</a:t>
            </a:r>
            <a:r>
              <a:rPr lang="ru-RU" dirty="0"/>
              <a:t> </a:t>
            </a:r>
            <a:r>
              <a:rPr lang="ru-RU" dirty="0" err="1"/>
              <a:t>Alto</a:t>
            </a:r>
            <a:r>
              <a:rPr lang="ru-RU" dirty="0"/>
              <a:t> </a:t>
            </a:r>
            <a:r>
              <a:rPr lang="ru-RU" dirty="0" err="1"/>
              <a:t>Research</a:t>
            </a:r>
            <a:r>
              <a:rPr lang="ru-RU" dirty="0"/>
              <a:t> </a:t>
            </a:r>
            <a:r>
              <a:rPr lang="ru-RU" dirty="0" err="1"/>
              <a:t>Center</a:t>
            </a:r>
            <a:r>
              <a:rPr lang="ru-RU" dirty="0"/>
              <a:t>, 1992</a:t>
            </a:r>
            <a:r>
              <a:rPr lang="ru-RU" dirty="0" smtClean="0"/>
              <a:t>)</a:t>
            </a:r>
          </a:p>
          <a:p>
            <a:r>
              <a:rPr lang="en-US" b="1" dirty="0" smtClean="0"/>
              <a:t>Amazon</a:t>
            </a:r>
            <a:r>
              <a:rPr lang="en-US" dirty="0" smtClean="0"/>
              <a:t> (1998)</a:t>
            </a:r>
          </a:p>
          <a:p>
            <a:r>
              <a:rPr lang="ru-RU" b="1" dirty="0" err="1"/>
              <a:t>Yandex</a:t>
            </a:r>
            <a:r>
              <a:rPr lang="ru-RU" dirty="0"/>
              <a:t> </a:t>
            </a:r>
            <a:r>
              <a:rPr lang="ru-RU" dirty="0" smtClean="0"/>
              <a:t>сервисы</a:t>
            </a:r>
          </a:p>
          <a:p>
            <a:r>
              <a:rPr lang="en-US" b="1" dirty="0" smtClean="0"/>
              <a:t>Netflix</a:t>
            </a:r>
            <a:r>
              <a:rPr lang="ru-RU" dirty="0" smtClean="0"/>
              <a:t> – </a:t>
            </a:r>
            <a:r>
              <a:rPr lang="ru-RU" dirty="0" err="1" smtClean="0"/>
              <a:t>стриминговый</a:t>
            </a:r>
            <a:r>
              <a:rPr lang="ru-RU" dirty="0" smtClean="0"/>
              <a:t> сервис</a:t>
            </a:r>
            <a:endParaRPr lang="en-US" b="1" dirty="0" smtClean="0"/>
          </a:p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194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>
            <a:normAutofit/>
          </a:bodyPr>
          <a:lstStyle/>
          <a:p>
            <a:r>
              <a:rPr lang="ru-RU" b="1" dirty="0" smtClean="0"/>
              <a:t>Типы РС</a:t>
            </a:r>
            <a:endParaRPr lang="ru-RU" b="1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6</a:t>
            </a:fld>
            <a:endParaRPr lang="ru-RU"/>
          </a:p>
        </p:txBody>
      </p:sp>
      <p:pic>
        <p:nvPicPr>
          <p:cNvPr id="7" name="Рисунок 6" descr="типы рекомендательных систем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268760"/>
            <a:ext cx="8352928" cy="50405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18841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РС </a:t>
            </a:r>
            <a:r>
              <a:rPr lang="ru-RU" b="1" dirty="0"/>
              <a:t>на основе популярности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ru-RU" b="1" dirty="0" smtClean="0"/>
              <a:t>Рекомендации </a:t>
            </a:r>
            <a:r>
              <a:rPr lang="ru-RU" b="1" dirty="0"/>
              <a:t>на </a:t>
            </a:r>
            <a:r>
              <a:rPr lang="ru-RU" b="1" dirty="0" smtClean="0"/>
              <a:t>основе популярности </a:t>
            </a:r>
            <a:r>
              <a:rPr lang="ru-RU" dirty="0" smtClean="0"/>
              <a:t>(</a:t>
            </a:r>
            <a:r>
              <a:rPr lang="ru-RU" dirty="0" err="1" smtClean="0"/>
              <a:t>popularity-based</a:t>
            </a:r>
            <a:r>
              <a:rPr lang="ru-RU" dirty="0" smtClean="0"/>
              <a:t> </a:t>
            </a:r>
            <a:r>
              <a:rPr lang="ru-RU" dirty="0" err="1"/>
              <a:t>recommender</a:t>
            </a:r>
            <a:r>
              <a:rPr lang="ru-RU" dirty="0"/>
              <a:t> </a:t>
            </a:r>
            <a:r>
              <a:rPr lang="ru-RU" dirty="0" err="1"/>
              <a:t>systems</a:t>
            </a:r>
            <a:r>
              <a:rPr lang="ru-RU" dirty="0" smtClean="0"/>
              <a:t>): чем </a:t>
            </a:r>
            <a:r>
              <a:rPr lang="ru-RU" dirty="0"/>
              <a:t>выше средний рейтинг </a:t>
            </a:r>
            <a:r>
              <a:rPr lang="ru-RU" dirty="0" smtClean="0"/>
              <a:t>товара (услуги), </a:t>
            </a:r>
            <a:r>
              <a:rPr lang="ru-RU" dirty="0"/>
              <a:t>тем вероятнее, что </a:t>
            </a:r>
            <a:r>
              <a:rPr lang="ru-RU" dirty="0" smtClean="0"/>
              <a:t>РС будет их рекомендовать</a:t>
            </a:r>
          </a:p>
          <a:p>
            <a:pPr marL="0" lvl="0" indent="0">
              <a:buNone/>
            </a:pPr>
            <a:endParaRPr lang="ru-RU" dirty="0"/>
          </a:p>
          <a:p>
            <a:pPr lvl="0"/>
            <a:r>
              <a:rPr lang="ru-RU" b="1" u="sng" dirty="0" smtClean="0"/>
              <a:t>Достоинства</a:t>
            </a:r>
            <a:r>
              <a:rPr lang="ru-RU" dirty="0" smtClean="0"/>
              <a:t>: простота</a:t>
            </a:r>
            <a:endParaRPr lang="ru-RU" dirty="0"/>
          </a:p>
          <a:p>
            <a:r>
              <a:rPr lang="ru-RU" b="1" u="sng" dirty="0" smtClean="0"/>
              <a:t>Недостатки</a:t>
            </a:r>
            <a:r>
              <a:rPr lang="ru-RU" dirty="0" smtClean="0"/>
              <a:t>: </a:t>
            </a:r>
            <a:r>
              <a:rPr lang="ru-RU" dirty="0"/>
              <a:t>не учитываются предпочтения конкретного пользователя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9164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РС </a:t>
            </a:r>
            <a:r>
              <a:rPr lang="ru-RU" b="1" dirty="0"/>
              <a:t>на основе </a:t>
            </a:r>
            <a:r>
              <a:rPr lang="ru-RU" b="1" dirty="0" smtClean="0"/>
              <a:t>содержания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 fontScale="92500"/>
          </a:bodyPr>
          <a:lstStyle/>
          <a:p>
            <a:pPr marL="0" lvl="0" indent="0">
              <a:buNone/>
            </a:pPr>
            <a:r>
              <a:rPr lang="ru-RU" b="1" dirty="0" smtClean="0"/>
              <a:t>Фильтрация рекомендаций </a:t>
            </a:r>
            <a:r>
              <a:rPr lang="ru-RU" b="1" dirty="0"/>
              <a:t>на основе содержания</a:t>
            </a:r>
            <a:r>
              <a:rPr lang="ru-RU" dirty="0"/>
              <a:t> (</a:t>
            </a:r>
            <a:r>
              <a:rPr lang="ru-RU" dirty="0" err="1"/>
              <a:t>content-based</a:t>
            </a:r>
            <a:r>
              <a:rPr lang="ru-RU" dirty="0"/>
              <a:t> </a:t>
            </a:r>
            <a:r>
              <a:rPr lang="ru-RU" dirty="0" err="1" smtClean="0"/>
              <a:t>filtering</a:t>
            </a:r>
            <a:r>
              <a:rPr lang="ru-RU" dirty="0" smtClean="0"/>
              <a:t>): РС </a:t>
            </a:r>
            <a:r>
              <a:rPr lang="ru-RU" dirty="0"/>
              <a:t>рекомендует товары </a:t>
            </a:r>
            <a:r>
              <a:rPr lang="ru-RU" dirty="0" smtClean="0"/>
              <a:t>(услуги), </a:t>
            </a:r>
            <a:r>
              <a:rPr lang="ru-RU" dirty="0"/>
              <a:t>схожие с теми, которые пользователь приобретал ранее</a:t>
            </a:r>
            <a:endParaRPr lang="ru-RU" dirty="0" smtClean="0"/>
          </a:p>
          <a:p>
            <a:pPr lvl="0"/>
            <a:r>
              <a:rPr lang="ru-RU" b="1" u="sng" dirty="0" smtClean="0"/>
              <a:t>Достоинства</a:t>
            </a:r>
            <a:r>
              <a:rPr lang="ru-RU" dirty="0" smtClean="0"/>
              <a:t>: простота</a:t>
            </a:r>
            <a:endParaRPr lang="ru-RU" dirty="0"/>
          </a:p>
          <a:p>
            <a:r>
              <a:rPr lang="ru-RU" b="1" u="sng" dirty="0" smtClean="0"/>
              <a:t>Недостатки</a:t>
            </a:r>
            <a:r>
              <a:rPr lang="ru-RU" dirty="0" smtClean="0"/>
              <a:t>: </a:t>
            </a:r>
          </a:p>
          <a:p>
            <a:pPr lvl="1"/>
            <a:r>
              <a:rPr lang="ru-RU" dirty="0" smtClean="0"/>
              <a:t>покупатели </a:t>
            </a:r>
            <a:r>
              <a:rPr lang="ru-RU" dirty="0"/>
              <a:t>не пробуют новые </a:t>
            </a:r>
            <a:r>
              <a:rPr lang="ru-RU" dirty="0" smtClean="0"/>
              <a:t>виды товаров (услуг)</a:t>
            </a:r>
          </a:p>
          <a:p>
            <a:pPr lvl="1"/>
            <a:r>
              <a:rPr lang="ru-RU" dirty="0"/>
              <a:t>необходимо построить большую </a:t>
            </a:r>
            <a:r>
              <a:rPr lang="ru-RU" dirty="0" smtClean="0"/>
              <a:t>БД </a:t>
            </a:r>
            <a:r>
              <a:rPr lang="ru-RU" dirty="0"/>
              <a:t>с </a:t>
            </a:r>
            <a:r>
              <a:rPr lang="ru-RU" dirty="0" smtClean="0"/>
              <a:t>метриками предпочтений по всем товарам (услугам)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5261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РС </a:t>
            </a:r>
            <a:r>
              <a:rPr lang="ru-RU" b="1" dirty="0"/>
              <a:t>на основе </a:t>
            </a:r>
            <a:r>
              <a:rPr lang="ru-RU" b="1" dirty="0" smtClean="0"/>
              <a:t>содержания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ru-RU" b="1" dirty="0" smtClean="0"/>
              <a:t>Проблемы сбора данных о пользователе:</a:t>
            </a:r>
            <a:endParaRPr lang="ru-RU" dirty="0" smtClean="0"/>
          </a:p>
          <a:p>
            <a:pPr lvl="0"/>
            <a:r>
              <a:rPr lang="ru-RU" dirty="0"/>
              <a:t>сбор данных исключительно в рамках, в которых работает </a:t>
            </a:r>
            <a:r>
              <a:rPr lang="ru-RU" dirty="0" smtClean="0"/>
              <a:t>РС (например, РС интернет-магазина: оценка товар пользователем, списки просмотренных товаров, анализ времени просмотра тех или иных товаров)</a:t>
            </a:r>
          </a:p>
          <a:p>
            <a:pPr marL="0" lvl="0" indent="0">
              <a:buNone/>
            </a:pPr>
            <a:r>
              <a:rPr lang="ru-RU" b="1" u="sng" dirty="0" smtClean="0"/>
              <a:t>Достоинство</a:t>
            </a:r>
            <a:r>
              <a:rPr lang="ru-RU" dirty="0" smtClean="0"/>
              <a:t>:</a:t>
            </a:r>
          </a:p>
          <a:p>
            <a:pPr lvl="0"/>
            <a:r>
              <a:rPr lang="ru-RU" dirty="0" smtClean="0"/>
              <a:t>сбор данных не выходит за пределы РС</a:t>
            </a:r>
            <a:endParaRPr lang="ru-RU" dirty="0"/>
          </a:p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841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РС </a:t>
            </a:r>
            <a:r>
              <a:rPr lang="ru-RU" b="1" dirty="0"/>
              <a:t>на основе </a:t>
            </a:r>
            <a:r>
              <a:rPr lang="ru-RU" b="1" dirty="0" smtClean="0"/>
              <a:t>содержания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ru-RU" b="1" dirty="0" smtClean="0"/>
              <a:t>Проблемы сбора данных о пользователе:</a:t>
            </a:r>
            <a:endParaRPr lang="ru-RU" dirty="0" smtClean="0"/>
          </a:p>
          <a:p>
            <a:pPr lvl="0"/>
            <a:r>
              <a:rPr lang="ru-RU" dirty="0"/>
              <a:t>неявный сбор </a:t>
            </a:r>
            <a:r>
              <a:rPr lang="ru-RU" dirty="0" smtClean="0"/>
              <a:t>данных:</a:t>
            </a:r>
          </a:p>
          <a:p>
            <a:pPr lvl="1"/>
            <a:r>
              <a:rPr lang="ru-RU" dirty="0" smtClean="0"/>
              <a:t>сбор </a:t>
            </a:r>
            <a:r>
              <a:rPr lang="ru-RU" dirty="0"/>
              <a:t>информации с </a:t>
            </a:r>
            <a:r>
              <a:rPr lang="ru-RU" dirty="0" smtClean="0"/>
              <a:t>похожих ресурсов</a:t>
            </a:r>
          </a:p>
          <a:p>
            <a:pPr lvl="1"/>
            <a:r>
              <a:rPr lang="ru-RU" dirty="0" smtClean="0"/>
              <a:t>ведение </a:t>
            </a:r>
            <a:r>
              <a:rPr lang="ru-RU" dirty="0"/>
              <a:t>записи о поведении </a:t>
            </a:r>
            <a:r>
              <a:rPr lang="ru-RU" dirty="0" smtClean="0"/>
              <a:t>пользователя</a:t>
            </a:r>
          </a:p>
          <a:p>
            <a:pPr lvl="1"/>
            <a:r>
              <a:rPr lang="ru-RU" dirty="0" smtClean="0"/>
              <a:t>анализ </a:t>
            </a:r>
            <a:r>
              <a:rPr lang="ru-RU" dirty="0"/>
              <a:t>содержимого компьютера </a:t>
            </a:r>
            <a:r>
              <a:rPr lang="ru-RU" dirty="0" smtClean="0"/>
              <a:t>пользователя</a:t>
            </a:r>
          </a:p>
          <a:p>
            <a:pPr lvl="1"/>
            <a:endParaRPr lang="ru-RU" dirty="0" smtClean="0"/>
          </a:p>
          <a:p>
            <a:pPr marL="0" lvl="0" indent="0">
              <a:buNone/>
            </a:pPr>
            <a:r>
              <a:rPr lang="ru-RU" b="1" u="sng" dirty="0" smtClean="0"/>
              <a:t>Недостаток</a:t>
            </a:r>
            <a:r>
              <a:rPr lang="ru-RU" dirty="0" smtClean="0"/>
              <a:t>:</a:t>
            </a:r>
          </a:p>
          <a:p>
            <a:pPr lvl="0"/>
            <a:r>
              <a:rPr lang="ru-RU" dirty="0" smtClean="0"/>
              <a:t>возможные проблемы с законом</a:t>
            </a:r>
            <a:endParaRPr lang="ru-RU" dirty="0"/>
          </a:p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1002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err="1" smtClean="0"/>
              <a:t>Коллаборативные</a:t>
            </a:r>
            <a:r>
              <a:rPr lang="ru-RU" b="1" dirty="0" smtClean="0"/>
              <a:t> РС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ru-RU" b="1" dirty="0" err="1" smtClean="0"/>
              <a:t>Коллаборативная</a:t>
            </a:r>
            <a:r>
              <a:rPr lang="ru-RU" b="1" dirty="0" smtClean="0"/>
              <a:t> фильтрация</a:t>
            </a:r>
            <a:r>
              <a:rPr lang="ru-RU" dirty="0"/>
              <a:t> (</a:t>
            </a:r>
            <a:r>
              <a:rPr lang="ru-RU" dirty="0" err="1"/>
              <a:t>collaborative</a:t>
            </a:r>
            <a:r>
              <a:rPr lang="ru-RU" dirty="0"/>
              <a:t> </a:t>
            </a:r>
            <a:r>
              <a:rPr lang="ru-RU" dirty="0" err="1"/>
              <a:t>filtering</a:t>
            </a:r>
            <a:r>
              <a:rPr lang="ru-RU" dirty="0" smtClean="0"/>
              <a:t>): </a:t>
            </a:r>
            <a:r>
              <a:rPr lang="ru-RU" dirty="0"/>
              <a:t>основывается на сопоставлении пользователей и товаров </a:t>
            </a:r>
            <a:r>
              <a:rPr lang="ru-RU" dirty="0" smtClean="0"/>
              <a:t>(услуг</a:t>
            </a:r>
            <a:r>
              <a:rPr lang="ru-RU" dirty="0"/>
              <a:t>, новостей и т.д</a:t>
            </a:r>
            <a:r>
              <a:rPr lang="ru-RU" dirty="0" smtClean="0"/>
              <a:t>.)</a:t>
            </a:r>
          </a:p>
          <a:p>
            <a:pPr marL="0" lvl="0" indent="0">
              <a:buNone/>
            </a:pPr>
            <a:endParaRPr lang="ru-RU" dirty="0" smtClean="0"/>
          </a:p>
          <a:p>
            <a:pPr lvl="0"/>
            <a:r>
              <a:rPr lang="ru-RU" b="1" u="sng" dirty="0"/>
              <a:t>Достоинства</a:t>
            </a:r>
            <a:r>
              <a:rPr lang="ru-RU" dirty="0"/>
              <a:t>: </a:t>
            </a:r>
            <a:r>
              <a:rPr lang="ru-RU" dirty="0" smtClean="0"/>
              <a:t>предложение новых видов товаров (услуг)</a:t>
            </a:r>
            <a:endParaRPr lang="ru-RU" dirty="0"/>
          </a:p>
          <a:p>
            <a:r>
              <a:rPr lang="ru-RU" b="1" u="sng" dirty="0"/>
              <a:t>Недостатки</a:t>
            </a:r>
            <a:r>
              <a:rPr lang="ru-RU" dirty="0" smtClean="0"/>
              <a:t>: требуется большой объем информации</a:t>
            </a:r>
            <a:endParaRPr lang="ru-RU" dirty="0"/>
          </a:p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8340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err="1" smtClean="0"/>
              <a:t>Коллаборативные</a:t>
            </a:r>
            <a:r>
              <a:rPr lang="ru-RU" b="1" dirty="0" smtClean="0"/>
              <a:t> РС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 lnSpcReduction="10000"/>
          </a:bodyPr>
          <a:lstStyle/>
          <a:p>
            <a:r>
              <a:rPr lang="ru-RU" dirty="0" err="1"/>
              <a:t>Коллаборативные</a:t>
            </a:r>
            <a:r>
              <a:rPr lang="ru-RU" dirty="0"/>
              <a:t> </a:t>
            </a:r>
            <a:r>
              <a:rPr lang="ru-RU" dirty="0" smtClean="0"/>
              <a:t>РС, </a:t>
            </a:r>
            <a:r>
              <a:rPr lang="ru-RU" dirty="0"/>
              <a:t>основанные </a:t>
            </a:r>
            <a:r>
              <a:rPr lang="ru-RU" b="1" dirty="0"/>
              <a:t>на </a:t>
            </a:r>
            <a:r>
              <a:rPr lang="ru-RU" b="1" dirty="0" smtClean="0"/>
              <a:t>пользователях </a:t>
            </a:r>
            <a:r>
              <a:rPr lang="ru-RU" dirty="0" smtClean="0"/>
              <a:t>(</a:t>
            </a:r>
            <a:r>
              <a:rPr lang="ru-RU" dirty="0" err="1" smtClean="0"/>
              <a:t>user-based</a:t>
            </a:r>
            <a:r>
              <a:rPr lang="ru-RU" dirty="0"/>
              <a:t>), находят близких по предпочтениям пользователей и рекомендуют одному из них то, что уже попробовал </a:t>
            </a:r>
            <a:r>
              <a:rPr lang="ru-RU" dirty="0" smtClean="0"/>
              <a:t>другой</a:t>
            </a:r>
          </a:p>
          <a:p>
            <a:r>
              <a:rPr lang="ru-RU" dirty="0" smtClean="0"/>
              <a:t>РС, </a:t>
            </a:r>
            <a:r>
              <a:rPr lang="ru-RU" dirty="0"/>
              <a:t>основанные </a:t>
            </a:r>
            <a:r>
              <a:rPr lang="ru-RU" b="1" dirty="0"/>
              <a:t>на предмете </a:t>
            </a:r>
            <a:r>
              <a:rPr lang="ru-RU" b="1" dirty="0" smtClean="0"/>
              <a:t>рекомендации </a:t>
            </a:r>
            <a:r>
              <a:rPr lang="ru-RU" dirty="0" smtClean="0"/>
              <a:t>(</a:t>
            </a:r>
            <a:r>
              <a:rPr lang="ru-RU" dirty="0" err="1" smtClean="0"/>
              <a:t>item-based</a:t>
            </a:r>
            <a:r>
              <a:rPr lang="ru-RU" dirty="0" smtClean="0"/>
              <a:t>), </a:t>
            </a:r>
            <a:r>
              <a:rPr lang="ru-RU" dirty="0"/>
              <a:t>сравнивают непосредственно </a:t>
            </a:r>
            <a:r>
              <a:rPr lang="ru-RU" dirty="0" smtClean="0"/>
              <a:t>сходство </a:t>
            </a:r>
            <a:r>
              <a:rPr lang="ru-RU" dirty="0"/>
              <a:t>товаров </a:t>
            </a:r>
            <a:r>
              <a:rPr lang="ru-RU" dirty="0" smtClean="0"/>
              <a:t>(услуг). Сходство </a:t>
            </a:r>
            <a:r>
              <a:rPr lang="ru-RU" dirty="0"/>
              <a:t>определяется на основе предпочтений всех </a:t>
            </a:r>
            <a:r>
              <a:rPr lang="ru-RU" dirty="0" smtClean="0"/>
              <a:t>пользователей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3905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5"/>
          </a:xfrm>
        </p:spPr>
        <p:txBody>
          <a:bodyPr>
            <a:normAutofit/>
          </a:bodyPr>
          <a:lstStyle/>
          <a:p>
            <a:r>
              <a:rPr lang="ru-RU" b="1" dirty="0" smtClean="0"/>
              <a:t>Матрицы предпочтений</a:t>
            </a:r>
            <a:endParaRPr lang="ru-RU" b="1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13</a:t>
            </a:fld>
            <a:endParaRPr lang="ru-RU"/>
          </a:p>
        </p:txBody>
      </p:sp>
      <p:pic>
        <p:nvPicPr>
          <p:cNvPr id="5" name="Рисунок 4" descr="два вида коллаборативных рекомендательных систем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196752"/>
            <a:ext cx="8352928" cy="525658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1249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5"/>
          </a:xfrm>
        </p:spPr>
        <p:txBody>
          <a:bodyPr>
            <a:normAutofit/>
          </a:bodyPr>
          <a:lstStyle/>
          <a:p>
            <a:r>
              <a:rPr lang="ru-RU" b="1" dirty="0" smtClean="0"/>
              <a:t>Проблема низких рейтингов</a:t>
            </a:r>
            <a:endParaRPr lang="ru-RU" b="1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14</a:t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395537" y="1404158"/>
            <a:ext cx="842493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ru-RU" sz="2800" dirty="0" smtClean="0"/>
              <a:t>Матрицы предпочтений могут быть большой размерности</a:t>
            </a:r>
          </a:p>
          <a:p>
            <a:pPr marL="514350" indent="-514350">
              <a:buAutoNum type="arabicPeriod"/>
            </a:pPr>
            <a:r>
              <a:rPr lang="ru-RU" sz="2800" dirty="0" smtClean="0"/>
              <a:t>Для снижения</a:t>
            </a:r>
            <a:r>
              <a:rPr lang="en-US" sz="2800" dirty="0" smtClean="0"/>
              <a:t> </a:t>
            </a:r>
            <a:r>
              <a:rPr lang="ru-RU" sz="2800" dirty="0" smtClean="0"/>
              <a:t>размерности матрицы для обработки предпочтений и выработки рекомендаций нужно исключить: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ru-RU" sz="2800" dirty="0" smtClean="0"/>
              <a:t>Товары с «нулевым» рейтингом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ru-RU" sz="2800" dirty="0" smtClean="0"/>
              <a:t>Товары с низким рейтингом (например, с оценкой </a:t>
            </a:r>
            <a:r>
              <a:rPr lang="en-US" sz="2800" dirty="0" smtClean="0"/>
              <a:t>&lt;</a:t>
            </a:r>
            <a:r>
              <a:rPr lang="ru-RU" sz="2800" dirty="0" smtClean="0"/>
              <a:t> 4)</a:t>
            </a:r>
            <a:endParaRPr lang="en-US" sz="2800" dirty="0" smtClean="0"/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ru-RU" sz="2800" dirty="0" smtClean="0"/>
              <a:t>«Неактивных» пользователей (не ставят рейтинги, не просматривают товары и т.д.)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527390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5"/>
          </a:xfrm>
        </p:spPr>
        <p:txBody>
          <a:bodyPr>
            <a:normAutofit/>
          </a:bodyPr>
          <a:lstStyle/>
          <a:p>
            <a:r>
              <a:rPr lang="ru-RU" b="1" dirty="0" smtClean="0"/>
              <a:t>Проблема объема матрицы</a:t>
            </a:r>
            <a:endParaRPr lang="ru-RU" b="1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15</a:t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395537" y="1196752"/>
            <a:ext cx="8424936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ru-RU" sz="2800" dirty="0" smtClean="0"/>
              <a:t>Сложность </a:t>
            </a:r>
            <a:r>
              <a:rPr lang="ru-RU" sz="2800" dirty="0"/>
              <a:t>расчета матрицы </a:t>
            </a:r>
            <a:r>
              <a:rPr lang="ru-RU" sz="2800" dirty="0" smtClean="0"/>
              <a:t>расстояний алгоритмом ближайшего соседа</a:t>
            </a:r>
            <a:r>
              <a:rPr lang="ru-RU" sz="2800" dirty="0"/>
              <a:t> </a:t>
            </a:r>
            <a:r>
              <a:rPr lang="en-US" sz="3200" b="1" i="1" dirty="0" smtClean="0"/>
              <a:t>O</a:t>
            </a:r>
            <a:r>
              <a:rPr lang="en-US" sz="2800" dirty="0" smtClean="0"/>
              <a:t>(</a:t>
            </a:r>
            <a:r>
              <a:rPr lang="en-US" sz="3200" b="1" i="1" dirty="0" err="1" smtClean="0"/>
              <a:t>n</a:t>
            </a:r>
            <a:r>
              <a:rPr lang="en-US" sz="2800" dirty="0" err="1" smtClean="0"/>
              <a:t>x</a:t>
            </a:r>
            <a:r>
              <a:rPr lang="en-US" sz="3200" b="1" i="1" dirty="0" err="1" smtClean="0"/>
              <a:t>n</a:t>
            </a:r>
            <a:r>
              <a:rPr lang="en-US" sz="2800" dirty="0" err="1" smtClean="0"/>
              <a:t>x</a:t>
            </a:r>
            <a:r>
              <a:rPr lang="en-US" sz="3200" b="1" i="1" dirty="0" err="1" smtClean="0"/>
              <a:t>m</a:t>
            </a:r>
            <a:r>
              <a:rPr lang="en-US" sz="2800" dirty="0" smtClean="0"/>
              <a:t>)</a:t>
            </a:r>
            <a:r>
              <a:rPr lang="ru-RU" sz="2800" dirty="0" smtClean="0"/>
              <a:t>, </a:t>
            </a:r>
            <a:r>
              <a:rPr lang="ru-RU" sz="2800" dirty="0"/>
              <a:t>где </a:t>
            </a:r>
            <a:r>
              <a:rPr lang="ru-RU" sz="3200" b="1" i="1" dirty="0"/>
              <a:t>n</a:t>
            </a:r>
            <a:r>
              <a:rPr lang="ru-RU" sz="2800" dirty="0"/>
              <a:t> — число пользователей, а </a:t>
            </a:r>
            <a:r>
              <a:rPr lang="ru-RU" sz="3200" b="1" i="1" dirty="0"/>
              <a:t>m</a:t>
            </a:r>
            <a:r>
              <a:rPr lang="ru-RU" sz="2800" dirty="0"/>
              <a:t> — число товаров</a:t>
            </a:r>
            <a:r>
              <a:rPr lang="ru-RU" sz="2800" dirty="0" smtClean="0"/>
              <a:t>.</a:t>
            </a:r>
          </a:p>
          <a:p>
            <a:pPr marL="514350" indent="-514350">
              <a:buAutoNum type="arabicPeriod"/>
            </a:pPr>
            <a:r>
              <a:rPr lang="ru-RU" sz="2800" dirty="0" smtClean="0"/>
              <a:t>При </a:t>
            </a:r>
            <a:r>
              <a:rPr lang="en-US" sz="3200" b="1" i="1" dirty="0" smtClean="0"/>
              <a:t>n</a:t>
            </a:r>
            <a:r>
              <a:rPr lang="en-US" sz="2800" b="1" dirty="0" smtClean="0"/>
              <a:t> = 1 000 000</a:t>
            </a:r>
            <a:r>
              <a:rPr lang="ru-RU" sz="2800" b="1" dirty="0" smtClean="0"/>
              <a:t> </a:t>
            </a:r>
            <a:r>
              <a:rPr lang="ru-RU" sz="2800" dirty="0"/>
              <a:t>пользователей для хранения матрицы расстояний </a:t>
            </a:r>
            <a:r>
              <a:rPr lang="ru-RU" sz="2800" dirty="0" smtClean="0"/>
              <a:t>потребуется </a:t>
            </a:r>
            <a:r>
              <a:rPr lang="ru-RU" sz="2800" dirty="0"/>
              <a:t>минимум </a:t>
            </a:r>
            <a:r>
              <a:rPr lang="ru-RU" sz="2800" b="1" dirty="0" smtClean="0"/>
              <a:t>4TБ</a:t>
            </a:r>
            <a:endParaRPr lang="en-US" sz="2800" dirty="0"/>
          </a:p>
          <a:p>
            <a:r>
              <a:rPr lang="ru-RU" sz="2800" b="1" u="sng" dirty="0" smtClean="0"/>
              <a:t>Базовое решение:</a:t>
            </a:r>
          </a:p>
          <a:p>
            <a:r>
              <a:rPr lang="ru-RU" sz="2800" dirty="0" smtClean="0"/>
              <a:t>1. Обновлять </a:t>
            </a:r>
            <a:r>
              <a:rPr lang="ru-RU" sz="2800" dirty="0"/>
              <a:t>расстояния не при каждой покупке, </a:t>
            </a:r>
            <a:r>
              <a:rPr lang="ru-RU" sz="2800" dirty="0" smtClean="0"/>
              <a:t>а, например</a:t>
            </a:r>
            <a:r>
              <a:rPr lang="ru-RU" sz="2800" dirty="0"/>
              <a:t>, раз в </a:t>
            </a:r>
            <a:r>
              <a:rPr lang="ru-RU" sz="2800" dirty="0" smtClean="0"/>
              <a:t>день</a:t>
            </a:r>
            <a:r>
              <a:rPr lang="ru-RU" sz="2800" dirty="0"/>
              <a:t/>
            </a:r>
            <a:br>
              <a:rPr lang="ru-RU" sz="2800" dirty="0"/>
            </a:br>
            <a:r>
              <a:rPr lang="ru-RU" sz="2800" dirty="0" smtClean="0"/>
              <a:t>2. Не </a:t>
            </a:r>
            <a:r>
              <a:rPr lang="ru-RU" sz="2800" dirty="0"/>
              <a:t>пересчитывать матрицу расстояний полностью, а обновлять ее </a:t>
            </a:r>
            <a:r>
              <a:rPr lang="ru-RU" sz="2800" dirty="0" err="1" smtClean="0"/>
              <a:t>инкрементально</a:t>
            </a:r>
            <a:r>
              <a:rPr lang="ru-RU" sz="2800" dirty="0" smtClean="0"/>
              <a:t> (частично)</a:t>
            </a:r>
            <a:r>
              <a:rPr lang="ru-RU" sz="2800" dirty="0"/>
              <a:t/>
            </a:r>
            <a:br>
              <a:rPr lang="ru-RU" sz="2800" dirty="0"/>
            </a:br>
            <a:r>
              <a:rPr lang="ru-RU" sz="2800" dirty="0" smtClean="0"/>
              <a:t>3. Сделать </a:t>
            </a:r>
            <a:r>
              <a:rPr lang="ru-RU" sz="2800" dirty="0"/>
              <a:t>выбор в пользу итеративных и приближенных </a:t>
            </a:r>
            <a:r>
              <a:rPr lang="ru-RU" sz="2800" dirty="0" smtClean="0"/>
              <a:t>алгоритмов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400958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5"/>
          </a:xfrm>
        </p:spPr>
        <p:txBody>
          <a:bodyPr>
            <a:normAutofit/>
          </a:bodyPr>
          <a:lstStyle/>
          <a:p>
            <a:r>
              <a:rPr lang="ru-RU" b="1" dirty="0" smtClean="0"/>
              <a:t>Проблема разреженных матриц</a:t>
            </a:r>
            <a:endParaRPr lang="ru-RU" b="1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16</a:t>
            </a:fld>
            <a:endParaRPr lang="ru-RU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" y="1844824"/>
            <a:ext cx="7943850" cy="270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547984" y="5426060"/>
            <a:ext cx="40480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 smtClean="0"/>
              <a:t>1. Координатный формат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002808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Проблема разреженных матриц</a:t>
            </a:r>
            <a:endParaRPr lang="ru-RU" b="1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17</a:t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467544" y="3717032"/>
            <a:ext cx="799288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 smtClean="0"/>
              <a:t>2. Формат </a:t>
            </a:r>
            <a:r>
              <a:rPr lang="en-US" sz="2800" dirty="0"/>
              <a:t>CSR (Compressed Sparse Rows) </a:t>
            </a:r>
            <a:r>
              <a:rPr lang="en-US" sz="2800" dirty="0" err="1"/>
              <a:t>или</a:t>
            </a:r>
            <a:r>
              <a:rPr lang="en-US" sz="2800" dirty="0"/>
              <a:t> CRS (Compressed Row Storage</a:t>
            </a:r>
            <a:r>
              <a:rPr lang="en-US" sz="2800" dirty="0" smtClean="0"/>
              <a:t>)</a:t>
            </a:r>
            <a:endParaRPr lang="ru-RU" sz="2800" dirty="0" smtClean="0"/>
          </a:p>
          <a:p>
            <a:pPr algn="ctr"/>
            <a:r>
              <a:rPr lang="ru-RU" sz="2800" dirty="0" smtClean="0"/>
              <a:t>/* </a:t>
            </a:r>
            <a:r>
              <a:rPr lang="ru-RU" sz="2800" dirty="0"/>
              <a:t>Количество элементов массива </a:t>
            </a:r>
            <a:r>
              <a:rPr lang="ru-RU" sz="2800" b="1" i="1" dirty="0" err="1"/>
              <a:t>RowIndex</a:t>
            </a:r>
            <a:r>
              <a:rPr lang="ru-RU" sz="2800" dirty="0"/>
              <a:t> равно </a:t>
            </a:r>
            <a:r>
              <a:rPr lang="ru-RU" sz="2800" b="1" i="1" dirty="0"/>
              <a:t>N</a:t>
            </a:r>
            <a:r>
              <a:rPr lang="ru-RU" sz="2800" b="1" dirty="0"/>
              <a:t> + 1</a:t>
            </a:r>
            <a:r>
              <a:rPr lang="ru-RU" sz="2800" dirty="0"/>
              <a:t>. </a:t>
            </a:r>
            <a:r>
              <a:rPr lang="ru-RU" sz="2800" b="1" i="1" dirty="0" smtClean="0"/>
              <a:t>i</a:t>
            </a:r>
            <a:r>
              <a:rPr lang="ru-RU" sz="2800" dirty="0" smtClean="0"/>
              <a:t>-</a:t>
            </a:r>
            <a:r>
              <a:rPr lang="ru-RU" sz="2800" dirty="0" err="1" smtClean="0"/>
              <a:t>ый</a:t>
            </a:r>
            <a:r>
              <a:rPr lang="ru-RU" sz="2800" dirty="0" smtClean="0"/>
              <a:t> </a:t>
            </a:r>
            <a:r>
              <a:rPr lang="ru-RU" sz="2800" dirty="0"/>
              <a:t>элемент массива </a:t>
            </a:r>
            <a:r>
              <a:rPr lang="ru-RU" sz="2800" b="1" i="1" dirty="0" err="1"/>
              <a:t>RowIndex</a:t>
            </a:r>
            <a:r>
              <a:rPr lang="ru-RU" sz="2800" dirty="0"/>
              <a:t> указывает на начало </a:t>
            </a:r>
            <a:r>
              <a:rPr lang="ru-RU" sz="2800" b="1" i="1" dirty="0"/>
              <a:t>i</a:t>
            </a:r>
            <a:r>
              <a:rPr lang="ru-RU" sz="2800" dirty="0"/>
              <a:t>-ой строки. </a:t>
            </a:r>
            <a:r>
              <a:rPr lang="ru-RU" sz="2800" dirty="0" smtClean="0"/>
              <a:t>Элементы </a:t>
            </a:r>
            <a:r>
              <a:rPr lang="ru-RU" sz="2800" dirty="0"/>
              <a:t>строки </a:t>
            </a:r>
            <a:r>
              <a:rPr lang="ru-RU" sz="2800" b="1" i="1" dirty="0"/>
              <a:t>i</a:t>
            </a:r>
            <a:r>
              <a:rPr lang="ru-RU" sz="2800" dirty="0"/>
              <a:t> в массиве </a:t>
            </a:r>
            <a:r>
              <a:rPr lang="ru-RU" sz="2800" b="1" i="1" dirty="0" err="1"/>
              <a:t>Value</a:t>
            </a:r>
            <a:r>
              <a:rPr lang="ru-RU" sz="2800" dirty="0"/>
              <a:t> находятся по индексам от </a:t>
            </a:r>
            <a:r>
              <a:rPr lang="ru-RU" sz="2800" b="1" i="1" dirty="0" err="1"/>
              <a:t>RowIndex</a:t>
            </a:r>
            <a:r>
              <a:rPr lang="ru-RU" sz="2800" b="1" dirty="0"/>
              <a:t>[</a:t>
            </a:r>
            <a:r>
              <a:rPr lang="ru-RU" sz="2800" b="1" i="1" dirty="0"/>
              <a:t>i</a:t>
            </a:r>
            <a:r>
              <a:rPr lang="ru-RU" sz="2800" b="1" dirty="0"/>
              <a:t>]</a:t>
            </a:r>
            <a:r>
              <a:rPr lang="ru-RU" sz="2800" dirty="0"/>
              <a:t> до </a:t>
            </a:r>
            <a:r>
              <a:rPr lang="ru-RU" sz="2800" b="1" i="1" dirty="0" err="1"/>
              <a:t>RowIndex</a:t>
            </a:r>
            <a:r>
              <a:rPr lang="ru-RU" sz="2800" b="1" dirty="0"/>
              <a:t>[</a:t>
            </a:r>
            <a:r>
              <a:rPr lang="ru-RU" sz="2800" b="1" i="1" dirty="0"/>
              <a:t>i</a:t>
            </a:r>
            <a:r>
              <a:rPr lang="ru-RU" sz="2800" b="1" dirty="0"/>
              <a:t> + 1] – 1</a:t>
            </a:r>
            <a:r>
              <a:rPr lang="ru-RU" sz="2800" dirty="0"/>
              <a:t> </a:t>
            </a:r>
            <a:r>
              <a:rPr lang="ru-RU" sz="2800" dirty="0" smtClean="0"/>
              <a:t>включительно */</a:t>
            </a:r>
            <a:endParaRPr lang="ru-RU" sz="2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764704"/>
            <a:ext cx="8343900" cy="298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44760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Проблема разреженных матриц</a:t>
            </a:r>
            <a:endParaRPr lang="ru-RU" b="1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18</a:t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467544" y="3501008"/>
            <a:ext cx="799288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 smtClean="0"/>
              <a:t>3. Формат </a:t>
            </a:r>
            <a:r>
              <a:rPr lang="en-US" sz="2800" dirty="0" err="1"/>
              <a:t>Ellpack</a:t>
            </a:r>
            <a:endParaRPr lang="ru-RU" sz="2800" dirty="0" smtClean="0"/>
          </a:p>
          <a:p>
            <a:pPr algn="ctr"/>
            <a:r>
              <a:rPr lang="ru-RU" sz="2400" dirty="0"/>
              <a:t>/* Для каждой строки матрицы хранится одинаковое число ненулевых </a:t>
            </a:r>
            <a:r>
              <a:rPr lang="ru-RU" sz="2400" dirty="0" smtClean="0"/>
              <a:t>элементов. </a:t>
            </a:r>
            <a:r>
              <a:rPr lang="ru-RU" sz="2400" dirty="0"/>
              <a:t>Для хранения ненулевых элементов используются два массива: </a:t>
            </a:r>
            <a:r>
              <a:rPr lang="ru-RU" sz="2400" dirty="0" smtClean="0"/>
              <a:t>1) массив </a:t>
            </a:r>
            <a:r>
              <a:rPr lang="ru-RU" sz="2400" b="1" i="1" dirty="0" err="1"/>
              <a:t>Values</a:t>
            </a:r>
            <a:r>
              <a:rPr lang="ru-RU" sz="2400" dirty="0"/>
              <a:t> хранит значения ненулевых элементов </a:t>
            </a:r>
            <a:r>
              <a:rPr lang="ru-RU" sz="2400" dirty="0" smtClean="0"/>
              <a:t>построчно, 2) </a:t>
            </a:r>
            <a:r>
              <a:rPr lang="ru-RU" sz="2400" dirty="0"/>
              <a:t>массив </a:t>
            </a:r>
            <a:r>
              <a:rPr lang="ru-RU" sz="2400" b="1" i="1" dirty="0" err="1"/>
              <a:t>Col</a:t>
            </a:r>
            <a:r>
              <a:rPr lang="ru-RU" sz="2400" dirty="0"/>
              <a:t> хранит номера столбцов для каждого элемента, </a:t>
            </a:r>
            <a:r>
              <a:rPr lang="ru-RU" sz="2400" dirty="0" smtClean="0"/>
              <a:t>3) </a:t>
            </a:r>
            <a:r>
              <a:rPr lang="ru-RU" sz="2400" dirty="0"/>
              <a:t>если количество элементов в строке меньше максимального, массивы </a:t>
            </a:r>
            <a:r>
              <a:rPr lang="ru-RU" sz="2400" b="1" i="1" dirty="0" err="1"/>
              <a:t>Values</a:t>
            </a:r>
            <a:r>
              <a:rPr lang="ru-RU" sz="2400" dirty="0"/>
              <a:t> и </a:t>
            </a:r>
            <a:r>
              <a:rPr lang="ru-RU" sz="2400" b="1" i="1" dirty="0" err="1"/>
              <a:t>Col</a:t>
            </a:r>
            <a:r>
              <a:rPr lang="ru-RU" sz="2400" dirty="0"/>
              <a:t> дополняются нулями </a:t>
            </a:r>
            <a:r>
              <a:rPr lang="ru-RU" sz="2400" dirty="0" smtClean="0"/>
              <a:t>*/</a:t>
            </a:r>
            <a:endParaRPr lang="ru-RU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836712"/>
            <a:ext cx="7343775" cy="277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9496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936104"/>
          </a:xfrm>
        </p:spPr>
        <p:txBody>
          <a:bodyPr>
            <a:normAutofit/>
          </a:bodyPr>
          <a:lstStyle/>
          <a:p>
            <a:r>
              <a:rPr lang="ru-RU" b="1" dirty="0" smtClean="0"/>
              <a:t>Косинусное подобие</a:t>
            </a:r>
            <a:endParaRPr lang="ru-RU" b="1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19</a:t>
            </a:fld>
            <a:endParaRPr lang="ru-RU"/>
          </a:p>
        </p:txBody>
      </p:sp>
      <p:pic>
        <p:nvPicPr>
          <p:cNvPr id="1026" name="Picture 2" descr="угол между векторами, косинусное сходство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052736"/>
            <a:ext cx="7344816" cy="540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953" y="4005064"/>
            <a:ext cx="4153535" cy="1547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56592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5"/>
          </a:xfrm>
        </p:spPr>
        <p:txBody>
          <a:bodyPr>
            <a:normAutofit/>
          </a:bodyPr>
          <a:lstStyle/>
          <a:p>
            <a:r>
              <a:rPr lang="ru-RU" b="1" dirty="0" smtClean="0"/>
              <a:t>РС на </a:t>
            </a:r>
            <a:r>
              <a:rPr lang="ru-RU" b="1" dirty="0"/>
              <a:t>пользователях </a:t>
            </a:r>
            <a:r>
              <a:rPr lang="ru-RU" dirty="0"/>
              <a:t>(</a:t>
            </a:r>
            <a:r>
              <a:rPr lang="ru-RU" dirty="0" err="1"/>
              <a:t>user-based</a:t>
            </a:r>
            <a:r>
              <a:rPr lang="ru-RU" dirty="0"/>
              <a:t>)</a:t>
            </a:r>
            <a:endParaRPr lang="ru-RU" b="1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20</a:t>
            </a:fld>
            <a:endParaRPr lang="ru-RU"/>
          </a:p>
        </p:txBody>
      </p:sp>
      <p:pic>
        <p:nvPicPr>
          <p:cNvPr id="7" name="Рисунок 6" descr="коллаборативная рекомендательная система, основанная на пользователях (user-based)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196752"/>
            <a:ext cx="7992888" cy="512269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30716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5"/>
          </a:xfrm>
        </p:spPr>
        <p:txBody>
          <a:bodyPr>
            <a:normAutofit/>
          </a:bodyPr>
          <a:lstStyle/>
          <a:p>
            <a:r>
              <a:rPr lang="ru-RU" b="1" dirty="0"/>
              <a:t>РС на пользователях </a:t>
            </a:r>
            <a:r>
              <a:rPr lang="ru-RU" dirty="0"/>
              <a:t>(</a:t>
            </a:r>
            <a:r>
              <a:rPr lang="ru-RU" dirty="0" err="1"/>
              <a:t>user-based</a:t>
            </a:r>
            <a:r>
              <a:rPr lang="ru-RU" dirty="0"/>
              <a:t>)</a:t>
            </a:r>
            <a:endParaRPr lang="ru-RU" b="1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21</a:t>
            </a:fld>
            <a:endParaRPr lang="ru-RU"/>
          </a:p>
        </p:txBody>
      </p:sp>
      <p:pic>
        <p:nvPicPr>
          <p:cNvPr id="5" name="Рисунок 4" descr="векторы пользователей в коллаборативной системе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124744"/>
            <a:ext cx="7776864" cy="53198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59251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08012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РС на </a:t>
            </a:r>
            <a:r>
              <a:rPr lang="ru-RU" b="1" dirty="0" smtClean="0"/>
              <a:t>предмете рекомендаций </a:t>
            </a:r>
            <a:r>
              <a:rPr lang="ru-RU" dirty="0" smtClean="0"/>
              <a:t>(</a:t>
            </a:r>
            <a:r>
              <a:rPr lang="ru-RU" dirty="0" err="1"/>
              <a:t>item-based</a:t>
            </a:r>
            <a:r>
              <a:rPr lang="ru-RU" dirty="0" smtClean="0"/>
              <a:t>)</a:t>
            </a:r>
            <a:endParaRPr lang="ru-RU" b="1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22</a:t>
            </a:fld>
            <a:endParaRPr lang="ru-RU"/>
          </a:p>
        </p:txBody>
      </p:sp>
      <p:pic>
        <p:nvPicPr>
          <p:cNvPr id="7" name="Рисунок 6" descr="векторы товаров или услуг в коллаборативной системе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268760"/>
            <a:ext cx="7992888" cy="51845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53019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>
            <a:normAutofit/>
          </a:bodyPr>
          <a:lstStyle/>
          <a:p>
            <a:r>
              <a:rPr lang="ru-RU" b="1" dirty="0" smtClean="0"/>
              <a:t>Проблема холодного старта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340768"/>
            <a:ext cx="8640960" cy="5112568"/>
          </a:xfrm>
        </p:spPr>
        <p:txBody>
          <a:bodyPr>
            <a:normAutofit/>
          </a:bodyPr>
          <a:lstStyle/>
          <a:p>
            <a:pPr marL="514350" indent="-514350">
              <a:buAutoNum type="arabicParenR"/>
            </a:pPr>
            <a:r>
              <a:rPr lang="ru-RU" dirty="0" smtClean="0"/>
              <a:t>в РС </a:t>
            </a:r>
            <a:r>
              <a:rPr lang="ru-RU" dirty="0"/>
              <a:t>в самом начале ее работы недостаточно данных для генерации </a:t>
            </a:r>
            <a:r>
              <a:rPr lang="ru-RU" dirty="0" smtClean="0"/>
              <a:t>рекомендаций</a:t>
            </a:r>
          </a:p>
          <a:p>
            <a:pPr marL="514350" indent="-514350">
              <a:buAutoNum type="arabicParenR"/>
            </a:pPr>
            <a:r>
              <a:rPr lang="ru-RU" dirty="0" smtClean="0"/>
              <a:t>появился </a:t>
            </a:r>
            <a:r>
              <a:rPr lang="ru-RU" dirty="0"/>
              <a:t>новый пользователь, который еще не ставил оценок, </a:t>
            </a:r>
            <a:r>
              <a:rPr lang="ru-RU" dirty="0" smtClean="0"/>
              <a:t>РС </a:t>
            </a:r>
            <a:r>
              <a:rPr lang="ru-RU" dirty="0"/>
              <a:t>не знает, что ему </a:t>
            </a:r>
            <a:r>
              <a:rPr lang="ru-RU" dirty="0" smtClean="0"/>
              <a:t>предложить</a:t>
            </a:r>
          </a:p>
          <a:p>
            <a:pPr marL="514350" indent="-514350">
              <a:buAutoNum type="arabicParenR"/>
            </a:pPr>
            <a:r>
              <a:rPr lang="ru-RU" dirty="0" smtClean="0"/>
              <a:t>появился </a:t>
            </a:r>
            <a:r>
              <a:rPr lang="ru-RU" dirty="0"/>
              <a:t>новый </a:t>
            </a:r>
            <a:r>
              <a:rPr lang="ru-RU" dirty="0" smtClean="0"/>
              <a:t>товар (услуга), который </a:t>
            </a:r>
            <a:r>
              <a:rPr lang="ru-RU" dirty="0"/>
              <a:t>пока не </a:t>
            </a:r>
            <a:r>
              <a:rPr lang="ru-RU" dirty="0" smtClean="0"/>
              <a:t>имеет </a:t>
            </a:r>
            <a:r>
              <a:rPr lang="ru-RU" dirty="0"/>
              <a:t>рейтингов, и </a:t>
            </a:r>
            <a:r>
              <a:rPr lang="ru-RU" dirty="0" smtClean="0"/>
              <a:t>схожесть </a:t>
            </a:r>
            <a:r>
              <a:rPr lang="ru-RU" dirty="0"/>
              <a:t>с другими предметами рекомендации </a:t>
            </a:r>
            <a:r>
              <a:rPr lang="ru-RU" dirty="0" smtClean="0"/>
              <a:t>неочевидна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23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61941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>
            <a:normAutofit/>
          </a:bodyPr>
          <a:lstStyle/>
          <a:p>
            <a:r>
              <a:rPr lang="ru-RU" b="1" dirty="0" err="1" smtClean="0"/>
              <a:t>Коллаборативные</a:t>
            </a:r>
            <a:r>
              <a:rPr lang="ru-RU" b="1" dirty="0" smtClean="0"/>
              <a:t> РС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340768"/>
            <a:ext cx="8640960" cy="511256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u="sng" dirty="0" smtClean="0"/>
              <a:t>Пример создания (</a:t>
            </a:r>
            <a:r>
              <a:rPr lang="en-US" dirty="0" smtClean="0"/>
              <a:t>user</a:t>
            </a:r>
            <a:r>
              <a:rPr lang="ru-RU" dirty="0" smtClean="0"/>
              <a:t>-</a:t>
            </a:r>
            <a:r>
              <a:rPr lang="ru-RU" dirty="0" err="1" smtClean="0"/>
              <a:t>based</a:t>
            </a:r>
            <a:r>
              <a:rPr lang="ru-RU" b="1" u="sng" dirty="0" smtClean="0"/>
              <a:t>)</a:t>
            </a:r>
            <a:r>
              <a:rPr lang="ru-RU" dirty="0" smtClean="0"/>
              <a:t>:</a:t>
            </a:r>
          </a:p>
          <a:p>
            <a:r>
              <a:rPr lang="ru-RU" b="1" dirty="0" smtClean="0"/>
              <a:t>подготовка матрицы предпочтений </a:t>
            </a:r>
            <a:r>
              <a:rPr lang="ru-RU" dirty="0" smtClean="0"/>
              <a:t>(строки </a:t>
            </a:r>
            <a:r>
              <a:rPr lang="ru-RU" dirty="0"/>
              <a:t>–</a:t>
            </a:r>
            <a:r>
              <a:rPr lang="ru-RU" dirty="0" smtClean="0"/>
              <a:t>пользователи, столбцы —</a:t>
            </a:r>
            <a:r>
              <a:rPr lang="en-US" dirty="0" smtClean="0"/>
              <a:t> </a:t>
            </a:r>
            <a:r>
              <a:rPr lang="ru-RU" dirty="0" smtClean="0"/>
              <a:t>товары </a:t>
            </a:r>
            <a:r>
              <a:rPr lang="ru-RU" dirty="0"/>
              <a:t>(услуги), </a:t>
            </a:r>
            <a:r>
              <a:rPr lang="ru-RU" dirty="0" smtClean="0"/>
              <a:t>значения ячеек </a:t>
            </a:r>
            <a:r>
              <a:rPr lang="ru-RU" dirty="0"/>
              <a:t>— </a:t>
            </a:r>
            <a:r>
              <a:rPr lang="ru-RU" dirty="0" smtClean="0"/>
              <a:t>рейтинги)</a:t>
            </a:r>
          </a:p>
          <a:p>
            <a:r>
              <a:rPr lang="ru-RU" b="1" dirty="0" smtClean="0"/>
              <a:t>расчет расстояний</a:t>
            </a:r>
            <a:r>
              <a:rPr lang="ru-RU" dirty="0"/>
              <a:t> от каждого </a:t>
            </a:r>
            <a:r>
              <a:rPr lang="ru-RU" dirty="0" smtClean="0"/>
              <a:t>товара (услуги) </a:t>
            </a:r>
            <a:r>
              <a:rPr lang="ru-RU" dirty="0"/>
              <a:t>до </a:t>
            </a:r>
            <a:r>
              <a:rPr lang="ru-RU" dirty="0" smtClean="0"/>
              <a:t>сходных других товаров (услуг)</a:t>
            </a:r>
          </a:p>
          <a:p>
            <a:r>
              <a:rPr lang="ru-RU" dirty="0" smtClean="0"/>
              <a:t>выбор товара (услуги), </a:t>
            </a:r>
            <a:r>
              <a:rPr lang="ru-RU" dirty="0"/>
              <a:t>для </a:t>
            </a:r>
            <a:r>
              <a:rPr lang="ru-RU" dirty="0" smtClean="0"/>
              <a:t>которого </a:t>
            </a:r>
            <a:r>
              <a:rPr lang="ru-RU" b="1" dirty="0" smtClean="0"/>
              <a:t>подбираем рекомендации</a:t>
            </a:r>
          </a:p>
          <a:p>
            <a:r>
              <a:rPr lang="ru-RU" b="1" dirty="0" smtClean="0"/>
              <a:t>поиск рекомендаций</a:t>
            </a:r>
            <a:r>
              <a:rPr lang="ru-RU" dirty="0" smtClean="0"/>
              <a:t>, т.е. других товаров (услуг) </a:t>
            </a:r>
            <a:r>
              <a:rPr lang="ru-RU" dirty="0"/>
              <a:t>с наибольшим </a:t>
            </a:r>
            <a:r>
              <a:rPr lang="ru-RU" dirty="0" smtClean="0"/>
              <a:t>сходством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24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52650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568952" cy="778098"/>
          </a:xfrm>
        </p:spPr>
        <p:txBody>
          <a:bodyPr>
            <a:normAutofit/>
          </a:bodyPr>
          <a:lstStyle/>
          <a:p>
            <a:r>
              <a:rPr lang="ru-RU" b="1" dirty="0" err="1" smtClean="0"/>
              <a:t>Коллаборативные</a:t>
            </a:r>
            <a:r>
              <a:rPr lang="ru-RU" b="1" dirty="0" smtClean="0"/>
              <a:t> РС. Алгоритмы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340768"/>
            <a:ext cx="8640960" cy="51125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u="sng" dirty="0" smtClean="0"/>
              <a:t>Пример алгоритма (</a:t>
            </a:r>
            <a:r>
              <a:rPr lang="en-US" dirty="0" smtClean="0"/>
              <a:t>user</a:t>
            </a:r>
            <a:r>
              <a:rPr lang="ru-RU" dirty="0" smtClean="0"/>
              <a:t>-</a:t>
            </a:r>
            <a:r>
              <a:rPr lang="ru-RU" dirty="0" err="1" smtClean="0"/>
              <a:t>based</a:t>
            </a:r>
            <a:r>
              <a:rPr lang="ru-RU" b="1" u="sng" dirty="0" smtClean="0"/>
              <a:t>)</a:t>
            </a:r>
            <a:r>
              <a:rPr lang="ru-RU" dirty="0" smtClean="0"/>
              <a:t>:</a:t>
            </a:r>
          </a:p>
          <a:p>
            <a:r>
              <a:rPr lang="ru-RU" dirty="0"/>
              <a:t>Пусть имеется пользователь </a:t>
            </a:r>
            <a:r>
              <a:rPr lang="ru-RU" sz="3600" b="1" i="1" dirty="0"/>
              <a:t>a</a:t>
            </a:r>
            <a:r>
              <a:rPr lang="ru-RU" dirty="0"/>
              <a:t>. </a:t>
            </a:r>
            <a:r>
              <a:rPr lang="ru-RU" dirty="0" smtClean="0"/>
              <a:t>Задача алгоритма </a:t>
            </a:r>
            <a:r>
              <a:rPr lang="ru-RU" dirty="0"/>
              <a:t>– предсказать, какую оценку поставил бы пользователь </a:t>
            </a:r>
            <a:r>
              <a:rPr lang="ru-RU" sz="3600" b="1" i="1" dirty="0"/>
              <a:t>a</a:t>
            </a:r>
            <a:r>
              <a:rPr lang="ru-RU" dirty="0"/>
              <a:t> объекту </a:t>
            </a:r>
            <a:r>
              <a:rPr lang="ru-RU" sz="3600" b="1" i="1" dirty="0" smtClean="0"/>
              <a:t>i</a:t>
            </a:r>
            <a:endParaRPr lang="ru-RU" dirty="0" smtClean="0"/>
          </a:p>
          <a:p>
            <a:r>
              <a:rPr lang="ru-RU" dirty="0" smtClean="0"/>
              <a:t>Дано: матрица</a:t>
            </a:r>
            <a:r>
              <a:rPr lang="en-US" dirty="0" smtClean="0"/>
              <a:t> </a:t>
            </a:r>
            <a:r>
              <a:rPr lang="en-US" sz="3600" b="1" i="1" dirty="0" smtClean="0"/>
              <a:t>R</a:t>
            </a:r>
            <a:r>
              <a:rPr lang="en-US" sz="3600" b="1" dirty="0" smtClean="0"/>
              <a:t>[</a:t>
            </a:r>
            <a:r>
              <a:rPr lang="en-US" sz="3600" b="1" i="1" dirty="0" smtClean="0"/>
              <a:t>n, m</a:t>
            </a:r>
            <a:r>
              <a:rPr lang="en-US" sz="3600" b="1" dirty="0" smtClean="0"/>
              <a:t>]</a:t>
            </a:r>
            <a:r>
              <a:rPr lang="ru-RU" dirty="0" smtClean="0"/>
              <a:t> оценок пользователей (количество пользователей – </a:t>
            </a:r>
            <a:r>
              <a:rPr lang="en-US" sz="3600" b="1" i="1" dirty="0" smtClean="0"/>
              <a:t>n</a:t>
            </a:r>
            <a:r>
              <a:rPr lang="en-US" dirty="0" smtClean="0"/>
              <a:t>) </a:t>
            </a:r>
            <a:r>
              <a:rPr lang="ru-RU" dirty="0" smtClean="0"/>
              <a:t>некоторых товаров (количество товаров – </a:t>
            </a:r>
            <a:r>
              <a:rPr lang="en-US" sz="3600" b="1" i="1" dirty="0" smtClean="0"/>
              <a:t>m</a:t>
            </a:r>
            <a:r>
              <a:rPr lang="en-US" dirty="0" smtClean="0"/>
              <a:t>)</a:t>
            </a:r>
            <a:endParaRPr lang="ru-RU" dirty="0" smtClean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26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568952" cy="778098"/>
          </a:xfrm>
        </p:spPr>
        <p:txBody>
          <a:bodyPr>
            <a:normAutofit/>
          </a:bodyPr>
          <a:lstStyle/>
          <a:p>
            <a:r>
              <a:rPr lang="ru-RU" b="1" dirty="0" err="1" smtClean="0"/>
              <a:t>Коллаборативные</a:t>
            </a:r>
            <a:r>
              <a:rPr lang="ru-RU" b="1" dirty="0" smtClean="0"/>
              <a:t> РС. Алгоритмы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340768"/>
            <a:ext cx="8640960" cy="51125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u="sng" dirty="0" smtClean="0"/>
              <a:t>Пример алгоритма (</a:t>
            </a:r>
            <a:r>
              <a:rPr lang="en-US" dirty="0" smtClean="0"/>
              <a:t>user</a:t>
            </a:r>
            <a:r>
              <a:rPr lang="ru-RU" dirty="0" smtClean="0"/>
              <a:t>-</a:t>
            </a:r>
            <a:r>
              <a:rPr lang="ru-RU" dirty="0" err="1" smtClean="0"/>
              <a:t>based</a:t>
            </a:r>
            <a:r>
              <a:rPr lang="ru-RU" b="1" u="sng" dirty="0" smtClean="0"/>
              <a:t>)</a:t>
            </a:r>
            <a:r>
              <a:rPr lang="ru-RU" dirty="0" smtClean="0"/>
              <a:t>:</a:t>
            </a:r>
          </a:p>
          <a:p>
            <a:pPr marL="514350" indent="-514350">
              <a:buAutoNum type="arabicPeriod"/>
            </a:pPr>
            <a:r>
              <a:rPr lang="ru-RU" dirty="0" smtClean="0"/>
              <a:t>Для </a:t>
            </a:r>
            <a:r>
              <a:rPr lang="ru-RU" dirty="0"/>
              <a:t>каждого пользователя </a:t>
            </a:r>
            <a:r>
              <a:rPr lang="ru-RU" sz="3600" b="1" i="1" dirty="0"/>
              <a:t>u</a:t>
            </a:r>
            <a:r>
              <a:rPr lang="ru-RU" dirty="0"/>
              <a:t> </a:t>
            </a:r>
            <a:r>
              <a:rPr lang="ru-RU" dirty="0" smtClean="0"/>
              <a:t>вычислить, </a:t>
            </a:r>
            <a:r>
              <a:rPr lang="ru-RU" dirty="0"/>
              <a:t>насколько его интересы совпадают с интересами пользователя </a:t>
            </a:r>
            <a:r>
              <a:rPr lang="ru-RU" sz="3600" b="1" i="1" dirty="0"/>
              <a:t>a</a:t>
            </a:r>
            <a:r>
              <a:rPr lang="ru-RU" dirty="0"/>
              <a:t> </a:t>
            </a:r>
            <a:endParaRPr lang="en-US" dirty="0" smtClean="0"/>
          </a:p>
          <a:p>
            <a:pPr marL="514350" indent="-514350">
              <a:buAutoNum type="arabicPeriod"/>
            </a:pPr>
            <a:r>
              <a:rPr lang="ru-RU" dirty="0" smtClean="0"/>
              <a:t>Выбрать множество </a:t>
            </a:r>
            <a:r>
              <a:rPr lang="en-US" sz="3600" b="1" i="1" dirty="0" smtClean="0"/>
              <a:t>K</a:t>
            </a:r>
            <a:r>
              <a:rPr lang="ru-RU" dirty="0" smtClean="0"/>
              <a:t> </a:t>
            </a:r>
            <a:r>
              <a:rPr lang="ru-RU" dirty="0"/>
              <a:t>пользователей, наиболее близких к </a:t>
            </a:r>
            <a:r>
              <a:rPr lang="ru-RU" sz="3600" b="1" i="1" dirty="0"/>
              <a:t>a</a:t>
            </a:r>
            <a:r>
              <a:rPr lang="ru-RU" dirty="0"/>
              <a:t> </a:t>
            </a:r>
            <a:endParaRPr lang="en-US" dirty="0" smtClean="0"/>
          </a:p>
          <a:p>
            <a:pPr marL="514350" indent="-514350">
              <a:buAutoNum type="arabicPeriod"/>
            </a:pPr>
            <a:r>
              <a:rPr lang="ru-RU" dirty="0" smtClean="0"/>
              <a:t>Рассчитать </a:t>
            </a:r>
            <a:r>
              <a:rPr lang="ru-RU" dirty="0"/>
              <a:t>оценку на основе оценок объекта </a:t>
            </a:r>
            <a:r>
              <a:rPr lang="ru-RU" sz="3600" b="1" i="1" dirty="0"/>
              <a:t>i</a:t>
            </a:r>
            <a:r>
              <a:rPr lang="ru-RU" dirty="0"/>
              <a:t> </a:t>
            </a:r>
            <a:r>
              <a:rPr lang="ru-RU" dirty="0" smtClean="0"/>
              <a:t>пользователями, </a:t>
            </a:r>
            <a:r>
              <a:rPr lang="ru-RU" dirty="0"/>
              <a:t>наиболее </a:t>
            </a:r>
            <a:r>
              <a:rPr lang="ru-RU" dirty="0" smtClean="0"/>
              <a:t>близкими </a:t>
            </a:r>
            <a:r>
              <a:rPr lang="ru-RU" dirty="0"/>
              <a:t>к </a:t>
            </a:r>
            <a:r>
              <a:rPr lang="ru-RU" sz="3600" b="1" i="1" dirty="0"/>
              <a:t>a</a:t>
            </a:r>
            <a:r>
              <a:rPr lang="ru-RU" dirty="0" smtClean="0"/>
              <a:t> </a:t>
            </a:r>
            <a:r>
              <a:rPr lang="ru-RU" dirty="0"/>
              <a:t>из </a:t>
            </a:r>
            <a:r>
              <a:rPr lang="ru-RU" b="1" u="sng" dirty="0" smtClean="0"/>
              <a:t>шага 2</a:t>
            </a:r>
            <a:endParaRPr lang="ru-RU" b="1" u="sng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26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61325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568952" cy="778098"/>
          </a:xfrm>
        </p:spPr>
        <p:txBody>
          <a:bodyPr>
            <a:normAutofit/>
          </a:bodyPr>
          <a:lstStyle/>
          <a:p>
            <a:r>
              <a:rPr lang="ru-RU" b="1" dirty="0" err="1" smtClean="0"/>
              <a:t>Коллаборативные</a:t>
            </a:r>
            <a:r>
              <a:rPr lang="ru-RU" b="1" dirty="0" smtClean="0"/>
              <a:t> РС. Алгоритмы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340768"/>
            <a:ext cx="8640960" cy="51125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u="sng" dirty="0" smtClean="0"/>
              <a:t>Пример алгоритма (</a:t>
            </a:r>
            <a:r>
              <a:rPr lang="en-US" dirty="0" smtClean="0"/>
              <a:t>user</a:t>
            </a:r>
            <a:r>
              <a:rPr lang="ru-RU" dirty="0" smtClean="0"/>
              <a:t>-</a:t>
            </a:r>
            <a:r>
              <a:rPr lang="ru-RU" dirty="0" err="1" smtClean="0"/>
              <a:t>based</a:t>
            </a:r>
            <a:r>
              <a:rPr lang="ru-RU" b="1" u="sng" dirty="0" smtClean="0"/>
              <a:t>)</a:t>
            </a:r>
            <a:r>
              <a:rPr lang="ru-RU" dirty="0" smtClean="0"/>
              <a:t>:</a:t>
            </a:r>
            <a:endParaRPr lang="en-US" dirty="0" smtClean="0"/>
          </a:p>
          <a:p>
            <a:pPr marL="0" indent="0">
              <a:buNone/>
            </a:pPr>
            <a:r>
              <a:rPr lang="ru-RU" b="1" u="sng" dirty="0" smtClean="0"/>
              <a:t>Шаг 1</a:t>
            </a:r>
            <a:r>
              <a:rPr lang="ru-RU" dirty="0" smtClean="0"/>
              <a:t>. </a:t>
            </a:r>
            <a:r>
              <a:rPr lang="ru-RU" dirty="0"/>
              <a:t>Каждому </a:t>
            </a:r>
            <a:r>
              <a:rPr lang="ru-RU" dirty="0" smtClean="0"/>
              <a:t>пользователю </a:t>
            </a:r>
            <a:r>
              <a:rPr lang="ru-RU" sz="3600" b="1" i="1" dirty="0"/>
              <a:t>u</a:t>
            </a:r>
            <a:r>
              <a:rPr lang="ru-RU" sz="3600" dirty="0" smtClean="0"/>
              <a:t> </a:t>
            </a:r>
            <a:r>
              <a:rPr lang="ru-RU" dirty="0"/>
              <a:t>в матрице </a:t>
            </a:r>
            <a:r>
              <a:rPr lang="ru-RU" sz="3600" b="1" i="1" dirty="0"/>
              <a:t>R</a:t>
            </a:r>
            <a:r>
              <a:rPr lang="ru-RU" dirty="0"/>
              <a:t> соответствует одна строка. </a:t>
            </a:r>
            <a:r>
              <a:rPr lang="ru-RU" dirty="0" smtClean="0"/>
              <a:t>Вычислим подобие </a:t>
            </a:r>
            <a:r>
              <a:rPr lang="ru-RU" dirty="0"/>
              <a:t>векторов-строк </a:t>
            </a:r>
            <a:r>
              <a:rPr lang="ru-RU" dirty="0" smtClean="0"/>
              <a:t>пользователей </a:t>
            </a:r>
            <a:r>
              <a:rPr lang="en-US" b="1" i="1" dirty="0" smtClean="0"/>
              <a:t>a</a:t>
            </a:r>
            <a:r>
              <a:rPr lang="ru-RU" dirty="0" smtClean="0"/>
              <a:t> и</a:t>
            </a:r>
            <a:r>
              <a:rPr lang="en-US" dirty="0" smtClean="0"/>
              <a:t> </a:t>
            </a:r>
            <a:r>
              <a:rPr lang="en-US" b="1" i="1" dirty="0"/>
              <a:t>u</a:t>
            </a:r>
            <a:r>
              <a:rPr lang="ru-RU" dirty="0" smtClean="0"/>
              <a:t> на основе косинусного подобия (</a:t>
            </a:r>
            <a:r>
              <a:rPr lang="en-US" i="1" dirty="0"/>
              <a:t>cos</a:t>
            </a:r>
            <a:r>
              <a:rPr lang="en-US" dirty="0"/>
              <a:t>(</a:t>
            </a:r>
            <a:r>
              <a:rPr lang="en-US" b="1" i="1" dirty="0"/>
              <a:t>a</a:t>
            </a:r>
            <a:r>
              <a:rPr lang="en-US" dirty="0"/>
              <a:t>, </a:t>
            </a:r>
            <a:r>
              <a:rPr lang="en-US" b="1" i="1" dirty="0"/>
              <a:t>u</a:t>
            </a:r>
            <a:r>
              <a:rPr lang="en-US" dirty="0"/>
              <a:t>)</a:t>
            </a:r>
            <a:r>
              <a:rPr lang="ru-RU" dirty="0" smtClean="0"/>
              <a:t>).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/* Если пользователь </a:t>
            </a:r>
            <a:r>
              <a:rPr lang="ru-RU" sz="3600" b="1" i="1" dirty="0"/>
              <a:t>u</a:t>
            </a:r>
            <a:r>
              <a:rPr lang="ru-RU" b="1" i="1" dirty="0"/>
              <a:t> </a:t>
            </a:r>
            <a:r>
              <a:rPr lang="ru-RU" dirty="0" smtClean="0"/>
              <a:t>не </a:t>
            </a:r>
            <a:r>
              <a:rPr lang="ru-RU" dirty="0"/>
              <a:t>указал оценку для какого-то </a:t>
            </a:r>
            <a:r>
              <a:rPr lang="ru-RU" dirty="0" smtClean="0"/>
              <a:t>объекта </a:t>
            </a:r>
            <a:r>
              <a:rPr lang="ru-RU" sz="3600" b="1" i="1" dirty="0" smtClean="0"/>
              <a:t>i</a:t>
            </a:r>
            <a:r>
              <a:rPr lang="ru-RU" dirty="0" smtClean="0"/>
              <a:t>, </a:t>
            </a:r>
            <a:r>
              <a:rPr lang="ru-RU" dirty="0"/>
              <a:t>соответствующее значение </a:t>
            </a:r>
            <a:r>
              <a:rPr lang="ru-RU" dirty="0" smtClean="0"/>
              <a:t>матрицы </a:t>
            </a:r>
            <a:r>
              <a:rPr lang="ru-RU" sz="3600" b="1" i="1" dirty="0"/>
              <a:t>R</a:t>
            </a:r>
            <a:r>
              <a:rPr lang="ru-RU" dirty="0" smtClean="0"/>
              <a:t> </a:t>
            </a:r>
            <a:r>
              <a:rPr lang="ru-RU" dirty="0"/>
              <a:t>равно </a:t>
            </a:r>
            <a:r>
              <a:rPr lang="ru-RU" b="1" dirty="0" smtClean="0"/>
              <a:t>0</a:t>
            </a:r>
            <a:r>
              <a:rPr lang="ru-RU" dirty="0" smtClean="0"/>
              <a:t> */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27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81829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568952" cy="778098"/>
          </a:xfrm>
        </p:spPr>
        <p:txBody>
          <a:bodyPr>
            <a:normAutofit/>
          </a:bodyPr>
          <a:lstStyle/>
          <a:p>
            <a:r>
              <a:rPr lang="ru-RU" b="1" dirty="0" err="1" smtClean="0"/>
              <a:t>Коллаборативные</a:t>
            </a:r>
            <a:r>
              <a:rPr lang="ru-RU" b="1" dirty="0" smtClean="0"/>
              <a:t> РС. Алгоритмы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340768"/>
            <a:ext cx="8640960" cy="51125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u="sng" dirty="0" smtClean="0"/>
              <a:t>Пример алгоритма (</a:t>
            </a:r>
            <a:r>
              <a:rPr lang="en-US" dirty="0" smtClean="0"/>
              <a:t>user</a:t>
            </a:r>
            <a:r>
              <a:rPr lang="ru-RU" dirty="0" smtClean="0"/>
              <a:t>-</a:t>
            </a:r>
            <a:r>
              <a:rPr lang="ru-RU" dirty="0" err="1" smtClean="0"/>
              <a:t>based</a:t>
            </a:r>
            <a:r>
              <a:rPr lang="ru-RU" b="1" u="sng" dirty="0" smtClean="0"/>
              <a:t>)</a:t>
            </a:r>
            <a:r>
              <a:rPr lang="ru-RU" dirty="0" smtClean="0"/>
              <a:t>:</a:t>
            </a:r>
            <a:endParaRPr lang="en-US" dirty="0" smtClean="0"/>
          </a:p>
          <a:p>
            <a:pPr marL="0" indent="0">
              <a:buNone/>
            </a:pPr>
            <a:r>
              <a:rPr lang="ru-RU" b="1" u="sng" dirty="0" smtClean="0"/>
              <a:t>Шаг 2</a:t>
            </a:r>
            <a:r>
              <a:rPr lang="ru-RU" dirty="0" smtClean="0"/>
              <a:t>. Выбрать </a:t>
            </a:r>
            <a:r>
              <a:rPr lang="ru-RU" dirty="0"/>
              <a:t>множество </a:t>
            </a:r>
            <a:r>
              <a:rPr lang="ru-RU" sz="3300" b="1" i="1" dirty="0"/>
              <a:t>K</a:t>
            </a:r>
            <a:r>
              <a:rPr lang="ru-RU" dirty="0"/>
              <a:t> наиболее похожих на </a:t>
            </a:r>
            <a:r>
              <a:rPr lang="ru-RU" sz="3300" b="1" i="1" dirty="0"/>
              <a:t>a</a:t>
            </a:r>
            <a:r>
              <a:rPr lang="ru-RU" dirty="0"/>
              <a:t> пользователей. Можно выбрать всех пользователей. Но </a:t>
            </a:r>
            <a:r>
              <a:rPr lang="ru-RU" dirty="0" smtClean="0"/>
              <a:t>пользователи </a:t>
            </a:r>
            <a:r>
              <a:rPr lang="ru-RU" dirty="0"/>
              <a:t>с непохожими или несильно пересекающимися интересами </a:t>
            </a:r>
            <a:r>
              <a:rPr lang="ru-RU" dirty="0" smtClean="0"/>
              <a:t>будут </a:t>
            </a:r>
            <a:r>
              <a:rPr lang="ru-RU" dirty="0"/>
              <a:t>отрицательно влиять на точность предсказания оценки для объекта </a:t>
            </a:r>
            <a:r>
              <a:rPr lang="ru-RU" sz="3300" b="1" i="1" dirty="0"/>
              <a:t>i</a:t>
            </a:r>
            <a:r>
              <a:rPr lang="ru-RU" dirty="0"/>
              <a:t>. 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/* Отбираются только те пользователи, которые оценили объект </a:t>
            </a:r>
            <a:r>
              <a:rPr lang="en-US" sz="3600" b="1" i="1" dirty="0" err="1" smtClean="0"/>
              <a:t>i</a:t>
            </a:r>
            <a:r>
              <a:rPr lang="ru-RU" dirty="0" smtClean="0"/>
              <a:t> */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28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93177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568952" cy="778098"/>
          </a:xfrm>
        </p:spPr>
        <p:txBody>
          <a:bodyPr>
            <a:normAutofit/>
          </a:bodyPr>
          <a:lstStyle/>
          <a:p>
            <a:r>
              <a:rPr lang="ru-RU" b="1" dirty="0" err="1" smtClean="0"/>
              <a:t>Коллаборативные</a:t>
            </a:r>
            <a:r>
              <a:rPr lang="ru-RU" b="1" dirty="0" smtClean="0"/>
              <a:t> РС. Алгоритмы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340768"/>
            <a:ext cx="8640960" cy="51125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u="sng" dirty="0" smtClean="0"/>
              <a:t>Пример алгоритма (</a:t>
            </a:r>
            <a:r>
              <a:rPr lang="en-US" dirty="0" smtClean="0"/>
              <a:t>user</a:t>
            </a:r>
            <a:r>
              <a:rPr lang="ru-RU" dirty="0" smtClean="0"/>
              <a:t>-</a:t>
            </a:r>
            <a:r>
              <a:rPr lang="ru-RU" dirty="0" err="1" smtClean="0"/>
              <a:t>based</a:t>
            </a:r>
            <a:r>
              <a:rPr lang="ru-RU" b="1" u="sng" dirty="0" smtClean="0"/>
              <a:t>)</a:t>
            </a:r>
            <a:r>
              <a:rPr lang="ru-RU" dirty="0" smtClean="0"/>
              <a:t>:</a:t>
            </a:r>
            <a:endParaRPr lang="en-US" dirty="0" smtClean="0"/>
          </a:p>
          <a:p>
            <a:pPr marL="0" indent="0">
              <a:buNone/>
            </a:pPr>
            <a:r>
              <a:rPr lang="ru-RU" b="1" u="sng" dirty="0" smtClean="0"/>
              <a:t>Шаг 2</a:t>
            </a:r>
            <a:r>
              <a:rPr lang="ru-RU" dirty="0"/>
              <a:t>. Одно из возможных решений – установить порог </a:t>
            </a:r>
            <a:r>
              <a:rPr lang="ru-RU" dirty="0" smtClean="0"/>
              <a:t>подобия, вычисленного </a:t>
            </a:r>
            <a:r>
              <a:rPr lang="ru-RU" dirty="0"/>
              <a:t>на </a:t>
            </a:r>
            <a:r>
              <a:rPr lang="ru-RU" b="1" u="sng" dirty="0" smtClean="0"/>
              <a:t>шаге 1</a:t>
            </a:r>
            <a:r>
              <a:rPr lang="ru-RU" dirty="0" smtClean="0"/>
              <a:t>. </a:t>
            </a:r>
            <a:r>
              <a:rPr lang="ru-RU" dirty="0"/>
              <a:t>Пользователи с </a:t>
            </a:r>
            <a:r>
              <a:rPr lang="ru-RU" dirty="0" smtClean="0"/>
              <a:t>подобием, превышающим </a:t>
            </a:r>
            <a:r>
              <a:rPr lang="ru-RU" dirty="0"/>
              <a:t>порог, войдут во множество </a:t>
            </a:r>
            <a:r>
              <a:rPr lang="ru-RU" sz="3600" b="1" i="1" dirty="0"/>
              <a:t>K</a:t>
            </a:r>
            <a:r>
              <a:rPr lang="ru-RU" dirty="0"/>
              <a:t>. 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Другое решение</a:t>
            </a:r>
            <a:r>
              <a:rPr lang="ru-RU" dirty="0"/>
              <a:t> –</a:t>
            </a:r>
            <a:r>
              <a:rPr lang="ru-RU" dirty="0" smtClean="0"/>
              <a:t> выбрать константу </a:t>
            </a:r>
            <a:r>
              <a:rPr lang="ru-RU" sz="3600" b="1" i="1" dirty="0" smtClean="0"/>
              <a:t>k</a:t>
            </a:r>
            <a:r>
              <a:rPr lang="ru-RU" dirty="0" smtClean="0"/>
              <a:t>, отсортировать пользователей по </a:t>
            </a:r>
            <a:r>
              <a:rPr lang="ru-RU" dirty="0"/>
              <a:t>убыванию </a:t>
            </a:r>
            <a:r>
              <a:rPr lang="ru-RU" dirty="0" smtClean="0"/>
              <a:t>подобия. Во </a:t>
            </a:r>
            <a:r>
              <a:rPr lang="ru-RU" dirty="0"/>
              <a:t>множество </a:t>
            </a:r>
            <a:r>
              <a:rPr lang="ru-RU" sz="3600" b="1" i="1" dirty="0"/>
              <a:t>K</a:t>
            </a:r>
            <a:r>
              <a:rPr lang="ru-RU" dirty="0"/>
              <a:t> </a:t>
            </a:r>
            <a:r>
              <a:rPr lang="ru-RU" dirty="0" smtClean="0"/>
              <a:t>включить </a:t>
            </a:r>
            <a:r>
              <a:rPr lang="ru-RU" sz="3600" b="1" i="1" dirty="0" smtClean="0"/>
              <a:t>k</a:t>
            </a:r>
            <a:r>
              <a:rPr lang="ru-RU" dirty="0" smtClean="0"/>
              <a:t> </a:t>
            </a:r>
            <a:r>
              <a:rPr lang="ru-RU" dirty="0"/>
              <a:t>пользователей, наиболее близких к </a:t>
            </a:r>
            <a:r>
              <a:rPr lang="ru-RU" sz="3600" b="1" i="1" dirty="0" smtClean="0"/>
              <a:t>a</a:t>
            </a:r>
            <a:endParaRPr lang="ru-RU" dirty="0" smtClean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29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9403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568952" cy="778098"/>
          </a:xfrm>
        </p:spPr>
        <p:txBody>
          <a:bodyPr>
            <a:normAutofit/>
          </a:bodyPr>
          <a:lstStyle/>
          <a:p>
            <a:r>
              <a:rPr lang="ru-RU" b="1" dirty="0" err="1" smtClean="0"/>
              <a:t>Коллаборативные</a:t>
            </a:r>
            <a:r>
              <a:rPr lang="ru-RU" b="1" dirty="0" smtClean="0"/>
              <a:t> РС. Алгоритмы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340768"/>
            <a:ext cx="8640960" cy="51125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u="sng" dirty="0" smtClean="0"/>
              <a:t>Пример алгоритма (</a:t>
            </a:r>
            <a:r>
              <a:rPr lang="en-US" dirty="0" smtClean="0"/>
              <a:t>user</a:t>
            </a:r>
            <a:r>
              <a:rPr lang="ru-RU" dirty="0" smtClean="0"/>
              <a:t>-</a:t>
            </a:r>
            <a:r>
              <a:rPr lang="ru-RU" dirty="0" err="1" smtClean="0"/>
              <a:t>based</a:t>
            </a:r>
            <a:r>
              <a:rPr lang="ru-RU" b="1" u="sng" dirty="0" smtClean="0"/>
              <a:t>)</a:t>
            </a:r>
            <a:r>
              <a:rPr lang="ru-RU" dirty="0" smtClean="0"/>
              <a:t>:</a:t>
            </a:r>
            <a:endParaRPr lang="en-US" dirty="0" smtClean="0"/>
          </a:p>
          <a:p>
            <a:pPr marL="0" indent="0">
              <a:buNone/>
            </a:pPr>
            <a:r>
              <a:rPr lang="ru-RU" b="1" u="sng" dirty="0" smtClean="0"/>
              <a:t>Шаг 3</a:t>
            </a:r>
            <a:r>
              <a:rPr lang="ru-RU" dirty="0"/>
              <a:t>. Имея множество </a:t>
            </a:r>
            <a:r>
              <a:rPr lang="ru-RU" sz="3600" b="1" i="1" dirty="0"/>
              <a:t>K</a:t>
            </a:r>
            <a:r>
              <a:rPr lang="ru-RU" dirty="0"/>
              <a:t> близких пользователей нужно вычислить оценку, которую поставил бы пользователь </a:t>
            </a:r>
            <a:r>
              <a:rPr lang="ru-RU" sz="3600" b="1" i="1" dirty="0"/>
              <a:t>a</a:t>
            </a:r>
            <a:r>
              <a:rPr lang="ru-RU" dirty="0"/>
              <a:t> объекту </a:t>
            </a:r>
            <a:r>
              <a:rPr lang="ru-RU" b="1" i="1" dirty="0" smtClean="0"/>
              <a:t>i</a:t>
            </a:r>
            <a:endParaRPr lang="ru-RU" dirty="0" smtClean="0"/>
          </a:p>
          <a:p>
            <a:pPr marL="0" indent="0">
              <a:buNone/>
            </a:pPr>
            <a:endParaRPr lang="ru-RU" dirty="0" smtClean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30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23407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568952" cy="778098"/>
          </a:xfrm>
        </p:spPr>
        <p:txBody>
          <a:bodyPr>
            <a:normAutofit/>
          </a:bodyPr>
          <a:lstStyle/>
          <a:p>
            <a:r>
              <a:rPr lang="ru-RU" b="1" dirty="0" err="1" smtClean="0"/>
              <a:t>Коллаборативные</a:t>
            </a:r>
            <a:r>
              <a:rPr lang="ru-RU" b="1" dirty="0" smtClean="0"/>
              <a:t> РС. Алгоритмы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340768"/>
            <a:ext cx="8640960" cy="511256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b="1" u="sng" dirty="0" smtClean="0"/>
              <a:t>Пример алгоритма (</a:t>
            </a:r>
            <a:r>
              <a:rPr lang="en-US" dirty="0" smtClean="0"/>
              <a:t>user</a:t>
            </a:r>
            <a:r>
              <a:rPr lang="ru-RU" dirty="0" smtClean="0"/>
              <a:t>-</a:t>
            </a:r>
            <a:r>
              <a:rPr lang="ru-RU" dirty="0" err="1" smtClean="0"/>
              <a:t>based</a:t>
            </a:r>
            <a:r>
              <a:rPr lang="ru-RU" b="1" u="sng" dirty="0" smtClean="0"/>
              <a:t>)</a:t>
            </a:r>
            <a:r>
              <a:rPr lang="ru-RU" dirty="0" smtClean="0"/>
              <a:t>:</a:t>
            </a:r>
            <a:endParaRPr lang="en-US" dirty="0" smtClean="0"/>
          </a:p>
          <a:p>
            <a:pPr marL="0" indent="0">
              <a:buNone/>
            </a:pPr>
            <a:r>
              <a:rPr lang="ru-RU" b="1" u="sng" dirty="0" smtClean="0"/>
              <a:t>Шаг 3</a:t>
            </a:r>
            <a:r>
              <a:rPr lang="ru-RU" dirty="0"/>
              <a:t>. </a:t>
            </a:r>
            <a:r>
              <a:rPr lang="ru-RU" dirty="0" smtClean="0"/>
              <a:t>Предполагаемая </a:t>
            </a:r>
            <a:r>
              <a:rPr lang="ru-RU" dirty="0"/>
              <a:t>оценка вычисляется </a:t>
            </a:r>
            <a:r>
              <a:rPr lang="ru-RU" dirty="0" smtClean="0"/>
              <a:t>так: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US" sz="6200" dirty="0" smtClean="0"/>
              <a:t>                   </a:t>
            </a:r>
            <a:r>
              <a:rPr lang="en-US" sz="6300" dirty="0" smtClean="0"/>
              <a:t>∑</a:t>
            </a:r>
            <a:r>
              <a:rPr lang="en-US" b="1" i="1" dirty="0" smtClean="0"/>
              <a:t>u</a:t>
            </a:r>
            <a:r>
              <a:rPr lang="el-GR" dirty="0" smtClean="0"/>
              <a:t>ϵ</a:t>
            </a:r>
            <a:r>
              <a:rPr lang="en-US" b="1" i="1" dirty="0" smtClean="0"/>
              <a:t>K </a:t>
            </a:r>
            <a:r>
              <a:rPr lang="en-US" sz="5700" dirty="0" smtClean="0"/>
              <a:t>(</a:t>
            </a:r>
            <a:r>
              <a:rPr lang="en-US" sz="6300" i="1" dirty="0" err="1" smtClean="0"/>
              <a:t>r</a:t>
            </a:r>
            <a:r>
              <a:rPr lang="en-US" i="1" dirty="0" err="1" smtClean="0"/>
              <a:t>u,i</a:t>
            </a:r>
            <a:r>
              <a:rPr lang="en-US" i="1" dirty="0" smtClean="0"/>
              <a:t> </a:t>
            </a:r>
            <a:r>
              <a:rPr lang="en-US" sz="5700" dirty="0" smtClean="0"/>
              <a:t>-</a:t>
            </a:r>
            <a:r>
              <a:rPr lang="en-US" i="1" dirty="0" smtClean="0"/>
              <a:t> </a:t>
            </a:r>
            <a:r>
              <a:rPr lang="en-US" sz="6300" i="1" u="sng" dirty="0" err="1" smtClean="0"/>
              <a:t>r</a:t>
            </a:r>
            <a:r>
              <a:rPr lang="en-US" i="1" u="sng" dirty="0" err="1" smtClean="0"/>
              <a:t>u</a:t>
            </a:r>
            <a:r>
              <a:rPr lang="en-US" sz="5700" dirty="0" smtClean="0"/>
              <a:t>)</a:t>
            </a:r>
            <a:r>
              <a:rPr lang="en-US" sz="5100" dirty="0" smtClean="0"/>
              <a:t> </a:t>
            </a:r>
            <a:r>
              <a:rPr lang="ru-RU" sz="5100" dirty="0" smtClean="0"/>
              <a:t>х </a:t>
            </a:r>
            <a:r>
              <a:rPr lang="en-US" sz="5700" i="1" dirty="0" smtClean="0"/>
              <a:t>cos</a:t>
            </a:r>
            <a:r>
              <a:rPr lang="en-US" sz="5700" dirty="0" smtClean="0"/>
              <a:t>(</a:t>
            </a:r>
            <a:r>
              <a:rPr lang="en-US" sz="5700" b="1" i="1" dirty="0" smtClean="0"/>
              <a:t>a</a:t>
            </a:r>
            <a:r>
              <a:rPr lang="en-US" sz="5700" dirty="0" smtClean="0"/>
              <a:t>, </a:t>
            </a:r>
            <a:r>
              <a:rPr lang="en-US" sz="5700" b="1" i="1" dirty="0" smtClean="0"/>
              <a:t>u</a:t>
            </a:r>
            <a:r>
              <a:rPr lang="en-US" sz="5700" dirty="0" smtClean="0"/>
              <a:t>)</a:t>
            </a:r>
            <a:endParaRPr lang="en-US" b="1" dirty="0"/>
          </a:p>
          <a:p>
            <a:pPr marL="0" indent="0">
              <a:buNone/>
            </a:pPr>
            <a:r>
              <a:rPr lang="en-US" sz="6200" i="1" dirty="0" smtClean="0"/>
              <a:t>  </a:t>
            </a:r>
            <a:r>
              <a:rPr lang="en-US" sz="6300" i="1" dirty="0" err="1" smtClean="0"/>
              <a:t>Pr</a:t>
            </a:r>
            <a:r>
              <a:rPr lang="en-US" i="1" dirty="0" err="1" smtClean="0"/>
              <a:t>a,i</a:t>
            </a:r>
            <a:r>
              <a:rPr lang="en-US" dirty="0" smtClean="0"/>
              <a:t> </a:t>
            </a:r>
            <a:r>
              <a:rPr lang="en-US" sz="6300" dirty="0" smtClean="0"/>
              <a:t>=</a:t>
            </a:r>
            <a:r>
              <a:rPr lang="en-US" sz="5700" dirty="0" smtClean="0"/>
              <a:t> </a:t>
            </a:r>
            <a:r>
              <a:rPr lang="en-US" sz="6300" i="1" u="sng" dirty="0" err="1" smtClean="0"/>
              <a:t>r</a:t>
            </a:r>
            <a:r>
              <a:rPr lang="en-US" i="1" u="sng" dirty="0" err="1"/>
              <a:t>a</a:t>
            </a:r>
            <a:r>
              <a:rPr lang="en-US" sz="5700" dirty="0" smtClean="0"/>
              <a:t> </a:t>
            </a:r>
            <a:r>
              <a:rPr lang="en-US" sz="6300" dirty="0" smtClean="0"/>
              <a:t>+</a:t>
            </a:r>
            <a:r>
              <a:rPr lang="en-US" sz="5700" dirty="0" smtClean="0"/>
              <a:t> </a:t>
            </a:r>
          </a:p>
          <a:p>
            <a:pPr marL="0" indent="0">
              <a:buNone/>
            </a:pPr>
            <a:r>
              <a:rPr lang="en-US" sz="6300" dirty="0" smtClean="0"/>
              <a:t>                         ∑</a:t>
            </a:r>
            <a:r>
              <a:rPr lang="en-US" b="1" i="1" dirty="0"/>
              <a:t>u</a:t>
            </a:r>
            <a:r>
              <a:rPr lang="el-GR" dirty="0"/>
              <a:t>ϵ</a:t>
            </a:r>
            <a:r>
              <a:rPr lang="en-US" b="1" i="1" dirty="0"/>
              <a:t>K </a:t>
            </a:r>
            <a:r>
              <a:rPr lang="en-US" sz="5700" dirty="0" smtClean="0"/>
              <a:t>|</a:t>
            </a:r>
            <a:r>
              <a:rPr lang="ru-RU" dirty="0" smtClean="0"/>
              <a:t> </a:t>
            </a:r>
            <a:r>
              <a:rPr lang="en-US" sz="5700" i="1" dirty="0"/>
              <a:t>cos</a:t>
            </a:r>
            <a:r>
              <a:rPr lang="en-US" sz="5700" dirty="0"/>
              <a:t>(</a:t>
            </a:r>
            <a:r>
              <a:rPr lang="en-US" sz="5700" b="1" i="1" dirty="0"/>
              <a:t>a</a:t>
            </a:r>
            <a:r>
              <a:rPr lang="en-US" sz="5700" dirty="0"/>
              <a:t>, </a:t>
            </a:r>
            <a:r>
              <a:rPr lang="en-US" sz="5700" b="1" i="1" dirty="0"/>
              <a:t>u</a:t>
            </a:r>
            <a:r>
              <a:rPr lang="en-US" sz="5700" dirty="0" smtClean="0"/>
              <a:t>) </a:t>
            </a:r>
            <a:r>
              <a:rPr lang="en-US" sz="5700" dirty="0"/>
              <a:t>|</a:t>
            </a:r>
            <a:endParaRPr lang="ru-RU" dirty="0" smtClean="0"/>
          </a:p>
          <a:p>
            <a:pPr marL="0" indent="0">
              <a:buNone/>
            </a:pPr>
            <a:r>
              <a:rPr lang="en-US" sz="4000" b="1" i="1" dirty="0" err="1" smtClean="0"/>
              <a:t>Pr</a:t>
            </a:r>
            <a:r>
              <a:rPr lang="ru-RU" sz="2600" i="1" dirty="0" err="1" smtClean="0"/>
              <a:t>a,i</a:t>
            </a:r>
            <a:r>
              <a:rPr lang="ru-RU" dirty="0" smtClean="0"/>
              <a:t> </a:t>
            </a:r>
            <a:r>
              <a:rPr lang="ru-RU" dirty="0"/>
              <a:t>– </a:t>
            </a:r>
            <a:r>
              <a:rPr lang="ru-RU" dirty="0" smtClean="0"/>
              <a:t>предполагаемая </a:t>
            </a:r>
            <a:r>
              <a:rPr lang="ru-RU" dirty="0"/>
              <a:t>оценка пользователя </a:t>
            </a:r>
            <a:r>
              <a:rPr lang="ru-RU" b="1" i="1" dirty="0"/>
              <a:t>a</a:t>
            </a:r>
            <a:r>
              <a:rPr lang="ru-RU" dirty="0"/>
              <a:t> для объекта </a:t>
            </a:r>
            <a:r>
              <a:rPr lang="ru-RU" b="1" i="1" dirty="0" smtClean="0"/>
              <a:t>i</a:t>
            </a:r>
            <a:r>
              <a:rPr lang="ru-RU" dirty="0" smtClean="0"/>
              <a:t> </a:t>
            </a:r>
          </a:p>
          <a:p>
            <a:pPr marL="0" indent="0">
              <a:buNone/>
            </a:pPr>
            <a:r>
              <a:rPr lang="en-US" sz="4000" b="1" i="1" u="sng" dirty="0" err="1" smtClean="0"/>
              <a:t>r</a:t>
            </a:r>
            <a:r>
              <a:rPr lang="en-US" sz="2600" i="1" u="sng" dirty="0" err="1" smtClean="0"/>
              <a:t>a</a:t>
            </a:r>
            <a:r>
              <a:rPr lang="ru-RU" dirty="0" smtClean="0"/>
              <a:t> </a:t>
            </a:r>
            <a:r>
              <a:rPr lang="ru-RU" dirty="0"/>
              <a:t>– </a:t>
            </a:r>
            <a:r>
              <a:rPr lang="ru-RU" dirty="0" smtClean="0"/>
              <a:t>средняя оценка пользователя </a:t>
            </a:r>
            <a:r>
              <a:rPr lang="ru-RU" b="1" i="1" dirty="0"/>
              <a:t>a</a:t>
            </a:r>
            <a:r>
              <a:rPr lang="ru-RU" dirty="0" smtClean="0"/>
              <a:t> берется за основу, затем к ней </a:t>
            </a:r>
            <a:r>
              <a:rPr lang="ru-RU" dirty="0"/>
              <a:t>прибавляется среднее отклонение оценки для объекта </a:t>
            </a:r>
            <a:r>
              <a:rPr lang="ru-RU" b="1" i="1" dirty="0"/>
              <a:t>i</a:t>
            </a:r>
            <a:r>
              <a:rPr lang="ru-RU" dirty="0"/>
              <a:t> от </a:t>
            </a:r>
            <a:r>
              <a:rPr lang="ru-RU" dirty="0" smtClean="0"/>
              <a:t>средней оценки других </a:t>
            </a:r>
            <a:r>
              <a:rPr lang="ru-RU" dirty="0"/>
              <a:t>пользователей из множества </a:t>
            </a:r>
            <a:r>
              <a:rPr lang="ru-RU" b="1" i="1" dirty="0" smtClean="0"/>
              <a:t>K</a:t>
            </a:r>
            <a:endParaRPr lang="ru-RU" dirty="0" smtClean="0"/>
          </a:p>
          <a:p>
            <a:pPr marL="0" indent="0">
              <a:buNone/>
            </a:pPr>
            <a:endParaRPr lang="ru-RU" dirty="0" smtClean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31</a:t>
            </a:fld>
            <a:endParaRPr lang="ru-RU" dirty="0"/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067723" y="3645024"/>
            <a:ext cx="4608512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1959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568952" cy="778098"/>
          </a:xfrm>
        </p:spPr>
        <p:txBody>
          <a:bodyPr>
            <a:normAutofit/>
          </a:bodyPr>
          <a:lstStyle/>
          <a:p>
            <a:r>
              <a:rPr lang="ru-RU" b="1" dirty="0" err="1" smtClean="0"/>
              <a:t>Коллаборативные</a:t>
            </a:r>
            <a:r>
              <a:rPr lang="ru-RU" b="1" dirty="0" smtClean="0"/>
              <a:t> РС. Алгоритмы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340768"/>
            <a:ext cx="8640960" cy="511256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u="sng" dirty="0" smtClean="0"/>
              <a:t>Пример алгоритма (</a:t>
            </a:r>
            <a:r>
              <a:rPr lang="en-US" dirty="0" smtClean="0"/>
              <a:t>user</a:t>
            </a:r>
            <a:r>
              <a:rPr lang="ru-RU" dirty="0" smtClean="0"/>
              <a:t>-</a:t>
            </a:r>
            <a:r>
              <a:rPr lang="ru-RU" dirty="0" err="1" smtClean="0"/>
              <a:t>based</a:t>
            </a:r>
            <a:r>
              <a:rPr lang="ru-RU" b="1" u="sng" dirty="0" smtClean="0"/>
              <a:t>)</a:t>
            </a:r>
            <a:r>
              <a:rPr lang="ru-RU" dirty="0" smtClean="0"/>
              <a:t>:</a:t>
            </a:r>
            <a:endParaRPr lang="en-US" dirty="0" smtClean="0"/>
          </a:p>
          <a:p>
            <a:pPr marL="0" indent="0">
              <a:buNone/>
            </a:pPr>
            <a:r>
              <a:rPr lang="ru-RU" b="1" u="sng" dirty="0" smtClean="0"/>
              <a:t>Шаг 3</a:t>
            </a:r>
            <a:r>
              <a:rPr lang="ru-RU" dirty="0"/>
              <a:t>. Чем ближе пользователь </a:t>
            </a:r>
            <a:r>
              <a:rPr lang="ru-RU" b="1" i="1" dirty="0"/>
              <a:t>u</a:t>
            </a:r>
            <a:r>
              <a:rPr lang="ru-RU" dirty="0"/>
              <a:t> к пользователю </a:t>
            </a:r>
            <a:r>
              <a:rPr lang="ru-RU" b="1" i="1" dirty="0"/>
              <a:t>a</a:t>
            </a:r>
            <a:r>
              <a:rPr lang="ru-RU" dirty="0"/>
              <a:t> (согласно мере </a:t>
            </a:r>
            <a:r>
              <a:rPr lang="ru-RU" dirty="0" smtClean="0"/>
              <a:t>подобия </a:t>
            </a:r>
            <a:r>
              <a:rPr lang="en-US" i="1" dirty="0"/>
              <a:t>cos</a:t>
            </a:r>
            <a:r>
              <a:rPr lang="en-US" dirty="0"/>
              <a:t>(</a:t>
            </a:r>
            <a:r>
              <a:rPr lang="en-US" b="1" i="1" dirty="0"/>
              <a:t>a</a:t>
            </a:r>
            <a:r>
              <a:rPr lang="en-US" dirty="0"/>
              <a:t>, </a:t>
            </a:r>
            <a:r>
              <a:rPr lang="en-US" b="1" i="1" dirty="0"/>
              <a:t>u</a:t>
            </a:r>
            <a:r>
              <a:rPr lang="en-US" dirty="0"/>
              <a:t>)</a:t>
            </a:r>
            <a:r>
              <a:rPr lang="ru-RU" dirty="0" smtClean="0"/>
              <a:t>, </a:t>
            </a:r>
            <a:r>
              <a:rPr lang="ru-RU" dirty="0"/>
              <a:t>вычисленной на </a:t>
            </a:r>
            <a:r>
              <a:rPr lang="ru-RU" b="1" u="sng" dirty="0" smtClean="0"/>
              <a:t>шаге 1</a:t>
            </a:r>
            <a:r>
              <a:rPr lang="ru-RU" dirty="0" smtClean="0"/>
              <a:t>), </a:t>
            </a:r>
            <a:r>
              <a:rPr lang="ru-RU" dirty="0"/>
              <a:t>тем сильнее его вклад в предсказание оценки. 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Алгоритм прогнозирует </a:t>
            </a:r>
            <a:r>
              <a:rPr lang="ru-RU" dirty="0"/>
              <a:t>оценки для объектов, которые </a:t>
            </a:r>
            <a:r>
              <a:rPr lang="ru-RU" dirty="0" smtClean="0"/>
              <a:t>пользователь </a:t>
            </a:r>
            <a:r>
              <a:rPr lang="ru-RU" b="1" i="1" dirty="0"/>
              <a:t>a </a:t>
            </a:r>
            <a:r>
              <a:rPr lang="ru-RU" dirty="0" smtClean="0"/>
              <a:t>еще </a:t>
            </a:r>
            <a:r>
              <a:rPr lang="ru-RU" dirty="0"/>
              <a:t>не </a:t>
            </a:r>
            <a:r>
              <a:rPr lang="ru-RU" dirty="0" smtClean="0"/>
              <a:t>оценил! </a:t>
            </a:r>
          </a:p>
          <a:p>
            <a:pPr marL="0" indent="0">
              <a:buNone/>
            </a:pPr>
            <a:r>
              <a:rPr lang="ru-RU" b="1" dirty="0" smtClean="0"/>
              <a:t>Для выполнения рекомендации </a:t>
            </a:r>
            <a:r>
              <a:rPr lang="ru-RU" dirty="0"/>
              <a:t>для </a:t>
            </a:r>
            <a:r>
              <a:rPr lang="ru-RU" dirty="0" smtClean="0"/>
              <a:t>пользователя </a:t>
            </a:r>
            <a:r>
              <a:rPr lang="ru-RU" b="1" i="1" dirty="0"/>
              <a:t>a</a:t>
            </a:r>
            <a:r>
              <a:rPr lang="ru-RU" dirty="0" smtClean="0"/>
              <a:t>, </a:t>
            </a:r>
            <a:r>
              <a:rPr lang="ru-RU" dirty="0"/>
              <a:t>достаточно </a:t>
            </a:r>
            <a:r>
              <a:rPr lang="ru-RU" dirty="0" smtClean="0"/>
              <a:t>рассчитать </a:t>
            </a:r>
            <a:r>
              <a:rPr lang="ru-RU" dirty="0"/>
              <a:t>оценки для всех </a:t>
            </a:r>
            <a:r>
              <a:rPr lang="ru-RU" dirty="0" smtClean="0"/>
              <a:t>неоцененных пользователем </a:t>
            </a:r>
            <a:r>
              <a:rPr lang="ru-RU" b="1" i="1" dirty="0"/>
              <a:t>a</a:t>
            </a:r>
            <a:r>
              <a:rPr lang="ru-RU" dirty="0" smtClean="0"/>
              <a:t> </a:t>
            </a:r>
            <a:r>
              <a:rPr lang="ru-RU" dirty="0"/>
              <a:t>объектов и выбрать объекты с наибольшей предсказанной оценкой.</a:t>
            </a:r>
            <a:endParaRPr lang="ru-RU" dirty="0" smtClean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32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36552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568952" cy="778098"/>
          </a:xfrm>
        </p:spPr>
        <p:txBody>
          <a:bodyPr>
            <a:normAutofit/>
          </a:bodyPr>
          <a:lstStyle/>
          <a:p>
            <a:r>
              <a:rPr lang="ru-RU" b="1" dirty="0" err="1" smtClean="0"/>
              <a:t>Коллаборативные</a:t>
            </a:r>
            <a:r>
              <a:rPr lang="ru-RU" b="1" dirty="0" smtClean="0"/>
              <a:t> РС. Алгоритмы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340768"/>
            <a:ext cx="8640960" cy="51125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u="sng" dirty="0" smtClean="0"/>
              <a:t>Пример алгоритма (</a:t>
            </a:r>
            <a:r>
              <a:rPr lang="en-US" dirty="0" smtClean="0"/>
              <a:t>item</a:t>
            </a:r>
            <a:r>
              <a:rPr lang="ru-RU" dirty="0" smtClean="0"/>
              <a:t>-</a:t>
            </a:r>
            <a:r>
              <a:rPr lang="ru-RU" dirty="0" err="1" smtClean="0"/>
              <a:t>based</a:t>
            </a:r>
            <a:r>
              <a:rPr lang="ru-RU" b="1" u="sng" dirty="0" smtClean="0"/>
              <a:t>)</a:t>
            </a:r>
            <a:r>
              <a:rPr lang="ru-RU" dirty="0" smtClean="0"/>
              <a:t>:</a:t>
            </a:r>
          </a:p>
          <a:p>
            <a:pPr marL="514350" indent="-514350">
              <a:buAutoNum type="arabicPeriod"/>
            </a:pPr>
            <a:r>
              <a:rPr lang="ru-RU" dirty="0" smtClean="0"/>
              <a:t>Для </a:t>
            </a:r>
            <a:r>
              <a:rPr lang="ru-RU" dirty="0"/>
              <a:t>каждого объекта </a:t>
            </a:r>
            <a:r>
              <a:rPr lang="ru-RU" b="1" i="1" dirty="0"/>
              <a:t>j</a:t>
            </a:r>
            <a:r>
              <a:rPr lang="ru-RU" dirty="0"/>
              <a:t> </a:t>
            </a:r>
            <a:r>
              <a:rPr lang="ru-RU" dirty="0" smtClean="0"/>
              <a:t>вычислить, </a:t>
            </a:r>
            <a:r>
              <a:rPr lang="ru-RU" dirty="0"/>
              <a:t>насколько он похож на объект </a:t>
            </a:r>
            <a:r>
              <a:rPr lang="ru-RU" b="1" i="1" dirty="0"/>
              <a:t>i</a:t>
            </a:r>
            <a:r>
              <a:rPr lang="ru-RU" dirty="0"/>
              <a:t>, для которого </a:t>
            </a:r>
            <a:r>
              <a:rPr lang="ru-RU" dirty="0" smtClean="0"/>
              <a:t>рассчитывается оценка</a:t>
            </a:r>
          </a:p>
          <a:p>
            <a:pPr marL="514350" indent="-514350">
              <a:buAutoNum type="arabicPeriod"/>
            </a:pPr>
            <a:r>
              <a:rPr lang="ru-RU" dirty="0" smtClean="0"/>
              <a:t>Выбрать </a:t>
            </a:r>
            <a:r>
              <a:rPr lang="ru-RU" dirty="0"/>
              <a:t>множество объектов, наиболее близких к </a:t>
            </a:r>
            <a:r>
              <a:rPr lang="ru-RU" b="1" i="1" dirty="0"/>
              <a:t>i</a:t>
            </a:r>
            <a:r>
              <a:rPr lang="ru-RU" dirty="0"/>
              <a:t> </a:t>
            </a:r>
            <a:endParaRPr lang="ru-RU" dirty="0" smtClean="0"/>
          </a:p>
          <a:p>
            <a:pPr marL="514350" indent="-514350">
              <a:buAutoNum type="arabicPeriod"/>
            </a:pPr>
            <a:r>
              <a:rPr lang="ru-RU" dirty="0" smtClean="0"/>
              <a:t>Рассчитать </a:t>
            </a:r>
            <a:r>
              <a:rPr lang="ru-RU" dirty="0"/>
              <a:t>оценку на основе оценок выбранных на </a:t>
            </a:r>
            <a:r>
              <a:rPr lang="ru-RU" b="1" u="sng" dirty="0" smtClean="0"/>
              <a:t>шаге 2</a:t>
            </a:r>
            <a:r>
              <a:rPr lang="ru-RU" dirty="0" smtClean="0"/>
              <a:t> </a:t>
            </a:r>
            <a:r>
              <a:rPr lang="ru-RU" dirty="0"/>
              <a:t>объектов пользователем </a:t>
            </a:r>
            <a:r>
              <a:rPr lang="ru-RU" b="1" i="1" dirty="0" smtClean="0"/>
              <a:t>a</a:t>
            </a:r>
            <a:endParaRPr lang="ru-RU" b="1" i="1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33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4782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568952" cy="778098"/>
          </a:xfrm>
        </p:spPr>
        <p:txBody>
          <a:bodyPr>
            <a:normAutofit/>
          </a:bodyPr>
          <a:lstStyle/>
          <a:p>
            <a:r>
              <a:rPr lang="ru-RU" b="1" dirty="0" err="1" smtClean="0"/>
              <a:t>Коллаборативные</a:t>
            </a:r>
            <a:r>
              <a:rPr lang="ru-RU" b="1" dirty="0" smtClean="0"/>
              <a:t> РС. Алгоритмы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340768"/>
            <a:ext cx="8640960" cy="51125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u="sng" dirty="0" smtClean="0"/>
              <a:t>Пример алгоритма (</a:t>
            </a:r>
            <a:r>
              <a:rPr lang="en-US" dirty="0" smtClean="0"/>
              <a:t>item</a:t>
            </a:r>
            <a:r>
              <a:rPr lang="ru-RU" dirty="0" smtClean="0"/>
              <a:t>-</a:t>
            </a:r>
            <a:r>
              <a:rPr lang="ru-RU" dirty="0" err="1" smtClean="0"/>
              <a:t>based</a:t>
            </a:r>
            <a:r>
              <a:rPr lang="ru-RU" b="1" u="sng" dirty="0" smtClean="0"/>
              <a:t>)</a:t>
            </a:r>
            <a:r>
              <a:rPr lang="ru-RU" dirty="0" smtClean="0"/>
              <a:t>:</a:t>
            </a:r>
          </a:p>
          <a:p>
            <a:pPr marL="514350" indent="-514350">
              <a:buAutoNum type="arabicPeriod"/>
            </a:pPr>
            <a:r>
              <a:rPr lang="ru-RU" dirty="0"/>
              <a:t>Сравнение объектов на </a:t>
            </a:r>
            <a:r>
              <a:rPr lang="ru-RU" b="1" u="sng" dirty="0" smtClean="0"/>
              <a:t>шаге 1</a:t>
            </a:r>
            <a:r>
              <a:rPr lang="ru-RU" dirty="0" smtClean="0"/>
              <a:t> </a:t>
            </a:r>
            <a:r>
              <a:rPr lang="ru-RU" dirty="0"/>
              <a:t>происходит также как и </a:t>
            </a:r>
            <a:r>
              <a:rPr lang="ru-RU" dirty="0" smtClean="0"/>
              <a:t>в </a:t>
            </a:r>
            <a:r>
              <a:rPr lang="en-US" dirty="0"/>
              <a:t>user</a:t>
            </a:r>
            <a:r>
              <a:rPr lang="ru-RU" dirty="0" smtClean="0"/>
              <a:t>-</a:t>
            </a:r>
            <a:r>
              <a:rPr lang="ru-RU" dirty="0" err="1" smtClean="0"/>
              <a:t>based</a:t>
            </a:r>
            <a:r>
              <a:rPr lang="ru-RU" dirty="0" smtClean="0"/>
              <a:t> алгоритме фильтрации</a:t>
            </a:r>
          </a:p>
          <a:p>
            <a:pPr marL="514350" indent="-514350">
              <a:buAutoNum type="arabicPeriod"/>
            </a:pPr>
            <a:r>
              <a:rPr lang="ru-RU" b="1" u="sng" dirty="0" smtClean="0"/>
              <a:t>Шаг 2</a:t>
            </a:r>
            <a:r>
              <a:rPr lang="ru-RU" dirty="0" smtClean="0"/>
              <a:t> </a:t>
            </a:r>
            <a:r>
              <a:rPr lang="ru-RU" dirty="0"/>
              <a:t>аналогичен </a:t>
            </a:r>
            <a:r>
              <a:rPr lang="ru-RU" b="1" u="sng" dirty="0" smtClean="0"/>
              <a:t>шагу 2</a:t>
            </a:r>
            <a:r>
              <a:rPr lang="ru-RU" dirty="0" smtClean="0"/>
              <a:t> </a:t>
            </a:r>
            <a:r>
              <a:rPr lang="en-US" dirty="0"/>
              <a:t>user</a:t>
            </a:r>
            <a:r>
              <a:rPr lang="ru-RU" dirty="0"/>
              <a:t>-</a:t>
            </a:r>
            <a:r>
              <a:rPr lang="ru-RU" dirty="0" err="1"/>
              <a:t>based</a:t>
            </a:r>
            <a:r>
              <a:rPr lang="ru-RU" dirty="0"/>
              <a:t> </a:t>
            </a:r>
            <a:r>
              <a:rPr lang="ru-RU" dirty="0" smtClean="0"/>
              <a:t>алгоритма. </a:t>
            </a:r>
            <a:r>
              <a:rPr lang="ru-RU" dirty="0"/>
              <a:t>Основное отличие в том, что </a:t>
            </a:r>
            <a:r>
              <a:rPr lang="ru-RU" b="1" i="1" dirty="0"/>
              <a:t>K</a:t>
            </a:r>
            <a:r>
              <a:rPr lang="ru-RU" dirty="0"/>
              <a:t> – множество близких к </a:t>
            </a:r>
            <a:r>
              <a:rPr lang="ru-RU" b="1" i="1" dirty="0"/>
              <a:t>i</a:t>
            </a:r>
            <a:r>
              <a:rPr lang="ru-RU" dirty="0"/>
              <a:t> </a:t>
            </a:r>
            <a:r>
              <a:rPr lang="ru-RU" dirty="0" smtClean="0"/>
              <a:t>объектов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/* </a:t>
            </a:r>
            <a:r>
              <a:rPr lang="ru-RU" dirty="0" smtClean="0"/>
              <a:t>желательно отбирать только в множество </a:t>
            </a:r>
            <a:r>
              <a:rPr lang="ru-RU" b="1" i="1" dirty="0"/>
              <a:t>K</a:t>
            </a:r>
            <a:r>
              <a:rPr lang="ru-RU" dirty="0" smtClean="0"/>
              <a:t> те объекты, которые оценил пользователь </a:t>
            </a:r>
            <a:r>
              <a:rPr lang="en-US" b="1" i="1" dirty="0" smtClean="0"/>
              <a:t>a</a:t>
            </a:r>
            <a:r>
              <a:rPr lang="en-US" dirty="0" smtClean="0"/>
              <a:t> */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34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57249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568952" cy="778098"/>
          </a:xfrm>
        </p:spPr>
        <p:txBody>
          <a:bodyPr>
            <a:normAutofit/>
          </a:bodyPr>
          <a:lstStyle/>
          <a:p>
            <a:r>
              <a:rPr lang="ru-RU" b="1" dirty="0" err="1" smtClean="0"/>
              <a:t>Коллаборативные</a:t>
            </a:r>
            <a:r>
              <a:rPr lang="ru-RU" b="1" dirty="0" smtClean="0"/>
              <a:t> РС. Алгоритмы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340768"/>
            <a:ext cx="8640960" cy="511256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b="1" u="sng" dirty="0" smtClean="0"/>
              <a:t>Пример алгоритма (</a:t>
            </a:r>
            <a:r>
              <a:rPr lang="en-US" dirty="0" smtClean="0"/>
              <a:t>item</a:t>
            </a:r>
            <a:r>
              <a:rPr lang="ru-RU" dirty="0" smtClean="0"/>
              <a:t>-</a:t>
            </a:r>
            <a:r>
              <a:rPr lang="ru-RU" dirty="0" err="1" smtClean="0"/>
              <a:t>based</a:t>
            </a:r>
            <a:r>
              <a:rPr lang="ru-RU" b="1" u="sng" dirty="0" smtClean="0"/>
              <a:t>)</a:t>
            </a:r>
            <a:r>
              <a:rPr lang="ru-RU" dirty="0" smtClean="0"/>
              <a:t>:</a:t>
            </a:r>
            <a:endParaRPr lang="en-US" dirty="0" smtClean="0"/>
          </a:p>
          <a:p>
            <a:pPr marL="0" indent="0">
              <a:buNone/>
            </a:pPr>
            <a:r>
              <a:rPr lang="ru-RU" b="1" u="sng" dirty="0" smtClean="0"/>
              <a:t>Шаг 3</a:t>
            </a:r>
            <a:r>
              <a:rPr lang="ru-RU" dirty="0"/>
              <a:t>. </a:t>
            </a:r>
            <a:r>
              <a:rPr lang="ru-RU" dirty="0" smtClean="0"/>
              <a:t>Предполагаемая </a:t>
            </a:r>
            <a:r>
              <a:rPr lang="ru-RU" dirty="0"/>
              <a:t>оценка вычисляется </a:t>
            </a:r>
            <a:r>
              <a:rPr lang="ru-RU" dirty="0" smtClean="0"/>
              <a:t>так: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US" sz="6200" dirty="0" smtClean="0"/>
              <a:t>                    </a:t>
            </a:r>
            <a:r>
              <a:rPr lang="en-US" sz="6300" dirty="0" smtClean="0"/>
              <a:t>∑</a:t>
            </a:r>
            <a:r>
              <a:rPr lang="en-US" b="1" i="1" dirty="0" smtClean="0"/>
              <a:t>j</a:t>
            </a:r>
            <a:r>
              <a:rPr lang="el-GR" dirty="0" smtClean="0"/>
              <a:t>ϵ</a:t>
            </a:r>
            <a:r>
              <a:rPr lang="en-US" b="1" i="1" dirty="0" smtClean="0"/>
              <a:t>K </a:t>
            </a:r>
            <a:r>
              <a:rPr lang="en-US" sz="6300" i="1" dirty="0" err="1" smtClean="0"/>
              <a:t>r</a:t>
            </a:r>
            <a:r>
              <a:rPr lang="en-US" i="1" dirty="0" err="1" smtClean="0"/>
              <a:t>a,j</a:t>
            </a:r>
            <a:r>
              <a:rPr lang="en-US" i="1" dirty="0" smtClean="0"/>
              <a:t>  </a:t>
            </a:r>
            <a:r>
              <a:rPr lang="ru-RU" sz="5100" dirty="0" smtClean="0"/>
              <a:t>х </a:t>
            </a:r>
            <a:r>
              <a:rPr lang="en-US" sz="5700" i="1" dirty="0" smtClean="0"/>
              <a:t>cos</a:t>
            </a:r>
            <a:r>
              <a:rPr lang="en-US" sz="5700" dirty="0" smtClean="0"/>
              <a:t>(</a:t>
            </a:r>
            <a:r>
              <a:rPr lang="en-US" sz="5700" b="1" i="1" dirty="0" err="1" smtClean="0"/>
              <a:t>i</a:t>
            </a:r>
            <a:r>
              <a:rPr lang="en-US" sz="5700" dirty="0" smtClean="0"/>
              <a:t>, </a:t>
            </a:r>
            <a:r>
              <a:rPr lang="en-US" sz="5700" b="1" i="1" dirty="0" smtClean="0"/>
              <a:t>j</a:t>
            </a:r>
            <a:r>
              <a:rPr lang="en-US" sz="5700" dirty="0" smtClean="0"/>
              <a:t>)</a:t>
            </a:r>
            <a:endParaRPr lang="en-US" b="1" dirty="0"/>
          </a:p>
          <a:p>
            <a:pPr marL="0" indent="0">
              <a:buNone/>
            </a:pPr>
            <a:r>
              <a:rPr lang="en-US" sz="6200" i="1" dirty="0" smtClean="0"/>
              <a:t>        </a:t>
            </a:r>
            <a:r>
              <a:rPr lang="en-US" sz="6300" i="1" dirty="0" err="1" smtClean="0"/>
              <a:t>Pr</a:t>
            </a:r>
            <a:r>
              <a:rPr lang="en-US" i="1" dirty="0" err="1" smtClean="0"/>
              <a:t>a,i</a:t>
            </a:r>
            <a:r>
              <a:rPr lang="en-US" dirty="0" smtClean="0"/>
              <a:t> </a:t>
            </a:r>
            <a:r>
              <a:rPr lang="en-US" sz="6300" dirty="0" smtClean="0"/>
              <a:t>=</a:t>
            </a:r>
            <a:r>
              <a:rPr lang="en-US" sz="5700" dirty="0" smtClean="0"/>
              <a:t>  </a:t>
            </a:r>
          </a:p>
          <a:p>
            <a:pPr marL="0" indent="0">
              <a:buNone/>
            </a:pPr>
            <a:r>
              <a:rPr lang="en-US" sz="6300" dirty="0" smtClean="0"/>
              <a:t>                     ∑</a:t>
            </a:r>
            <a:r>
              <a:rPr lang="en-US" b="1" i="1" dirty="0" smtClean="0"/>
              <a:t>j</a:t>
            </a:r>
            <a:r>
              <a:rPr lang="el-GR" dirty="0" smtClean="0"/>
              <a:t>ϵ</a:t>
            </a:r>
            <a:r>
              <a:rPr lang="en-US" b="1" i="1" dirty="0" smtClean="0"/>
              <a:t>K </a:t>
            </a:r>
            <a:r>
              <a:rPr lang="en-US" sz="5700" dirty="0" smtClean="0"/>
              <a:t>|</a:t>
            </a:r>
            <a:r>
              <a:rPr lang="ru-RU" dirty="0" smtClean="0"/>
              <a:t> </a:t>
            </a:r>
            <a:r>
              <a:rPr lang="en-US" sz="5700" i="1" dirty="0" smtClean="0"/>
              <a:t>cos</a:t>
            </a:r>
            <a:r>
              <a:rPr lang="en-US" sz="5700" dirty="0" smtClean="0"/>
              <a:t>(</a:t>
            </a:r>
            <a:r>
              <a:rPr lang="en-US" sz="5700" b="1" i="1" dirty="0" err="1" smtClean="0"/>
              <a:t>i</a:t>
            </a:r>
            <a:r>
              <a:rPr lang="en-US" sz="5700" dirty="0" smtClean="0"/>
              <a:t>, </a:t>
            </a:r>
            <a:r>
              <a:rPr lang="en-US" sz="5700" b="1" i="1" dirty="0" smtClean="0"/>
              <a:t>j</a:t>
            </a:r>
            <a:r>
              <a:rPr lang="en-US" sz="5700" dirty="0" smtClean="0"/>
              <a:t>) |</a:t>
            </a:r>
            <a:endParaRPr lang="ru-RU" dirty="0" smtClean="0"/>
          </a:p>
          <a:p>
            <a:pPr marL="0" indent="0">
              <a:buNone/>
            </a:pPr>
            <a:endParaRPr lang="en-US" sz="4000" b="1" i="1" dirty="0" smtClean="0"/>
          </a:p>
          <a:p>
            <a:pPr marL="0" indent="0">
              <a:buNone/>
            </a:pPr>
            <a:r>
              <a:rPr lang="en-US" sz="4000" b="1" i="1" dirty="0" err="1" smtClean="0"/>
              <a:t>Pr</a:t>
            </a:r>
            <a:r>
              <a:rPr lang="ru-RU" sz="2600" i="1" dirty="0" err="1" smtClean="0"/>
              <a:t>a,i</a:t>
            </a:r>
            <a:r>
              <a:rPr lang="ru-RU" dirty="0" smtClean="0"/>
              <a:t> </a:t>
            </a:r>
            <a:r>
              <a:rPr lang="ru-RU" dirty="0"/>
              <a:t>– </a:t>
            </a:r>
            <a:r>
              <a:rPr lang="ru-RU" dirty="0" smtClean="0"/>
              <a:t>предполагаемая </a:t>
            </a:r>
            <a:r>
              <a:rPr lang="ru-RU" dirty="0"/>
              <a:t>оценка пользователя </a:t>
            </a:r>
            <a:r>
              <a:rPr lang="ru-RU" b="1" i="1" dirty="0"/>
              <a:t>a</a:t>
            </a:r>
            <a:r>
              <a:rPr lang="ru-RU" dirty="0"/>
              <a:t> для объекта </a:t>
            </a:r>
            <a:r>
              <a:rPr lang="ru-RU" b="1" i="1" dirty="0" smtClean="0"/>
              <a:t>i</a:t>
            </a:r>
            <a:r>
              <a:rPr lang="ru-RU" dirty="0" smtClean="0"/>
              <a:t> </a:t>
            </a:r>
            <a:endParaRPr lang="en-US" dirty="0" smtClean="0"/>
          </a:p>
          <a:p>
            <a:pPr marL="0" indent="0">
              <a:buNone/>
            </a:pPr>
            <a:r>
              <a:rPr lang="en-US" sz="4100" i="1" dirty="0" err="1"/>
              <a:t>r</a:t>
            </a:r>
            <a:r>
              <a:rPr lang="en-US" sz="2600" i="1" dirty="0" err="1"/>
              <a:t>a,j</a:t>
            </a:r>
            <a:r>
              <a:rPr lang="en-US" sz="3100" i="1" dirty="0"/>
              <a:t> </a:t>
            </a:r>
            <a:r>
              <a:rPr lang="ru-RU" sz="3100" dirty="0"/>
              <a:t>–</a:t>
            </a:r>
            <a:r>
              <a:rPr lang="en-US" sz="3100" dirty="0" smtClean="0"/>
              <a:t> </a:t>
            </a:r>
            <a:r>
              <a:rPr lang="ru-RU" sz="3100" dirty="0" smtClean="0"/>
              <a:t>оценка пользователем </a:t>
            </a:r>
            <a:r>
              <a:rPr lang="ru-RU" sz="3100" b="1" i="1" dirty="0"/>
              <a:t>a</a:t>
            </a:r>
            <a:r>
              <a:rPr lang="ru-RU" sz="3100" dirty="0"/>
              <a:t> </a:t>
            </a:r>
            <a:r>
              <a:rPr lang="ru-RU" sz="3100" dirty="0" smtClean="0"/>
              <a:t>объекта </a:t>
            </a:r>
            <a:r>
              <a:rPr lang="en-US" sz="3100" b="1" i="1" dirty="0" smtClean="0"/>
              <a:t>j</a:t>
            </a:r>
            <a:r>
              <a:rPr lang="en-US" sz="3100" dirty="0" smtClean="0"/>
              <a:t> (</a:t>
            </a:r>
            <a:r>
              <a:rPr lang="ru-RU" sz="3100" dirty="0" smtClean="0"/>
              <a:t>только если </a:t>
            </a:r>
            <a:r>
              <a:rPr lang="en-US" sz="3100" b="1" i="1" dirty="0" smtClean="0"/>
              <a:t>a</a:t>
            </a:r>
            <a:r>
              <a:rPr lang="en-US" sz="3100" dirty="0" smtClean="0"/>
              <a:t> </a:t>
            </a:r>
            <a:r>
              <a:rPr lang="ru-RU" sz="3100" dirty="0" smtClean="0"/>
              <a:t>оценил</a:t>
            </a:r>
            <a:r>
              <a:rPr lang="ru-RU" sz="3100" b="1" dirty="0" smtClean="0"/>
              <a:t>!</a:t>
            </a:r>
            <a:r>
              <a:rPr lang="ru-RU" sz="3100" dirty="0" smtClean="0"/>
              <a:t>)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35</a:t>
            </a:fld>
            <a:endParaRPr lang="ru-RU" dirty="0"/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2916800" y="3644040"/>
            <a:ext cx="3887448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9963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568952" cy="778098"/>
          </a:xfrm>
        </p:spPr>
        <p:txBody>
          <a:bodyPr>
            <a:normAutofit/>
          </a:bodyPr>
          <a:lstStyle/>
          <a:p>
            <a:r>
              <a:rPr lang="ru-RU" b="1" dirty="0" err="1" smtClean="0"/>
              <a:t>Коллаборативные</a:t>
            </a:r>
            <a:r>
              <a:rPr lang="ru-RU" b="1" dirty="0" smtClean="0"/>
              <a:t> РС. Алгоритмы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340768"/>
            <a:ext cx="8640960" cy="511256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b="1" u="sng" dirty="0" smtClean="0"/>
              <a:t>Пример алгоритма (</a:t>
            </a:r>
            <a:r>
              <a:rPr lang="en-US" dirty="0" smtClean="0"/>
              <a:t>item</a:t>
            </a:r>
            <a:r>
              <a:rPr lang="ru-RU" dirty="0" smtClean="0"/>
              <a:t>-</a:t>
            </a:r>
            <a:r>
              <a:rPr lang="ru-RU" dirty="0" err="1" smtClean="0"/>
              <a:t>based</a:t>
            </a:r>
            <a:r>
              <a:rPr lang="ru-RU" b="1" u="sng" dirty="0" smtClean="0"/>
              <a:t>)</a:t>
            </a:r>
            <a:r>
              <a:rPr lang="ru-RU" dirty="0" smtClean="0"/>
              <a:t>:</a:t>
            </a:r>
            <a:endParaRPr lang="en-US" dirty="0" smtClean="0"/>
          </a:p>
          <a:p>
            <a:pPr marL="0" indent="0">
              <a:buNone/>
            </a:pPr>
            <a:r>
              <a:rPr lang="ru-RU" b="1" u="sng" dirty="0" smtClean="0"/>
              <a:t>Шаг 3</a:t>
            </a:r>
            <a:r>
              <a:rPr lang="ru-RU" dirty="0"/>
              <a:t>. </a:t>
            </a:r>
            <a:r>
              <a:rPr lang="ru-RU" dirty="0" smtClean="0"/>
              <a:t>Предполагаемая </a:t>
            </a:r>
            <a:r>
              <a:rPr lang="ru-RU" dirty="0"/>
              <a:t>оценка вычисляется </a:t>
            </a:r>
            <a:r>
              <a:rPr lang="ru-RU" dirty="0" smtClean="0"/>
              <a:t>так: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US" sz="6200" dirty="0" smtClean="0"/>
              <a:t>                    </a:t>
            </a:r>
            <a:r>
              <a:rPr lang="en-US" sz="6300" dirty="0" smtClean="0"/>
              <a:t>∑</a:t>
            </a:r>
            <a:r>
              <a:rPr lang="en-US" b="1" i="1" dirty="0" smtClean="0"/>
              <a:t>j</a:t>
            </a:r>
            <a:r>
              <a:rPr lang="el-GR" dirty="0" smtClean="0"/>
              <a:t>ϵ</a:t>
            </a:r>
            <a:r>
              <a:rPr lang="en-US" b="1" i="1" dirty="0" smtClean="0"/>
              <a:t>K, u</a:t>
            </a:r>
            <a:r>
              <a:rPr lang="el-GR" dirty="0" smtClean="0"/>
              <a:t>ϵ</a:t>
            </a:r>
            <a:r>
              <a:rPr lang="en-US" b="1" i="1" dirty="0" smtClean="0"/>
              <a:t>U </a:t>
            </a:r>
            <a:r>
              <a:rPr lang="en-US" sz="6300" i="1" u="sng" dirty="0" err="1" smtClean="0"/>
              <a:t>r</a:t>
            </a:r>
            <a:r>
              <a:rPr lang="en-US" i="1" u="sng" dirty="0" err="1" smtClean="0"/>
              <a:t>u,i</a:t>
            </a:r>
            <a:r>
              <a:rPr lang="en-US" i="1" dirty="0" smtClean="0"/>
              <a:t>  </a:t>
            </a:r>
            <a:r>
              <a:rPr lang="ru-RU" sz="5100" dirty="0" smtClean="0"/>
              <a:t>х </a:t>
            </a:r>
            <a:r>
              <a:rPr lang="en-US" sz="5700" i="1" dirty="0" smtClean="0"/>
              <a:t>cos</a:t>
            </a:r>
            <a:r>
              <a:rPr lang="en-US" sz="5700" dirty="0" smtClean="0"/>
              <a:t>(</a:t>
            </a:r>
            <a:r>
              <a:rPr lang="en-US" sz="5700" b="1" i="1" dirty="0" err="1" smtClean="0"/>
              <a:t>i</a:t>
            </a:r>
            <a:r>
              <a:rPr lang="en-US" sz="5700" dirty="0" smtClean="0"/>
              <a:t>, </a:t>
            </a:r>
            <a:r>
              <a:rPr lang="en-US" sz="5700" b="1" i="1" dirty="0" smtClean="0"/>
              <a:t>j</a:t>
            </a:r>
            <a:r>
              <a:rPr lang="en-US" sz="5700" dirty="0" smtClean="0"/>
              <a:t>)</a:t>
            </a:r>
            <a:endParaRPr lang="en-US" b="1" dirty="0"/>
          </a:p>
          <a:p>
            <a:pPr marL="0" indent="0">
              <a:buNone/>
            </a:pPr>
            <a:r>
              <a:rPr lang="en-US" sz="6200" i="1" dirty="0" smtClean="0"/>
              <a:t>        </a:t>
            </a:r>
            <a:r>
              <a:rPr lang="en-US" sz="6300" i="1" dirty="0" err="1" smtClean="0"/>
              <a:t>Pr</a:t>
            </a:r>
            <a:r>
              <a:rPr lang="en-US" i="1" dirty="0" err="1" smtClean="0"/>
              <a:t>a,i</a:t>
            </a:r>
            <a:r>
              <a:rPr lang="en-US" dirty="0" smtClean="0"/>
              <a:t> </a:t>
            </a:r>
            <a:r>
              <a:rPr lang="en-US" sz="6300" dirty="0" smtClean="0"/>
              <a:t>=</a:t>
            </a:r>
            <a:r>
              <a:rPr lang="en-US" sz="5700" dirty="0" smtClean="0"/>
              <a:t>  </a:t>
            </a:r>
          </a:p>
          <a:p>
            <a:pPr marL="0" indent="0">
              <a:buNone/>
            </a:pPr>
            <a:r>
              <a:rPr lang="en-US" sz="6300" dirty="0" smtClean="0"/>
              <a:t>                     ∑</a:t>
            </a:r>
            <a:r>
              <a:rPr lang="en-US" b="1" i="1" dirty="0" smtClean="0"/>
              <a:t>j</a:t>
            </a:r>
            <a:r>
              <a:rPr lang="el-GR" dirty="0" smtClean="0"/>
              <a:t>ϵ</a:t>
            </a:r>
            <a:r>
              <a:rPr lang="en-US" b="1" i="1" dirty="0" smtClean="0"/>
              <a:t>K </a:t>
            </a:r>
            <a:r>
              <a:rPr lang="en-US" sz="5700" dirty="0" smtClean="0"/>
              <a:t>|</a:t>
            </a:r>
            <a:r>
              <a:rPr lang="ru-RU" dirty="0" smtClean="0"/>
              <a:t> </a:t>
            </a:r>
            <a:r>
              <a:rPr lang="en-US" sz="5700" i="1" dirty="0" smtClean="0"/>
              <a:t>cos</a:t>
            </a:r>
            <a:r>
              <a:rPr lang="en-US" sz="5700" dirty="0" smtClean="0"/>
              <a:t>(</a:t>
            </a:r>
            <a:r>
              <a:rPr lang="en-US" sz="5700" b="1" i="1" dirty="0" err="1" smtClean="0"/>
              <a:t>i</a:t>
            </a:r>
            <a:r>
              <a:rPr lang="en-US" sz="5700" dirty="0" smtClean="0"/>
              <a:t>, </a:t>
            </a:r>
            <a:r>
              <a:rPr lang="en-US" sz="5700" b="1" i="1" dirty="0" smtClean="0"/>
              <a:t>j</a:t>
            </a:r>
            <a:r>
              <a:rPr lang="en-US" sz="5700" dirty="0" smtClean="0"/>
              <a:t>) |</a:t>
            </a:r>
            <a:endParaRPr lang="ru-RU" dirty="0" smtClean="0"/>
          </a:p>
          <a:p>
            <a:pPr marL="0" indent="0">
              <a:buNone/>
            </a:pPr>
            <a:endParaRPr lang="en-US" sz="4000" b="1" i="1" dirty="0" smtClean="0"/>
          </a:p>
          <a:p>
            <a:pPr marL="0" indent="0">
              <a:buNone/>
            </a:pPr>
            <a:r>
              <a:rPr lang="en-US" sz="4000" b="1" i="1" dirty="0" err="1" smtClean="0"/>
              <a:t>Pr</a:t>
            </a:r>
            <a:r>
              <a:rPr lang="ru-RU" sz="2600" i="1" dirty="0" err="1" smtClean="0"/>
              <a:t>a,i</a:t>
            </a:r>
            <a:r>
              <a:rPr lang="ru-RU" dirty="0" smtClean="0"/>
              <a:t> </a:t>
            </a:r>
            <a:r>
              <a:rPr lang="ru-RU" dirty="0"/>
              <a:t>– </a:t>
            </a:r>
            <a:r>
              <a:rPr lang="ru-RU" dirty="0" smtClean="0"/>
              <a:t>предполагаемая </a:t>
            </a:r>
            <a:r>
              <a:rPr lang="ru-RU" dirty="0"/>
              <a:t>оценка пользователя </a:t>
            </a:r>
            <a:r>
              <a:rPr lang="ru-RU" b="1" i="1" dirty="0"/>
              <a:t>a</a:t>
            </a:r>
            <a:r>
              <a:rPr lang="ru-RU" dirty="0"/>
              <a:t> для объекта </a:t>
            </a:r>
            <a:r>
              <a:rPr lang="ru-RU" b="1" i="1" dirty="0" smtClean="0"/>
              <a:t>i</a:t>
            </a:r>
            <a:r>
              <a:rPr lang="ru-RU" dirty="0" smtClean="0"/>
              <a:t> </a:t>
            </a:r>
            <a:endParaRPr lang="en-US" dirty="0" smtClean="0"/>
          </a:p>
          <a:p>
            <a:pPr marL="0" indent="0">
              <a:buNone/>
            </a:pPr>
            <a:r>
              <a:rPr lang="en-US" sz="4100" b="1" i="1" u="sng" dirty="0" err="1"/>
              <a:t>r</a:t>
            </a:r>
            <a:r>
              <a:rPr lang="en-US" sz="2600" b="1" i="1" u="sng" dirty="0" err="1"/>
              <a:t>u,i</a:t>
            </a:r>
            <a:r>
              <a:rPr lang="en-US" dirty="0"/>
              <a:t> </a:t>
            </a:r>
            <a:r>
              <a:rPr lang="ru-RU" dirty="0" smtClean="0"/>
              <a:t>–</a:t>
            </a:r>
            <a:r>
              <a:rPr lang="en-US" dirty="0" smtClean="0"/>
              <a:t> </a:t>
            </a:r>
            <a:r>
              <a:rPr lang="ru-RU" dirty="0" smtClean="0"/>
              <a:t>средняя оценка пользователей </a:t>
            </a:r>
            <a:r>
              <a:rPr lang="en-US" b="1" i="1" dirty="0"/>
              <a:t>u</a:t>
            </a:r>
            <a:r>
              <a:rPr lang="el-GR" dirty="0"/>
              <a:t>ϵ</a:t>
            </a:r>
            <a:r>
              <a:rPr lang="en-US" b="1" i="1" dirty="0" smtClean="0"/>
              <a:t>U</a:t>
            </a:r>
            <a:r>
              <a:rPr lang="ru-RU" dirty="0" smtClean="0"/>
              <a:t> (все множество пользователей) для </a:t>
            </a:r>
            <a:r>
              <a:rPr lang="ru-RU" dirty="0"/>
              <a:t>объекта </a:t>
            </a:r>
            <a:r>
              <a:rPr lang="ru-RU" b="1" i="1" dirty="0" smtClean="0"/>
              <a:t>i </a:t>
            </a:r>
            <a:r>
              <a:rPr lang="ru-RU" dirty="0" smtClean="0"/>
              <a:t>(учитываются только пользователи, давшие оценки), /* </a:t>
            </a:r>
            <a:r>
              <a:rPr lang="en-US" b="1" dirty="0" smtClean="0"/>
              <a:t>!!! </a:t>
            </a:r>
            <a:r>
              <a:rPr lang="ru-RU" dirty="0" smtClean="0"/>
              <a:t>если нет оценок </a:t>
            </a:r>
            <a:r>
              <a:rPr lang="en-US" b="1" i="1" dirty="0" smtClean="0"/>
              <a:t>a</a:t>
            </a:r>
            <a:r>
              <a:rPr lang="en-US" dirty="0" smtClean="0"/>
              <a:t> </a:t>
            </a:r>
            <a:r>
              <a:rPr lang="ru-RU" dirty="0" smtClean="0"/>
              <a:t>для </a:t>
            </a:r>
            <a:r>
              <a:rPr lang="en-US" b="1" i="1" dirty="0" smtClean="0"/>
              <a:t>j</a:t>
            </a:r>
            <a:r>
              <a:rPr lang="en-US" dirty="0" smtClean="0"/>
              <a:t> </a:t>
            </a:r>
            <a:r>
              <a:rPr lang="en-US" b="1" dirty="0"/>
              <a:t>!!! </a:t>
            </a:r>
            <a:r>
              <a:rPr lang="en-US" dirty="0" smtClean="0"/>
              <a:t>*/</a:t>
            </a:r>
            <a:endParaRPr lang="ru-RU" dirty="0" smtClean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36</a:t>
            </a:fld>
            <a:endParaRPr lang="ru-RU" dirty="0"/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2771800" y="3356992"/>
            <a:ext cx="3744416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0784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568952" cy="778098"/>
          </a:xfrm>
        </p:spPr>
        <p:txBody>
          <a:bodyPr>
            <a:normAutofit/>
          </a:bodyPr>
          <a:lstStyle/>
          <a:p>
            <a:r>
              <a:rPr lang="ru-RU" b="1" dirty="0" err="1" smtClean="0"/>
              <a:t>Коллаборативные</a:t>
            </a:r>
            <a:r>
              <a:rPr lang="ru-RU" b="1" dirty="0" smtClean="0"/>
              <a:t> РС. Алгоритмы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340768"/>
            <a:ext cx="8640960" cy="511256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u="sng" dirty="0" smtClean="0"/>
              <a:t>Преимущества алгоритма (</a:t>
            </a:r>
            <a:r>
              <a:rPr lang="en-US" dirty="0" smtClean="0"/>
              <a:t>item</a:t>
            </a:r>
            <a:r>
              <a:rPr lang="ru-RU" dirty="0" smtClean="0"/>
              <a:t>-</a:t>
            </a:r>
            <a:r>
              <a:rPr lang="ru-RU" dirty="0" err="1" smtClean="0"/>
              <a:t>based</a:t>
            </a:r>
            <a:r>
              <a:rPr lang="ru-RU" b="1" u="sng" dirty="0" smtClean="0"/>
              <a:t>)</a:t>
            </a:r>
            <a:r>
              <a:rPr lang="ru-RU" dirty="0" smtClean="0"/>
              <a:t>:</a:t>
            </a:r>
            <a:endParaRPr lang="en-US" dirty="0" smtClean="0"/>
          </a:p>
          <a:p>
            <a:pPr marL="514350" indent="-514350">
              <a:buAutoNum type="arabicPeriod"/>
            </a:pPr>
            <a:r>
              <a:rPr lang="ru-RU" dirty="0" smtClean="0"/>
              <a:t>При </a:t>
            </a:r>
            <a:r>
              <a:rPr lang="ru-RU" dirty="0"/>
              <a:t>сравнении объектов достаточно посчитать меру подобия и сохранить в </a:t>
            </a:r>
            <a:r>
              <a:rPr lang="ru-RU" dirty="0" smtClean="0"/>
              <a:t>памяти, т.к. интересы </a:t>
            </a:r>
            <a:r>
              <a:rPr lang="ru-RU" dirty="0"/>
              <a:t>пользователей часто меняются, а средняя оценка объекта остается </a:t>
            </a:r>
            <a:r>
              <a:rPr lang="ru-RU" dirty="0" smtClean="0"/>
              <a:t>более менее постоянной</a:t>
            </a:r>
          </a:p>
          <a:p>
            <a:pPr marL="514350" indent="-514350">
              <a:buAutoNum type="arabicPeriod"/>
            </a:pPr>
            <a:r>
              <a:rPr lang="ru-RU" dirty="0" smtClean="0"/>
              <a:t>Нет необходимости в </a:t>
            </a:r>
            <a:r>
              <a:rPr lang="ru-RU" dirty="0"/>
              <a:t>частом обновлении </a:t>
            </a:r>
            <a:r>
              <a:rPr lang="ru-RU" dirty="0" smtClean="0"/>
              <a:t>мер подобия </a:t>
            </a:r>
          </a:p>
          <a:p>
            <a:pPr marL="514350" indent="-514350">
              <a:buAutoNum type="arabicPeriod"/>
            </a:pPr>
            <a:r>
              <a:rPr lang="ru-RU" dirty="0" smtClean="0"/>
              <a:t>Меры подобия </a:t>
            </a:r>
            <a:r>
              <a:rPr lang="ru-RU" dirty="0"/>
              <a:t>можно посчитать в </a:t>
            </a:r>
            <a:r>
              <a:rPr lang="ru-RU" dirty="0" err="1"/>
              <a:t>оффлайне</a:t>
            </a:r>
            <a:r>
              <a:rPr lang="ru-RU" dirty="0"/>
              <a:t>, </a:t>
            </a:r>
            <a:r>
              <a:rPr lang="ru-RU" dirty="0" smtClean="0"/>
              <a:t> </a:t>
            </a:r>
            <a:r>
              <a:rPr lang="ru-RU" dirty="0"/>
              <a:t>когда в системе нет активных </a:t>
            </a:r>
            <a:r>
              <a:rPr lang="ru-RU" dirty="0" smtClean="0"/>
              <a:t>пользователей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37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6467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Литература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Фальк, Ким. Рекомендательные системы на практике. М.: ДМК – 2020</a:t>
            </a:r>
            <a:r>
              <a:rPr lang="ru-RU" dirty="0" smtClean="0"/>
              <a:t>.</a:t>
            </a:r>
          </a:p>
          <a:p>
            <a:r>
              <a:rPr lang="ru-RU" dirty="0" err="1" smtClean="0"/>
              <a:t>Констан</a:t>
            </a:r>
            <a:r>
              <a:rPr lang="ru-RU" dirty="0" smtClean="0"/>
              <a:t>, Джозеф А., </a:t>
            </a:r>
            <a:r>
              <a:rPr lang="ru-RU" dirty="0" err="1" smtClean="0"/>
              <a:t>Экстранд</a:t>
            </a:r>
            <a:r>
              <a:rPr lang="ru-RU" dirty="0" smtClean="0"/>
              <a:t>, Майкл Д. Введение в рекомендательные системы.</a:t>
            </a:r>
          </a:p>
          <a:p>
            <a:r>
              <a:rPr lang="ru-RU" dirty="0" smtClean="0"/>
              <a:t>Джексон, П. Введение в экспертные системы.</a:t>
            </a:r>
          </a:p>
          <a:p>
            <a:endParaRPr lang="ru-RU" dirty="0" smtClean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38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7486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908</TotalTime>
  <Words>1445</Words>
  <Application>Microsoft Office PowerPoint</Application>
  <PresentationFormat>Экран (4:3)</PresentationFormat>
  <Paragraphs>205</Paragraphs>
  <Slides>38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38</vt:i4>
      </vt:variant>
    </vt:vector>
  </HeadingPairs>
  <TitlesOfParts>
    <vt:vector size="39" baseType="lpstr">
      <vt:lpstr>Тема Office</vt:lpstr>
      <vt:lpstr>Экспертные и рекомендательные информационно-аналитические системы (Раздел 2)</vt:lpstr>
      <vt:lpstr>Рекомендательные системы</vt:lpstr>
      <vt:lpstr>Что общего у ЭС и РС</vt:lpstr>
      <vt:lpstr>Рекомендательные системы</vt:lpstr>
      <vt:lpstr>История РС</vt:lpstr>
      <vt:lpstr>Типы РС</vt:lpstr>
      <vt:lpstr>РС на основе популярности</vt:lpstr>
      <vt:lpstr>РС на основе содержания</vt:lpstr>
      <vt:lpstr>РС на основе содержания</vt:lpstr>
      <vt:lpstr>РС на основе содержания</vt:lpstr>
      <vt:lpstr>Коллаборативные РС</vt:lpstr>
      <vt:lpstr>Коллаборативные РС</vt:lpstr>
      <vt:lpstr>Матрицы предпочтений</vt:lpstr>
      <vt:lpstr>Проблема низких рейтингов</vt:lpstr>
      <vt:lpstr>Проблема объема матрицы</vt:lpstr>
      <vt:lpstr>Проблема разреженных матриц</vt:lpstr>
      <vt:lpstr>Проблема разреженных матриц</vt:lpstr>
      <vt:lpstr>Проблема разреженных матриц</vt:lpstr>
      <vt:lpstr>Косинусное подобие</vt:lpstr>
      <vt:lpstr>РС на пользователях (user-based)</vt:lpstr>
      <vt:lpstr>РС на пользователях (user-based)</vt:lpstr>
      <vt:lpstr>РС на предмете рекомендаций (item-based)</vt:lpstr>
      <vt:lpstr>Проблема холодного старта</vt:lpstr>
      <vt:lpstr>Коллаборативные РС</vt:lpstr>
      <vt:lpstr>Коллаборативные РС. Алгоритмы</vt:lpstr>
      <vt:lpstr>Коллаборативные РС. Алгоритмы</vt:lpstr>
      <vt:lpstr>Коллаборативные РС. Алгоритмы</vt:lpstr>
      <vt:lpstr>Коллаборативные РС. Алгоритмы</vt:lpstr>
      <vt:lpstr>Коллаборативные РС. Алгоритмы</vt:lpstr>
      <vt:lpstr>Коллаборативные РС. Алгоритмы</vt:lpstr>
      <vt:lpstr>Коллаборативные РС. Алгоритмы</vt:lpstr>
      <vt:lpstr>Коллаборативные РС. Алгоритмы</vt:lpstr>
      <vt:lpstr>Коллаборативные РС. Алгоритмы</vt:lpstr>
      <vt:lpstr>Коллаборативные РС. Алгоритмы</vt:lpstr>
      <vt:lpstr>Коллаборативные РС. Алгоритмы</vt:lpstr>
      <vt:lpstr>Коллаборативные РС. Алгоритмы</vt:lpstr>
      <vt:lpstr>Коллаборативные РС. Алгоритмы</vt:lpstr>
      <vt:lpstr>Литература</vt:lpstr>
    </vt:vector>
  </TitlesOfParts>
  <Company>ИСА РАН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Экспертные и рекомендательные информационно-аналитические системы</dc:title>
  <dc:creator>Alexander V. Soloviev</dc:creator>
  <cp:lastModifiedBy>Alexander V. Soloviev</cp:lastModifiedBy>
  <cp:revision>288</cp:revision>
  <dcterms:created xsi:type="dcterms:W3CDTF">2022-09-09T08:12:53Z</dcterms:created>
  <dcterms:modified xsi:type="dcterms:W3CDTF">2023-11-07T12:07:13Z</dcterms:modified>
</cp:coreProperties>
</file>