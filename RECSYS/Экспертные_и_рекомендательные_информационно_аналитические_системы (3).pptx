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6"/>
  </p:notesMasterIdLst>
  <p:sldIdLst>
    <p:sldId id="256" r:id="rId2"/>
    <p:sldId id="257" r:id="rId3"/>
    <p:sldId id="298" r:id="rId4"/>
    <p:sldId id="300" r:id="rId5"/>
    <p:sldId id="299" r:id="rId6"/>
    <p:sldId id="301" r:id="rId7"/>
    <p:sldId id="302" r:id="rId8"/>
    <p:sldId id="303" r:id="rId9"/>
    <p:sldId id="304" r:id="rId10"/>
    <p:sldId id="305" r:id="rId11"/>
    <p:sldId id="306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2" r:id="rId26"/>
    <p:sldId id="369" r:id="rId27"/>
    <p:sldId id="370" r:id="rId28"/>
    <p:sldId id="307" r:id="rId29"/>
    <p:sldId id="323" r:id="rId30"/>
    <p:sldId id="324" r:id="rId31"/>
    <p:sldId id="263" r:id="rId32"/>
    <p:sldId id="325" r:id="rId33"/>
    <p:sldId id="326" r:id="rId34"/>
    <p:sldId id="328" r:id="rId35"/>
    <p:sldId id="329" r:id="rId36"/>
    <p:sldId id="330" r:id="rId37"/>
    <p:sldId id="265" r:id="rId38"/>
    <p:sldId id="332" r:id="rId39"/>
    <p:sldId id="333" r:id="rId40"/>
    <p:sldId id="334" r:id="rId41"/>
    <p:sldId id="335" r:id="rId42"/>
    <p:sldId id="336" r:id="rId43"/>
    <p:sldId id="337" r:id="rId44"/>
    <p:sldId id="331" r:id="rId45"/>
    <p:sldId id="338" r:id="rId46"/>
    <p:sldId id="340" r:id="rId47"/>
    <p:sldId id="341" r:id="rId48"/>
    <p:sldId id="342" r:id="rId49"/>
    <p:sldId id="339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51" r:id="rId58"/>
    <p:sldId id="350" r:id="rId59"/>
    <p:sldId id="352" r:id="rId60"/>
    <p:sldId id="353" r:id="rId61"/>
    <p:sldId id="354" r:id="rId62"/>
    <p:sldId id="356" r:id="rId63"/>
    <p:sldId id="355" r:id="rId64"/>
    <p:sldId id="358" r:id="rId65"/>
    <p:sldId id="357" r:id="rId66"/>
    <p:sldId id="359" r:id="rId67"/>
    <p:sldId id="360" r:id="rId68"/>
    <p:sldId id="361" r:id="rId69"/>
    <p:sldId id="362" r:id="rId70"/>
    <p:sldId id="363" r:id="rId71"/>
    <p:sldId id="364" r:id="rId72"/>
    <p:sldId id="365" r:id="rId73"/>
    <p:sldId id="366" r:id="rId74"/>
    <p:sldId id="367" r:id="rId75"/>
    <p:sldId id="368" r:id="rId76"/>
    <p:sldId id="371" r:id="rId77"/>
    <p:sldId id="372" r:id="rId78"/>
    <p:sldId id="373" r:id="rId79"/>
    <p:sldId id="374" r:id="rId80"/>
    <p:sldId id="375" r:id="rId81"/>
    <p:sldId id="376" r:id="rId82"/>
    <p:sldId id="377" r:id="rId83"/>
    <p:sldId id="378" r:id="rId84"/>
    <p:sldId id="379" r:id="rId85"/>
    <p:sldId id="380" r:id="rId86"/>
    <p:sldId id="381" r:id="rId87"/>
    <p:sldId id="382" r:id="rId88"/>
    <p:sldId id="383" r:id="rId89"/>
    <p:sldId id="384" r:id="rId90"/>
    <p:sldId id="385" r:id="rId91"/>
    <p:sldId id="386" r:id="rId92"/>
    <p:sldId id="387" r:id="rId93"/>
    <p:sldId id="388" r:id="rId94"/>
    <p:sldId id="260" r:id="rId9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D202E-6756-4D62-A30B-5C8AC988AC0E}" type="datetimeFigureOut">
              <a:rPr lang="ru-RU" smtClean="0"/>
              <a:t>10.11.2023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DDD27-F7E6-492A-A0EE-ADFFC749A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118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314D-F3D3-461F-85A1-283661C4C455}" type="datetime1">
              <a:rPr lang="ru-RU" smtClean="0"/>
              <a:t>10.11.2023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16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ABD67-6DD8-4611-8E38-45CEDF8BA3D5}" type="datetime1">
              <a:rPr lang="ru-RU" smtClean="0"/>
              <a:t>10.11.2023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229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70F1-5F1E-4B38-AEC9-573264B1A05E}" type="datetime1">
              <a:rPr lang="ru-RU" smtClean="0"/>
              <a:t>10.11.2023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00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3A20-2D7F-4B9E-9135-B78B9AF4BF14}" type="datetime1">
              <a:rPr lang="ru-RU" smtClean="0"/>
              <a:t>10.11.2023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648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8C79-B0A5-4795-9D0F-FB1E8914ADC0}" type="datetime1">
              <a:rPr lang="ru-RU" smtClean="0"/>
              <a:t>10.11.2023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479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E470-D0DF-46D1-A8B8-212B3F2147E3}" type="datetime1">
              <a:rPr lang="ru-RU" smtClean="0"/>
              <a:t>10.11.2023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53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DAC5-C53E-4019-99BF-3703D3BA6FC5}" type="datetime1">
              <a:rPr lang="ru-RU" smtClean="0"/>
              <a:t>10.11.2023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39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09B-54DB-43CF-8A79-7AF83BAEAAD7}" type="datetime1">
              <a:rPr lang="ru-RU" smtClean="0"/>
              <a:t>10.11.2023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53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DCAB-10CD-4CC5-942F-D0496CCEAE26}" type="datetime1">
              <a:rPr lang="ru-RU" smtClean="0"/>
              <a:t>10.11.2023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37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91204-4B6F-4E82-9ACB-5EF9BD355208}" type="datetime1">
              <a:rPr lang="ru-RU" smtClean="0"/>
              <a:t>10.11.2023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69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DCE2-3848-4026-B150-C046361DF51B}" type="datetime1">
              <a:rPr lang="ru-RU" smtClean="0"/>
              <a:t>10.11.2023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85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D6747-9607-4F18-95B8-977FD01C586A}" type="datetime1">
              <a:rPr lang="ru-RU" smtClean="0"/>
              <a:t>10.11.2023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40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69317"/>
            <a:ext cx="7772400" cy="2907755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Экспертные и рекомендательные информационно-аналитические системы</a:t>
            </a:r>
            <a:br>
              <a:rPr lang="ru-RU" b="1" dirty="0" smtClean="0"/>
            </a:br>
            <a:r>
              <a:rPr lang="ru-RU" b="1" dirty="0" smtClean="0"/>
              <a:t>(</a:t>
            </a:r>
            <a:r>
              <a:rPr lang="ru-RU" dirty="0" smtClean="0"/>
              <a:t>Раздел </a:t>
            </a:r>
            <a:r>
              <a:rPr lang="en-US" dirty="0"/>
              <a:t>3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4534272"/>
            <a:ext cx="6400800" cy="1415008"/>
          </a:xfrm>
        </p:spPr>
        <p:txBody>
          <a:bodyPr/>
          <a:lstStyle/>
          <a:p>
            <a:r>
              <a:rPr lang="ru-RU" dirty="0" smtClean="0"/>
              <a:t>Соловьев А.В.</a:t>
            </a:r>
          </a:p>
          <a:p>
            <a:r>
              <a:rPr lang="ru-RU" dirty="0" smtClean="0"/>
              <a:t>НИТУ </a:t>
            </a:r>
            <a:r>
              <a:rPr lang="ru-RU" dirty="0" err="1" smtClean="0"/>
              <a:t>МИСиС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88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Экспертные системы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lnSpcReduction="10000"/>
          </a:bodyPr>
          <a:lstStyle/>
          <a:p>
            <a:r>
              <a:rPr lang="ru-RU" b="1" i="1" dirty="0"/>
              <a:t>Экспертная </a:t>
            </a:r>
            <a:r>
              <a:rPr lang="ru-RU" b="1" i="1" dirty="0" smtClean="0"/>
              <a:t>система</a:t>
            </a:r>
            <a:r>
              <a:rPr lang="ru-RU" dirty="0"/>
              <a:t> </a:t>
            </a:r>
            <a:r>
              <a:rPr lang="ru-RU" dirty="0" smtClean="0"/>
              <a:t>(</a:t>
            </a:r>
            <a:r>
              <a:rPr lang="en-US" dirty="0" smtClean="0"/>
              <a:t>expert system)</a:t>
            </a:r>
            <a:r>
              <a:rPr lang="ru-RU" dirty="0" smtClean="0"/>
              <a:t>— </a:t>
            </a:r>
            <a:r>
              <a:rPr lang="ru-RU" dirty="0"/>
              <a:t>это </a:t>
            </a:r>
            <a:r>
              <a:rPr lang="ru-RU" dirty="0" smtClean="0"/>
              <a:t>информационная система, </a:t>
            </a:r>
            <a:r>
              <a:rPr lang="ru-RU" dirty="0"/>
              <a:t>которая заменяет эксперта в </a:t>
            </a:r>
            <a:r>
              <a:rPr lang="ru-RU" dirty="0" smtClean="0"/>
              <a:t>соответствующей предметной области</a:t>
            </a:r>
          </a:p>
          <a:p>
            <a:r>
              <a:rPr lang="ru-RU" b="1" i="1" dirty="0"/>
              <a:t>Экспертные </a:t>
            </a:r>
            <a:r>
              <a:rPr lang="ru-RU" b="1" i="1" dirty="0" smtClean="0"/>
              <a:t>системы</a:t>
            </a:r>
            <a:r>
              <a:rPr lang="en-US" b="1" i="1" dirty="0" smtClean="0"/>
              <a:t> </a:t>
            </a:r>
            <a:r>
              <a:rPr lang="en-US" b="1" dirty="0" smtClean="0"/>
              <a:t>(</a:t>
            </a:r>
            <a:r>
              <a:rPr lang="ru-RU" b="1" dirty="0" smtClean="0"/>
              <a:t>ЭС)</a:t>
            </a:r>
            <a:r>
              <a:rPr lang="ru-RU" b="1" i="1" dirty="0" smtClean="0"/>
              <a:t> </a:t>
            </a:r>
            <a:r>
              <a:rPr lang="ru-RU" dirty="0" smtClean="0"/>
              <a:t>— это </a:t>
            </a:r>
            <a:r>
              <a:rPr lang="ru-RU" dirty="0"/>
              <a:t>направление исследований в области </a:t>
            </a:r>
            <a:r>
              <a:rPr lang="ru-RU" dirty="0" smtClean="0"/>
              <a:t>ИИ </a:t>
            </a:r>
            <a:r>
              <a:rPr lang="ru-RU" dirty="0"/>
              <a:t>по созданию </a:t>
            </a:r>
            <a:r>
              <a:rPr lang="ru-RU" dirty="0" smtClean="0"/>
              <a:t>информационных </a:t>
            </a:r>
            <a:r>
              <a:rPr lang="ru-RU" dirty="0"/>
              <a:t>систем, </a:t>
            </a:r>
            <a:r>
              <a:rPr lang="ru-RU" dirty="0" smtClean="0"/>
              <a:t>целью которых является принятие решений, схожих </a:t>
            </a:r>
            <a:r>
              <a:rPr lang="ru-RU" dirty="0"/>
              <a:t>с решениями экспертов в заданной предметной </a:t>
            </a:r>
            <a:r>
              <a:rPr lang="ru-RU" dirty="0" smtClean="0"/>
              <a:t>области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5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Экспертные системы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ru-RU" dirty="0"/>
              <a:t>ЭС предназначены, главным образом, для решения практических задач, возникающих в слабо структурированной и трудно формализуемой </a:t>
            </a:r>
            <a:r>
              <a:rPr lang="ru-RU" i="1" dirty="0"/>
              <a:t>предметной </a:t>
            </a:r>
            <a:r>
              <a:rPr lang="ru-RU" i="1" dirty="0" smtClean="0"/>
              <a:t>области</a:t>
            </a:r>
            <a:endParaRPr lang="ru-RU" dirty="0" smtClean="0"/>
          </a:p>
          <a:p>
            <a:r>
              <a:rPr lang="ru-RU" dirty="0" smtClean="0"/>
              <a:t>ЭС </a:t>
            </a:r>
            <a:r>
              <a:rPr lang="ru-RU" dirty="0"/>
              <a:t>были первыми системами, которые привлекли внимание потенциальных потребителей продукции </a:t>
            </a:r>
            <a:r>
              <a:rPr lang="ru-RU" dirty="0" smtClean="0"/>
              <a:t>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9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Экспертные системы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Экспертная система является плодом совместной </a:t>
            </a:r>
            <a:r>
              <a:rPr lang="ru-RU" dirty="0" smtClean="0"/>
              <a:t>работы:</a:t>
            </a:r>
          </a:p>
          <a:p>
            <a:r>
              <a:rPr lang="ru-RU" dirty="0" smtClean="0"/>
              <a:t>экспертов </a:t>
            </a:r>
            <a:r>
              <a:rPr lang="ru-RU" dirty="0"/>
              <a:t>в данной предметной </a:t>
            </a:r>
            <a:r>
              <a:rPr lang="ru-RU" dirty="0" smtClean="0"/>
              <a:t>области</a:t>
            </a:r>
          </a:p>
          <a:p>
            <a:r>
              <a:rPr lang="ru-RU" dirty="0" smtClean="0"/>
              <a:t>инженеров </a:t>
            </a:r>
            <a:r>
              <a:rPr lang="ru-RU" dirty="0"/>
              <a:t>по </a:t>
            </a:r>
            <a:r>
              <a:rPr lang="ru-RU" dirty="0" smtClean="0"/>
              <a:t>знаниям</a:t>
            </a:r>
          </a:p>
          <a:p>
            <a:r>
              <a:rPr lang="ru-RU" dirty="0" smtClean="0"/>
              <a:t>программистов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56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 smtClean="0"/>
              <a:t>Dendral</a:t>
            </a:r>
            <a:r>
              <a:rPr lang="ru-RU" dirty="0" smtClean="0"/>
              <a:t> </a:t>
            </a:r>
            <a:r>
              <a:rPr lang="ru-RU" dirty="0"/>
              <a:t>(Стэнфорд, конец </a:t>
            </a:r>
            <a:r>
              <a:rPr lang="ru-RU" dirty="0" smtClean="0"/>
              <a:t>60-х </a:t>
            </a:r>
            <a:r>
              <a:rPr lang="ru-RU" dirty="0"/>
              <a:t>гг.)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u="sng" dirty="0" smtClean="0"/>
              <a:t>Назначение</a:t>
            </a:r>
            <a:r>
              <a:rPr lang="ru-RU" dirty="0" smtClean="0"/>
              <a:t>: определение строения </a:t>
            </a:r>
            <a:r>
              <a:rPr lang="ru-RU" dirty="0"/>
              <a:t>органических молекул по химическим формулам и спектрографическим данным о химических связях в </a:t>
            </a:r>
            <a:r>
              <a:rPr lang="ru-RU" dirty="0" smtClean="0"/>
              <a:t>молекулах</a:t>
            </a:r>
          </a:p>
          <a:p>
            <a:pPr marL="0" indent="0">
              <a:buNone/>
            </a:pPr>
            <a:r>
              <a:rPr lang="ru-RU" b="1" u="sng" dirty="0" smtClean="0"/>
              <a:t>Ценность</a:t>
            </a:r>
            <a:r>
              <a:rPr lang="ru-RU" dirty="0" smtClean="0"/>
              <a:t>: </a:t>
            </a:r>
            <a:r>
              <a:rPr lang="ru-RU" dirty="0"/>
              <a:t>число возможных структур </a:t>
            </a:r>
            <a:r>
              <a:rPr lang="ru-RU" dirty="0" smtClean="0"/>
              <a:t>органических молекул очень</a:t>
            </a:r>
            <a:r>
              <a:rPr lang="en-US" dirty="0" smtClean="0"/>
              <a:t> </a:t>
            </a:r>
            <a:r>
              <a:rPr lang="ru-RU" dirty="0" smtClean="0"/>
              <a:t>велико. </a:t>
            </a:r>
            <a:r>
              <a:rPr lang="ru-RU" dirty="0"/>
              <a:t>Благодаря эвристическим знаниям экспертов-химиков, заложенных в </a:t>
            </a:r>
            <a:r>
              <a:rPr lang="ru-RU" dirty="0" smtClean="0"/>
              <a:t>ЭС, </a:t>
            </a:r>
            <a:r>
              <a:rPr lang="ru-RU" dirty="0"/>
              <a:t>правильное решение из миллиона возможных находилось всего за несколько </a:t>
            </a:r>
            <a:r>
              <a:rPr lang="ru-RU" dirty="0" smtClean="0"/>
              <a:t>попыток</a:t>
            </a:r>
          </a:p>
          <a:p>
            <a:pPr marL="0" indent="0">
              <a:buNone/>
            </a:pPr>
            <a:r>
              <a:rPr lang="ru-RU" b="1" u="sng" dirty="0" smtClean="0"/>
              <a:t>Применение</a:t>
            </a:r>
            <a:r>
              <a:rPr lang="ru-RU" dirty="0" smtClean="0"/>
              <a:t>: принципы </a:t>
            </a:r>
            <a:r>
              <a:rPr lang="ru-RU" dirty="0"/>
              <a:t>и идеи, заложенные в </a:t>
            </a:r>
            <a:r>
              <a:rPr lang="ru-RU" dirty="0" err="1"/>
              <a:t>Dendral</a:t>
            </a:r>
            <a:r>
              <a:rPr lang="ru-RU" dirty="0"/>
              <a:t>, </a:t>
            </a:r>
            <a:r>
              <a:rPr lang="ru-RU" dirty="0" smtClean="0"/>
              <a:t>до </a:t>
            </a:r>
            <a:r>
              <a:rPr lang="ru-RU" dirty="0"/>
              <a:t>сих пор применяются в химических и фармацевтических </a:t>
            </a:r>
            <a:r>
              <a:rPr lang="ru-RU" dirty="0" smtClean="0"/>
              <a:t>лабораториях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94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 smtClean="0"/>
              <a:t>Mycin</a:t>
            </a:r>
            <a:r>
              <a:rPr lang="ru-RU" dirty="0" smtClean="0"/>
              <a:t> (Стэнфорд</a:t>
            </a:r>
            <a:r>
              <a:rPr lang="ru-RU" dirty="0"/>
              <a:t>, </a:t>
            </a:r>
            <a:r>
              <a:rPr lang="ru-RU" dirty="0" smtClean="0"/>
              <a:t>середина 70-х </a:t>
            </a:r>
            <a:r>
              <a:rPr lang="ru-RU" dirty="0"/>
              <a:t>гг.)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u="sng" dirty="0" smtClean="0"/>
              <a:t>Назначение</a:t>
            </a:r>
            <a:r>
              <a:rPr lang="ru-RU" dirty="0" smtClean="0"/>
              <a:t>: диагностика </a:t>
            </a:r>
            <a:r>
              <a:rPr lang="ru-RU" dirty="0"/>
              <a:t>и </a:t>
            </a:r>
            <a:r>
              <a:rPr lang="ru-RU" dirty="0" smtClean="0"/>
              <a:t>лечение </a:t>
            </a:r>
            <a:r>
              <a:rPr lang="ru-RU" dirty="0"/>
              <a:t>менингита и бактериальных инфекций крови</a:t>
            </a:r>
            <a:endParaRPr lang="ru-RU" dirty="0" smtClean="0"/>
          </a:p>
          <a:p>
            <a:pPr marL="0" indent="0">
              <a:buNone/>
            </a:pPr>
            <a:r>
              <a:rPr lang="ru-RU" b="1" u="sng" dirty="0" smtClean="0"/>
              <a:t>Ценность</a:t>
            </a:r>
            <a:r>
              <a:rPr lang="ru-RU" dirty="0" smtClean="0"/>
              <a:t>: </a:t>
            </a:r>
            <a:r>
              <a:rPr lang="ru-RU" dirty="0"/>
              <a:t>принятия решений на основе ненадежной или недостаточной информации</a:t>
            </a:r>
            <a:r>
              <a:rPr lang="ru-RU" dirty="0" smtClean="0"/>
              <a:t>. </a:t>
            </a:r>
            <a:r>
              <a:rPr lang="ru-RU" dirty="0"/>
              <a:t>Все рассуждения экспертной системы </a:t>
            </a:r>
            <a:r>
              <a:rPr lang="ru-RU" dirty="0" err="1"/>
              <a:t>Mycin</a:t>
            </a:r>
            <a:r>
              <a:rPr lang="ru-RU" dirty="0"/>
              <a:t> были основаны на принципах управляющей логики, соответствующих специфике предметной области</a:t>
            </a:r>
            <a:endParaRPr lang="ru-RU" dirty="0" smtClean="0"/>
          </a:p>
          <a:p>
            <a:pPr marL="0" indent="0">
              <a:buNone/>
            </a:pPr>
            <a:r>
              <a:rPr lang="ru-RU" b="1" u="sng" dirty="0" smtClean="0"/>
              <a:t>Применение</a:t>
            </a:r>
            <a:r>
              <a:rPr lang="ru-RU" dirty="0" smtClean="0"/>
              <a:t>: методики </a:t>
            </a:r>
            <a:r>
              <a:rPr lang="ru-RU" dirty="0"/>
              <a:t>разработки экспертных систем, использующиеся сегодня, были впервые разработаны </a:t>
            </a:r>
            <a:r>
              <a:rPr lang="ru-RU" dirty="0" smtClean="0"/>
              <a:t>в ЭС </a:t>
            </a:r>
            <a:r>
              <a:rPr lang="ru-RU" dirty="0" err="1" smtClean="0"/>
              <a:t>Mycin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33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Характерные черты ЭС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363272" cy="4968552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ru-RU" dirty="0"/>
              <a:t>четкая ограниченность предметной </a:t>
            </a:r>
            <a:r>
              <a:rPr lang="ru-RU" dirty="0" smtClean="0"/>
              <a:t>области</a:t>
            </a:r>
            <a:endParaRPr lang="ru-RU" dirty="0"/>
          </a:p>
          <a:p>
            <a:pPr lvl="0"/>
            <a:r>
              <a:rPr lang="ru-RU" dirty="0"/>
              <a:t>способность принимать решения в условиях </a:t>
            </a:r>
            <a:r>
              <a:rPr lang="ru-RU" dirty="0" smtClean="0"/>
              <a:t>неопределенности</a:t>
            </a:r>
            <a:endParaRPr lang="ru-RU" dirty="0"/>
          </a:p>
          <a:p>
            <a:pPr lvl="0"/>
            <a:r>
              <a:rPr lang="ru-RU" dirty="0"/>
              <a:t>способность объяснять ход и результат </a:t>
            </a:r>
            <a:r>
              <a:rPr lang="ru-RU" dirty="0" smtClean="0"/>
              <a:t>решения, </a:t>
            </a:r>
            <a:r>
              <a:rPr lang="ru-RU" dirty="0"/>
              <a:t>указывая последовательность </a:t>
            </a:r>
            <a:r>
              <a:rPr lang="ru-RU" dirty="0" smtClean="0"/>
              <a:t>действий</a:t>
            </a:r>
            <a:endParaRPr lang="ru-RU" dirty="0"/>
          </a:p>
          <a:p>
            <a:pPr lvl="0"/>
            <a:r>
              <a:rPr lang="ru-RU" dirty="0"/>
              <a:t>четкое разделение декларативных и процедурных </a:t>
            </a:r>
            <a:r>
              <a:rPr lang="ru-RU" dirty="0" smtClean="0"/>
              <a:t>знаний</a:t>
            </a:r>
            <a:endParaRPr lang="ru-RU" dirty="0"/>
          </a:p>
          <a:p>
            <a:pPr lvl="0"/>
            <a:r>
              <a:rPr lang="ru-RU" dirty="0"/>
              <a:t>способность пополнять базу знаний, возможность наращивания </a:t>
            </a:r>
            <a:r>
              <a:rPr lang="ru-RU" dirty="0" smtClean="0"/>
              <a:t>системы</a:t>
            </a:r>
            <a:endParaRPr lang="ru-RU" dirty="0"/>
          </a:p>
          <a:p>
            <a:pPr lvl="0"/>
            <a:r>
              <a:rPr lang="ru-RU" dirty="0"/>
              <a:t>результат выдается в виде конкретных рекомендаций для действий в сложившейся </a:t>
            </a:r>
            <a:r>
              <a:rPr lang="ru-RU" dirty="0" smtClean="0"/>
              <a:t>ситуации</a:t>
            </a:r>
            <a:endParaRPr lang="ru-RU" dirty="0"/>
          </a:p>
          <a:p>
            <a:pPr lvl="0"/>
            <a:r>
              <a:rPr lang="ru-RU" dirty="0"/>
              <a:t>алгоритм решения не описывается заранее, а строится самой экспертной </a:t>
            </a:r>
            <a:r>
              <a:rPr lang="ru-RU" dirty="0" smtClean="0"/>
              <a:t>системой</a:t>
            </a:r>
            <a:endParaRPr lang="ru-RU" dirty="0"/>
          </a:p>
          <a:p>
            <a:pPr lvl="0"/>
            <a:r>
              <a:rPr lang="ru-RU" dirty="0"/>
              <a:t>отсутствие гарантии нахождения оптимального </a:t>
            </a:r>
            <a:r>
              <a:rPr lang="ru-RU" dirty="0" smtClean="0"/>
              <a:t>решения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84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Проблемы создания ЭС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ru-RU" dirty="0"/>
              <a:t>Передача </a:t>
            </a:r>
            <a:r>
              <a:rPr lang="ru-RU" dirty="0" smtClean="0"/>
              <a:t>ЭС </a:t>
            </a:r>
            <a:r>
              <a:rPr lang="ru-RU" dirty="0"/>
              <a:t>«глубоких» знаний о предметной области является большой проблемой. Как правило, это является следствием сложности формализации эвристических знаний </a:t>
            </a:r>
            <a:r>
              <a:rPr lang="ru-RU" dirty="0" smtClean="0"/>
              <a:t>экспертов</a:t>
            </a:r>
            <a:endParaRPr lang="ru-RU" dirty="0"/>
          </a:p>
          <a:p>
            <a:pPr lvl="0"/>
            <a:r>
              <a:rPr lang="ru-RU" dirty="0" smtClean="0"/>
              <a:t>ЭС </a:t>
            </a:r>
            <a:r>
              <a:rPr lang="ru-RU" dirty="0"/>
              <a:t>неспособны предоставить осмысленные объяснения своих рассуждений, как это делает человек. Как правило, </a:t>
            </a:r>
            <a:r>
              <a:rPr lang="ru-RU" dirty="0" smtClean="0"/>
              <a:t>ЭС </a:t>
            </a:r>
            <a:r>
              <a:rPr lang="ru-RU" dirty="0"/>
              <a:t>всего лишь описывают последовательность шагов, предпринятых в процессе поиска решения</a:t>
            </a:r>
            <a:r>
              <a:rPr lang="ru-RU" dirty="0" smtClean="0"/>
              <a:t>.</a:t>
            </a:r>
            <a:endParaRPr lang="ru-RU" dirty="0"/>
          </a:p>
          <a:p>
            <a:pPr lvl="0"/>
            <a:r>
              <a:rPr lang="ru-RU" dirty="0"/>
              <a:t>Отладка и тестирование </a:t>
            </a:r>
            <a:r>
              <a:rPr lang="ru-RU" dirty="0" smtClean="0"/>
              <a:t>ЭС </a:t>
            </a:r>
            <a:r>
              <a:rPr lang="ru-RU" dirty="0"/>
              <a:t>особенно </a:t>
            </a:r>
            <a:r>
              <a:rPr lang="ru-RU" dirty="0" smtClean="0"/>
              <a:t>тяжела. </a:t>
            </a:r>
            <a:r>
              <a:rPr lang="ru-RU" dirty="0"/>
              <a:t>Это является серьезной проблемой, поскольку </a:t>
            </a:r>
            <a:r>
              <a:rPr lang="ru-RU" dirty="0" smtClean="0"/>
              <a:t>ЭС </a:t>
            </a:r>
            <a:r>
              <a:rPr lang="ru-RU" dirty="0"/>
              <a:t>применяются в таких критичных областях, как управление воздушным и железнодорожным движением, </a:t>
            </a:r>
            <a:r>
              <a:rPr lang="ru-RU" dirty="0" smtClean="0"/>
              <a:t>ядерной промышленности</a:t>
            </a:r>
            <a:endParaRPr lang="ru-RU" dirty="0"/>
          </a:p>
          <a:p>
            <a:r>
              <a:rPr lang="ru-RU" dirty="0" smtClean="0"/>
              <a:t>В ЭС как правило затруднено самообучение. </a:t>
            </a:r>
            <a:r>
              <a:rPr lang="ru-RU" dirty="0"/>
              <a:t>Для того, чтобы поддерживать </a:t>
            </a:r>
            <a:r>
              <a:rPr lang="ru-RU" dirty="0" smtClean="0"/>
              <a:t>ЭС </a:t>
            </a:r>
            <a:r>
              <a:rPr lang="ru-RU" dirty="0"/>
              <a:t>в актуальном состоянии необходимо постоянное вмешательство в базу знаний инженеров по </a:t>
            </a:r>
            <a:r>
              <a:rPr lang="ru-RU" dirty="0" smtClean="0"/>
              <a:t>знаниям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16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Экспертные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ru-RU" b="1" dirty="0"/>
              <a:t>Экспертная система</a:t>
            </a:r>
            <a:r>
              <a:rPr lang="ru-RU" dirty="0"/>
              <a:t> – это вычислительная система, в которую включены знания специалистов о некоторой узкой предметной области в форме базы </a:t>
            </a:r>
            <a:r>
              <a:rPr lang="ru-RU" dirty="0" smtClean="0"/>
              <a:t>знаний</a:t>
            </a:r>
          </a:p>
          <a:p>
            <a:pPr marL="0" lvl="0" indent="0">
              <a:buNone/>
            </a:pPr>
            <a:r>
              <a:rPr lang="ru-RU" b="1" dirty="0" smtClean="0"/>
              <a:t>ЭС</a:t>
            </a:r>
            <a:r>
              <a:rPr lang="ru-RU" dirty="0" smtClean="0"/>
              <a:t> </a:t>
            </a:r>
            <a:r>
              <a:rPr lang="ru-RU" dirty="0"/>
              <a:t>должны уметь принимать решения вместо специалиста в заданной предметной </a:t>
            </a:r>
            <a:r>
              <a:rPr lang="ru-RU" dirty="0" smtClean="0"/>
              <a:t>области</a:t>
            </a:r>
          </a:p>
          <a:p>
            <a:pPr marL="0" lvl="0" indent="0">
              <a:buNone/>
            </a:pPr>
            <a:r>
              <a:rPr lang="ru-RU" dirty="0" smtClean="0"/>
              <a:t>Значимым </a:t>
            </a:r>
            <a:r>
              <a:rPr lang="ru-RU" b="1" dirty="0"/>
              <a:t>отличием </a:t>
            </a:r>
            <a:r>
              <a:rPr lang="ru-RU" b="1" dirty="0" smtClean="0"/>
              <a:t>ЭС </a:t>
            </a:r>
            <a:r>
              <a:rPr lang="ru-RU" dirty="0" smtClean="0"/>
              <a:t>является </a:t>
            </a:r>
            <a:r>
              <a:rPr lang="ru-RU" dirty="0"/>
              <a:t>то, что </a:t>
            </a:r>
            <a:r>
              <a:rPr lang="ru-RU" dirty="0" smtClean="0"/>
              <a:t>ЭС </a:t>
            </a:r>
            <a:r>
              <a:rPr lang="ru-RU" dirty="0"/>
              <a:t>могут ошибаться. Причина </a:t>
            </a:r>
            <a:r>
              <a:rPr lang="ru-RU" dirty="0" smtClean="0"/>
              <a:t>ошибок: знания </a:t>
            </a:r>
            <a:r>
              <a:rPr lang="ru-RU" dirty="0"/>
              <a:t>специалистов, как и знания, заложенные в </a:t>
            </a:r>
            <a:r>
              <a:rPr lang="ru-RU" dirty="0" smtClean="0"/>
              <a:t>ЭС, </a:t>
            </a:r>
            <a:r>
              <a:rPr lang="ru-RU" dirty="0"/>
              <a:t>не точны. </a:t>
            </a:r>
            <a:r>
              <a:rPr lang="ru-RU" dirty="0" smtClean="0"/>
              <a:t>Важно </a:t>
            </a:r>
            <a:r>
              <a:rPr lang="ru-RU" dirty="0"/>
              <a:t>чтобы </a:t>
            </a:r>
            <a:r>
              <a:rPr lang="ru-RU" dirty="0" smtClean="0"/>
              <a:t>ЭС </a:t>
            </a:r>
            <a:r>
              <a:rPr lang="ru-RU" dirty="0"/>
              <a:t>ошибались не чаще, чем ошибается </a:t>
            </a:r>
            <a:r>
              <a:rPr lang="ru-RU" dirty="0" smtClean="0"/>
              <a:t>человек-эксперт</a:t>
            </a:r>
          </a:p>
          <a:p>
            <a:pPr marL="0" lv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8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Трудности создания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smtClean="0"/>
              <a:t>1. Доступен </a:t>
            </a:r>
            <a:r>
              <a:rPr lang="ru-RU" dirty="0"/>
              <a:t>ли эксперт, который:</a:t>
            </a:r>
          </a:p>
          <a:p>
            <a:pPr lvl="0"/>
            <a:r>
              <a:rPr lang="ru-RU" dirty="0"/>
              <a:t>способен решить </a:t>
            </a:r>
            <a:r>
              <a:rPr lang="ru-RU" dirty="0" smtClean="0"/>
              <a:t>проблему</a:t>
            </a:r>
            <a:endParaRPr lang="ru-RU" dirty="0"/>
          </a:p>
          <a:p>
            <a:pPr lvl="0"/>
            <a:r>
              <a:rPr lang="ru-RU" dirty="0"/>
              <a:t>знает, как решается </a:t>
            </a:r>
            <a:r>
              <a:rPr lang="ru-RU" dirty="0" smtClean="0"/>
              <a:t>проблема</a:t>
            </a:r>
            <a:endParaRPr lang="ru-RU" dirty="0"/>
          </a:p>
          <a:p>
            <a:pPr lvl="0"/>
            <a:r>
              <a:rPr lang="ru-RU" dirty="0"/>
              <a:t>способен объяснить, как решается </a:t>
            </a:r>
            <a:r>
              <a:rPr lang="ru-RU" dirty="0" smtClean="0"/>
              <a:t>проблема</a:t>
            </a:r>
            <a:endParaRPr lang="ru-RU" dirty="0"/>
          </a:p>
          <a:p>
            <a:pPr lvl="0"/>
            <a:r>
              <a:rPr lang="ru-RU" dirty="0"/>
              <a:t>располагает временем, чтобы объяснить, как решается </a:t>
            </a:r>
            <a:r>
              <a:rPr lang="ru-RU" dirty="0" smtClean="0"/>
              <a:t>проблема</a:t>
            </a:r>
            <a:endParaRPr lang="ru-RU" dirty="0"/>
          </a:p>
          <a:p>
            <a:r>
              <a:rPr lang="ru-RU" dirty="0"/>
              <a:t>имеет достаточные побудительные мотивы к активному участию в создании экспертной системы</a:t>
            </a:r>
            <a:endParaRPr lang="ru-RU" dirty="0" smtClean="0"/>
          </a:p>
          <a:p>
            <a:pPr marL="0" lv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512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Трудности создания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2</a:t>
            </a:r>
            <a:r>
              <a:rPr lang="ru-RU" dirty="0" smtClean="0"/>
              <a:t>. Существуют ли </a:t>
            </a:r>
            <a:r>
              <a:rPr lang="ru-RU" dirty="0"/>
              <a:t>факторы, ограничивающие возможность «машинного» воспроизведения человеческого </a:t>
            </a:r>
            <a:r>
              <a:rPr lang="ru-RU" dirty="0" smtClean="0"/>
              <a:t>опыта:</a:t>
            </a:r>
            <a:endParaRPr lang="ru-RU" dirty="0"/>
          </a:p>
          <a:p>
            <a:pPr lvl="0"/>
            <a:r>
              <a:rPr lang="ru-RU" dirty="0"/>
              <a:t>в процессе решения задачи используются способности органов чувств человека, недоступные на сегодняшний день в мире </a:t>
            </a:r>
            <a:r>
              <a:rPr lang="ru-RU" dirty="0" smtClean="0"/>
              <a:t>машин</a:t>
            </a:r>
            <a:endParaRPr lang="ru-RU" dirty="0"/>
          </a:p>
          <a:p>
            <a:r>
              <a:rPr lang="ru-RU" dirty="0"/>
              <a:t>в решение задачи вовлечены соображения здравого смысла и/или большой объем знаний, само собой разумеющихся для любого </a:t>
            </a:r>
            <a:r>
              <a:rPr lang="ru-RU" dirty="0" smtClean="0"/>
              <a:t>человека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83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Преимущества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1. Постоянство </a:t>
            </a:r>
            <a:r>
              <a:rPr lang="ru-RU" b="1" dirty="0" smtClean="0"/>
              <a:t>компетенции</a:t>
            </a:r>
            <a:endParaRPr lang="ru-RU" dirty="0"/>
          </a:p>
          <a:p>
            <a:r>
              <a:rPr lang="ru-RU" dirty="0"/>
              <a:t>Человеческая компетенция ослабевает со временем. Перерыв в деятельности человека-эксперта может серьёзно отразиться на его профессиональных </a:t>
            </a:r>
            <a:r>
              <a:rPr lang="ru-RU" dirty="0" smtClean="0"/>
              <a:t>качествах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15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Преимущества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2. Лёгкость передачи </a:t>
            </a:r>
            <a:r>
              <a:rPr lang="ru-RU" b="1" dirty="0" smtClean="0"/>
              <a:t>знаний</a:t>
            </a:r>
            <a:endParaRPr lang="ru-RU" dirty="0"/>
          </a:p>
          <a:p>
            <a:r>
              <a:rPr lang="ru-RU" dirty="0"/>
              <a:t>Передача знаний от одного человека другому – долгий и дорогой процесс. Передача </a:t>
            </a:r>
            <a:r>
              <a:rPr lang="ru-RU" dirty="0" smtClean="0"/>
              <a:t>информации ЭС </a:t>
            </a:r>
            <a:r>
              <a:rPr lang="ru-RU" dirty="0"/>
              <a:t>– это простой процесс копирования программы </a:t>
            </a:r>
            <a:r>
              <a:rPr lang="ru-RU" dirty="0" smtClean="0"/>
              <a:t>и/или </a:t>
            </a:r>
            <a:r>
              <a:rPr lang="ru-RU" dirty="0"/>
              <a:t>базы </a:t>
            </a:r>
            <a:r>
              <a:rPr lang="ru-RU" dirty="0" smtClean="0"/>
              <a:t>знаний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04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Преимущества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3. Устойчивость и </a:t>
            </a:r>
            <a:r>
              <a:rPr lang="ru-RU" b="1" dirty="0" err="1"/>
              <a:t>воспроизводимость</a:t>
            </a:r>
            <a:r>
              <a:rPr lang="ru-RU" b="1" dirty="0"/>
              <a:t> </a:t>
            </a:r>
            <a:r>
              <a:rPr lang="ru-RU" b="1" dirty="0" smtClean="0"/>
              <a:t>результатов</a:t>
            </a:r>
            <a:endParaRPr lang="ru-RU" dirty="0"/>
          </a:p>
          <a:p>
            <a:r>
              <a:rPr lang="ru-RU" dirty="0"/>
              <a:t>Экспертные системы устойчивы к «помехам». Человек же легко поддается влиянию внешних факторов, которые непосредственно не связаны с решаемой задачей. Эксперт-человек может принимать в тождественных ситуациях разные решения из-за эмоциональных факторов. Результаты экспертной системы – </a:t>
            </a:r>
            <a:r>
              <a:rPr lang="ru-RU" dirty="0" smtClean="0"/>
              <a:t>стабильны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476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Преимущества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4. Стоимость</a:t>
            </a:r>
            <a:r>
              <a:rPr lang="ru-RU" dirty="0"/>
              <a:t> </a:t>
            </a:r>
          </a:p>
          <a:p>
            <a:r>
              <a:rPr lang="ru-RU" dirty="0" smtClean="0"/>
              <a:t>Высококвалифицированные эксперты обходятся </a:t>
            </a:r>
            <a:r>
              <a:rPr lang="ru-RU" dirty="0"/>
              <a:t>очень дорого. </a:t>
            </a:r>
            <a:r>
              <a:rPr lang="ru-RU" dirty="0" smtClean="0"/>
              <a:t>Хотя разработка ЭС </a:t>
            </a:r>
            <a:r>
              <a:rPr lang="ru-RU" dirty="0"/>
              <a:t>и поддержка базы знаний в актуальном состоянии (эксплуатация) дороги, но при установке типового решения могут оказаться дешевле в эксплуатации, чем высококвалифицированный </a:t>
            </a:r>
            <a:r>
              <a:rPr lang="ru-RU" dirty="0" smtClean="0"/>
              <a:t>специалист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356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ACES</a:t>
            </a:r>
            <a:r>
              <a:rPr lang="ru-RU" dirty="0"/>
              <a:t>. </a:t>
            </a:r>
            <a:r>
              <a:rPr lang="ru-RU" dirty="0" smtClean="0"/>
              <a:t>Выполняет </a:t>
            </a:r>
            <a:r>
              <a:rPr lang="ru-RU" dirty="0"/>
              <a:t>картографические работы по нанесению обстановки на карты. </a:t>
            </a:r>
            <a:r>
              <a:rPr lang="ru-RU" dirty="0" smtClean="0"/>
              <a:t>Получает </a:t>
            </a:r>
            <a:r>
              <a:rPr lang="ru-RU" dirty="0"/>
              <a:t>в качестве исходных данных карту без обстановки и информацию, описывающую расположение объектов на местности. Система выдает карту, содержащую все желаемые условные обозначения и подписи, размещенные без взаимного наложения. ACES применяет объектно-ориентированную схему представления знаний и реализована на языке </a:t>
            </a:r>
            <a:r>
              <a:rPr lang="ru-RU" dirty="0" err="1"/>
              <a:t>Loops</a:t>
            </a:r>
            <a:r>
              <a:rPr lang="ru-RU" dirty="0"/>
              <a:t> для работы на АРМ </a:t>
            </a:r>
            <a:r>
              <a:rPr lang="ru-RU" dirty="0" err="1"/>
              <a:t>Xerox</a:t>
            </a:r>
            <a:r>
              <a:rPr lang="ru-RU" dirty="0"/>
              <a:t> </a:t>
            </a:r>
            <a:r>
              <a:rPr lang="ru-RU" dirty="0" err="1"/>
              <a:t>Dolphin</a:t>
            </a:r>
            <a:r>
              <a:rPr lang="ru-RU" dirty="0"/>
              <a:t>. </a:t>
            </a:r>
            <a:r>
              <a:rPr lang="ru-RU" dirty="0" smtClean="0"/>
              <a:t>Разработана </a:t>
            </a:r>
            <a:r>
              <a:rPr lang="ru-RU" dirty="0"/>
              <a:t>компанией ESL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353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ASTA</a:t>
            </a:r>
            <a:r>
              <a:rPr lang="ru-RU" dirty="0"/>
              <a:t>. </a:t>
            </a:r>
            <a:r>
              <a:rPr lang="ru-RU" dirty="0" smtClean="0"/>
              <a:t>Помогает </a:t>
            </a:r>
            <a:r>
              <a:rPr lang="ru-RU" dirty="0"/>
              <a:t>аналитику определить тип радара, пославшего перехваченный сигнал. Система анализирует этот сигнал в свете имеющихся у нее общих знаний о физике радаров и специальных знаний о конкретных типах радарных систем. ASTA также помогает аналитику, обеспечивая ему доступ к соответствующим базам данных и давая объяснения своим заключениям. Знания в системе представлены в виде правил. </a:t>
            </a:r>
            <a:r>
              <a:rPr lang="ru-RU" dirty="0" smtClean="0"/>
              <a:t>Разработана </a:t>
            </a:r>
            <a:r>
              <a:rPr lang="ru-RU" dirty="0"/>
              <a:t>компанией </a:t>
            </a:r>
            <a:r>
              <a:rPr lang="ru-RU" dirty="0" err="1"/>
              <a:t>Advanced</a:t>
            </a:r>
            <a:r>
              <a:rPr lang="ru-RU" dirty="0"/>
              <a:t> </a:t>
            </a:r>
            <a:r>
              <a:rPr lang="ru-RU" dirty="0" err="1"/>
              <a:t>Information</a:t>
            </a:r>
            <a:r>
              <a:rPr lang="ru-RU" dirty="0"/>
              <a:t> &amp; </a:t>
            </a:r>
            <a:r>
              <a:rPr lang="ru-RU" dirty="0" err="1"/>
              <a:t>Decision</a:t>
            </a:r>
            <a:r>
              <a:rPr lang="ru-RU" dirty="0"/>
              <a:t> </a:t>
            </a:r>
            <a:r>
              <a:rPr lang="ru-RU" dirty="0" err="1"/>
              <a:t>Systems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889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DART</a:t>
            </a:r>
            <a:r>
              <a:rPr lang="ru-RU" dirty="0"/>
              <a:t>. </a:t>
            </a:r>
            <a:r>
              <a:rPr lang="ru-RU" dirty="0" smtClean="0"/>
              <a:t>Помогает </a:t>
            </a:r>
            <a:r>
              <a:rPr lang="ru-RU" dirty="0"/>
              <a:t>обрабатывать разведданные о центрах командования, управления и связи противника. </a:t>
            </a:r>
            <a:r>
              <a:rPr lang="ru-RU" dirty="0" smtClean="0"/>
              <a:t>Дает </a:t>
            </a:r>
            <a:r>
              <a:rPr lang="ru-RU" dirty="0"/>
              <a:t>советы аналитикам по идентификации критических узлов сети командования, управления и связи и помогает обрабатывать сообщения о боевой обстановке. </a:t>
            </a:r>
            <a:r>
              <a:rPr lang="ru-RU" dirty="0" smtClean="0"/>
              <a:t>Реализована </a:t>
            </a:r>
            <a:r>
              <a:rPr lang="ru-RU" dirty="0"/>
              <a:t>на языках </a:t>
            </a:r>
            <a:r>
              <a:rPr lang="en-US" dirty="0" smtClean="0"/>
              <a:t>Pascal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en-US" dirty="0" smtClean="0"/>
              <a:t>C</a:t>
            </a:r>
            <a:r>
              <a:rPr lang="ru-RU" dirty="0" smtClean="0"/>
              <a:t> </a:t>
            </a:r>
            <a:r>
              <a:rPr lang="ru-RU" dirty="0"/>
              <a:t>для компьютерных систем VAX 11/780. </a:t>
            </a:r>
            <a:r>
              <a:rPr lang="ru-RU" dirty="0" smtClean="0"/>
              <a:t>Разработана </a:t>
            </a:r>
            <a:r>
              <a:rPr lang="ru-RU" dirty="0"/>
              <a:t>компанией «</a:t>
            </a:r>
            <a:r>
              <a:rPr lang="ru-RU" dirty="0" err="1"/>
              <a:t>Par</a:t>
            </a:r>
            <a:r>
              <a:rPr lang="ru-RU" dirty="0"/>
              <a:t> </a:t>
            </a:r>
            <a:r>
              <a:rPr lang="ru-RU" dirty="0" err="1"/>
              <a:t>Technology</a:t>
            </a:r>
            <a:r>
              <a:rPr lang="ru-RU" dirty="0"/>
              <a:t> </a:t>
            </a:r>
            <a:r>
              <a:rPr lang="ru-RU" dirty="0" err="1"/>
              <a:t>Corporation</a:t>
            </a:r>
            <a:r>
              <a:rPr lang="ru-RU" dirty="0"/>
              <a:t>»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16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HANNIBAL</a:t>
            </a:r>
            <a:r>
              <a:rPr lang="ru-RU" dirty="0"/>
              <a:t>. В</a:t>
            </a:r>
            <a:r>
              <a:rPr lang="ru-RU" dirty="0" smtClean="0"/>
              <a:t>ыполняет </a:t>
            </a:r>
            <a:r>
              <a:rPr lang="ru-RU" dirty="0"/>
              <a:t>оценивание ситуаций в области разведки радиообмена противника. Система идентифицирует соединения противника и боевой порядок их связи, интерпретируя данные радиоперехвата. Эти данные включают информацию о местонахождении и характеристиках сигналов (частоте, модуляции, классе канала и другие) обнаруженных средств связи. Знания в системе представлены в рамках архитектуры доски объявлений, координирующей деятельность нескольких специалистов, или источников знаний. </a:t>
            </a:r>
            <a:r>
              <a:rPr lang="ru-RU" dirty="0" smtClean="0"/>
              <a:t>Разработана </a:t>
            </a:r>
            <a:r>
              <a:rPr lang="ru-RU" dirty="0"/>
              <a:t>компанией ESL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987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I&amp;W</a:t>
            </a:r>
            <a:r>
              <a:rPr lang="ru-RU" dirty="0"/>
              <a:t>. </a:t>
            </a:r>
            <a:r>
              <a:rPr lang="ru-RU" dirty="0" smtClean="0"/>
              <a:t>Помогает </a:t>
            </a:r>
            <a:r>
              <a:rPr lang="ru-RU" dirty="0"/>
              <a:t>аналитикам из разведки предсказывать, когда и где произойдет следующее вооруженное столкновение. Система анализирует поступающие сообщения разведки, например донесения о местонахождении воинских соединений, их деятельности и передвижениях, применяя знания об обычных признаках активности войск. Знания представлены в рамках архитектуры доски объявлений, в которой для обеспечения компетентности применены как правила с прямой цепочкой рассуждений, так и фреймы. Система реализована на языке INTERLISP-D для АРМ </a:t>
            </a:r>
            <a:r>
              <a:rPr lang="ru-RU" dirty="0" err="1"/>
              <a:t>Xerox</a:t>
            </a:r>
            <a:r>
              <a:rPr lang="ru-RU" dirty="0"/>
              <a:t> 1100. </a:t>
            </a:r>
            <a:r>
              <a:rPr lang="ru-RU" dirty="0" smtClean="0"/>
              <a:t>Разработана </a:t>
            </a:r>
            <a:r>
              <a:rPr lang="ru-RU" dirty="0"/>
              <a:t>компанией ESL в сотрудничестве со </a:t>
            </a:r>
            <a:r>
              <a:rPr lang="ru-RU" dirty="0" err="1"/>
              <a:t>Стенфордским</a:t>
            </a:r>
            <a:r>
              <a:rPr lang="ru-RU" dirty="0"/>
              <a:t> университетом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430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RUBRIC</a:t>
            </a:r>
            <a:r>
              <a:rPr lang="ru-RU" dirty="0"/>
              <a:t>. </a:t>
            </a:r>
            <a:r>
              <a:rPr lang="ru-RU" dirty="0" smtClean="0"/>
              <a:t>Помогает </a:t>
            </a:r>
            <a:r>
              <a:rPr lang="ru-RU" dirty="0"/>
              <a:t>пользователю получить доступ к базам данных, содержащим </a:t>
            </a:r>
            <a:r>
              <a:rPr lang="ru-RU" dirty="0" smtClean="0"/>
              <a:t>неструктурированные </a:t>
            </a:r>
            <a:r>
              <a:rPr lang="ru-RU" dirty="0"/>
              <a:t>тексты. </a:t>
            </a:r>
            <a:r>
              <a:rPr lang="ru-RU" dirty="0" smtClean="0"/>
              <a:t>Когда </a:t>
            </a:r>
            <a:r>
              <a:rPr lang="ru-RU" dirty="0"/>
              <a:t>пользователь называет какую-нибудь тему, RUBRIC автоматически разыскивает все документы, содержащие тексты, связанные с этой темой. В системе RUBRIC взаимоотношения между темами, </a:t>
            </a:r>
            <a:r>
              <a:rPr lang="ru-RU" dirty="0" err="1"/>
              <a:t>подтемами</a:t>
            </a:r>
            <a:r>
              <a:rPr lang="ru-RU" dirty="0"/>
              <a:t> и фразами, содержащими ключевые слова, выражены в виде правил. Правила также определяют другие варианты терминов, выражений и способов написания одной и той же темы или понятия. </a:t>
            </a:r>
            <a:r>
              <a:rPr lang="ru-RU" dirty="0" smtClean="0"/>
              <a:t>Реализована </a:t>
            </a:r>
            <a:r>
              <a:rPr lang="ru-RU" dirty="0"/>
              <a:t>на языке FRANZ LISP, разработана компанией «</a:t>
            </a:r>
            <a:r>
              <a:rPr lang="ru-RU" dirty="0" err="1"/>
              <a:t>Advanced</a:t>
            </a:r>
            <a:r>
              <a:rPr lang="ru-RU" dirty="0"/>
              <a:t> </a:t>
            </a:r>
            <a:r>
              <a:rPr lang="ru-RU" dirty="0" err="1"/>
              <a:t>Information</a:t>
            </a:r>
            <a:r>
              <a:rPr lang="ru-RU" dirty="0"/>
              <a:t> &amp; </a:t>
            </a:r>
            <a:r>
              <a:rPr lang="ru-RU" dirty="0" err="1"/>
              <a:t>Decision</a:t>
            </a:r>
            <a:r>
              <a:rPr lang="ru-RU" dirty="0"/>
              <a:t> </a:t>
            </a:r>
            <a:r>
              <a:rPr lang="ru-RU" dirty="0" err="1"/>
              <a:t>Systems</a:t>
            </a:r>
            <a:r>
              <a:rPr lang="ru-RU" dirty="0"/>
              <a:t>»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974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CODES</a:t>
            </a:r>
            <a:r>
              <a:rPr lang="ru-RU" dirty="0"/>
              <a:t>. </a:t>
            </a:r>
            <a:r>
              <a:rPr lang="ru-RU" dirty="0" smtClean="0"/>
              <a:t>Помогает </a:t>
            </a:r>
            <a:r>
              <a:rPr lang="ru-RU" dirty="0"/>
              <a:t>разработчику </a:t>
            </a:r>
            <a:r>
              <a:rPr lang="ru-RU" dirty="0" smtClean="0"/>
              <a:t>БД, </a:t>
            </a:r>
            <a:r>
              <a:rPr lang="ru-RU" dirty="0"/>
              <a:t>желающему использовать подход </a:t>
            </a:r>
            <a:r>
              <a:rPr lang="ru-RU" dirty="0" smtClean="0"/>
              <a:t>IDEF1. </a:t>
            </a:r>
            <a:r>
              <a:rPr lang="ru-RU" dirty="0"/>
              <a:t>Разработчик описывает, какие свойства и взаимосвязи желательны в базе данных, под руководством системы CODES, осуществляемым в форме диалога. Затем система применяет свои знания в виде правил и эвристик IDEF1 для построения концептуальной схемы разрабатываемой </a:t>
            </a:r>
            <a:r>
              <a:rPr lang="ru-RU" dirty="0" smtClean="0"/>
              <a:t>БД. </a:t>
            </a:r>
            <a:r>
              <a:rPr lang="ru-RU" dirty="0"/>
              <a:t>Знания в CODES представлены в виде правил с применением обратной цепочки рассуждений в качестве стратегии управления. CODES реализована на языке UCI LISP. </a:t>
            </a:r>
            <a:r>
              <a:rPr lang="ru-RU" dirty="0" smtClean="0"/>
              <a:t>Разработана </a:t>
            </a:r>
            <a:r>
              <a:rPr lang="ru-RU" dirty="0"/>
              <a:t>в Университете штата Южная Калифорния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203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MIXER</a:t>
            </a:r>
            <a:r>
              <a:rPr lang="ru-RU" dirty="0"/>
              <a:t>. </a:t>
            </a:r>
            <a:r>
              <a:rPr lang="ru-RU" dirty="0" smtClean="0"/>
              <a:t>Оказывает </a:t>
            </a:r>
            <a:r>
              <a:rPr lang="ru-RU" dirty="0"/>
              <a:t>помощь программистам в написании микропрограмм для разработанной </a:t>
            </a:r>
            <a:r>
              <a:rPr lang="ru-RU" dirty="0" err="1"/>
              <a:t>Texas</a:t>
            </a:r>
            <a:r>
              <a:rPr lang="ru-RU" dirty="0"/>
              <a:t> </a:t>
            </a:r>
            <a:r>
              <a:rPr lang="ru-RU" dirty="0" err="1"/>
              <a:t>Instruments</a:t>
            </a:r>
            <a:r>
              <a:rPr lang="ru-RU" dirty="0"/>
              <a:t> СБИС TI990. По заданному описанию микропрограммы система получает оптимизированные микропрограммы для TI990. MIXER содержит знания по микропрограммированию для TI990, </a:t>
            </a:r>
            <a:r>
              <a:rPr lang="ru-RU" dirty="0" smtClean="0"/>
              <a:t>знания </a:t>
            </a:r>
            <a:r>
              <a:rPr lang="ru-RU" dirty="0"/>
              <a:t>о том, как преобразовывать введенные описания в наборы промежуточных операций, как выделить соответствующие регистры под переменные и как преобразовать промежуточные операции в наборы микроопераций. </a:t>
            </a:r>
            <a:r>
              <a:rPr lang="ru-RU" dirty="0" smtClean="0"/>
              <a:t>Система </a:t>
            </a:r>
            <a:r>
              <a:rPr lang="ru-RU" dirty="0"/>
              <a:t>представляет знания в виде правил и данных, обладает унификацией, управляемой механизмом вывода, и динамическим возвратом. </a:t>
            </a:r>
            <a:r>
              <a:rPr lang="ru-RU" dirty="0" smtClean="0"/>
              <a:t>Реализована </a:t>
            </a:r>
            <a:r>
              <a:rPr lang="ru-RU" dirty="0"/>
              <a:t>на языке Пролог. </a:t>
            </a:r>
            <a:r>
              <a:rPr lang="ru-RU" dirty="0" smtClean="0"/>
              <a:t>Разработана </a:t>
            </a:r>
            <a:r>
              <a:rPr lang="ru-RU" dirty="0"/>
              <a:t>в Токийском университете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474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340768"/>
            <a:ext cx="8496944" cy="50405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ACE</a:t>
            </a:r>
            <a:r>
              <a:rPr lang="ru-RU" dirty="0"/>
              <a:t>. </a:t>
            </a:r>
            <a:r>
              <a:rPr lang="ru-RU" dirty="0" smtClean="0"/>
              <a:t>Определяет </a:t>
            </a:r>
            <a:r>
              <a:rPr lang="ru-RU" dirty="0"/>
              <a:t>неисправности в телефонной сети и дает рекомендации по необходимому ремонту и восстановительным мероприятиям. Система работает без вмешательства пользователя, анализируя сводки-отчеты о состоянии, получаемые ежедневно с помощью </a:t>
            </a:r>
            <a:r>
              <a:rPr lang="ru-RU" dirty="0" smtClean="0"/>
              <a:t>программы CRAS, </a:t>
            </a:r>
            <a:r>
              <a:rPr lang="ru-RU" dirty="0"/>
              <a:t>следящей за ходом ремонтных работ в кабельной сети. ACE обнаруживает неисправные телефонные кабели и затем решает, нуждаются ли они в планово-предупредительном ремонте и выбирает, какой тип ремонтных работ вероятнее всего будет эффективным. Затем ACE запоминает свои рекомендации в специальной базе данных, к которой у пользователя есть доступ. </a:t>
            </a:r>
            <a:r>
              <a:rPr lang="ru-RU" dirty="0" smtClean="0"/>
              <a:t>Представление </a:t>
            </a:r>
            <a:r>
              <a:rPr lang="ru-RU" dirty="0"/>
              <a:t>знаний </a:t>
            </a:r>
            <a:r>
              <a:rPr lang="ru-RU" dirty="0" smtClean="0"/>
              <a:t>основано </a:t>
            </a:r>
            <a:r>
              <a:rPr lang="ru-RU" dirty="0"/>
              <a:t>на правилах, используется схема управления посредством прямой цепочки рассуждений. АСЕ реализована на языках OPS4 и FRANZ </a:t>
            </a:r>
            <a:r>
              <a:rPr lang="ru-RU" dirty="0" smtClean="0"/>
              <a:t>LISP. Разработана </a:t>
            </a:r>
            <a:r>
              <a:rPr lang="ru-RU" dirty="0"/>
              <a:t>в </a:t>
            </a:r>
            <a:r>
              <a:rPr lang="ru-RU" dirty="0" err="1"/>
              <a:t>Bell</a:t>
            </a:r>
            <a:r>
              <a:rPr lang="ru-RU" dirty="0"/>
              <a:t> </a:t>
            </a:r>
            <a:r>
              <a:rPr lang="ru-RU" dirty="0" err="1"/>
              <a:t>Laboratories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40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340768"/>
            <a:ext cx="8496944" cy="5040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IBM </a:t>
            </a:r>
            <a:r>
              <a:rPr lang="ru-RU" b="1" dirty="0" err="1" smtClean="0"/>
              <a:t>Watson</a:t>
            </a:r>
            <a:r>
              <a:rPr lang="ru-RU" b="1" dirty="0" smtClean="0"/>
              <a:t>. </a:t>
            </a:r>
            <a:r>
              <a:rPr lang="ru-RU" dirty="0" smtClean="0"/>
              <a:t>суперкомпьютер </a:t>
            </a:r>
            <a:r>
              <a:rPr lang="ru-RU" dirty="0"/>
              <a:t>фирмы IBM, способный понимать вопросы, сформулированные на естественном языке, и </a:t>
            </a:r>
            <a:r>
              <a:rPr lang="ru-RU" dirty="0" smtClean="0"/>
              <a:t>формулировать </a:t>
            </a:r>
            <a:r>
              <a:rPr lang="ru-RU" dirty="0"/>
              <a:t>ответы </a:t>
            </a:r>
            <a:r>
              <a:rPr lang="ru-RU" dirty="0" smtClean="0"/>
              <a:t>на основе базы знаний.</a:t>
            </a:r>
          </a:p>
          <a:p>
            <a:pPr marL="0" indent="0">
              <a:buNone/>
            </a:pPr>
            <a:r>
              <a:rPr lang="ru-RU" dirty="0" smtClean="0"/>
              <a:t>Первое </a:t>
            </a:r>
            <a:r>
              <a:rPr lang="ru-RU" dirty="0"/>
              <a:t>коммерческое приложение </a:t>
            </a:r>
            <a:r>
              <a:rPr lang="ru-RU" dirty="0" err="1" smtClean="0"/>
              <a:t>Watson</a:t>
            </a:r>
            <a:r>
              <a:rPr lang="ru-RU" dirty="0" smtClean="0"/>
              <a:t> </a:t>
            </a:r>
            <a:r>
              <a:rPr lang="ru-RU" dirty="0"/>
              <a:t>будет предназначено для принятия решений по управлению использованием при лечении рака легких в Мемориальном онкологическом центре имени </a:t>
            </a:r>
            <a:r>
              <a:rPr lang="ru-RU" dirty="0" err="1"/>
              <a:t>Слоуна-Кеттеринга</a:t>
            </a:r>
            <a:r>
              <a:rPr lang="ru-RU" dirty="0"/>
              <a:t> </a:t>
            </a:r>
            <a:r>
              <a:rPr lang="ru-RU"/>
              <a:t>в </a:t>
            </a:r>
            <a:r>
              <a:rPr lang="ru-RU" smtClean="0"/>
              <a:t>Нью-Йорке.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93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Оболочки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340768"/>
            <a:ext cx="8496944" cy="5040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1980-х появились «оболочки» для </a:t>
            </a:r>
            <a:r>
              <a:rPr lang="ru-RU" dirty="0" smtClean="0"/>
              <a:t>ЭС </a:t>
            </a:r>
            <a:r>
              <a:rPr lang="ru-RU" dirty="0"/>
              <a:t>(в том числе основанных на </a:t>
            </a:r>
            <a:r>
              <a:rPr lang="ru-RU" b="1" dirty="0"/>
              <a:t>MYCIN</a:t>
            </a:r>
            <a:r>
              <a:rPr lang="ru-RU" dirty="0"/>
              <a:t>, известная как </a:t>
            </a:r>
            <a:r>
              <a:rPr lang="ru-RU" b="1" dirty="0" smtClean="0"/>
              <a:t>E-MYCIN</a:t>
            </a:r>
            <a:r>
              <a:rPr lang="ru-RU" dirty="0" smtClean="0"/>
              <a:t>, </a:t>
            </a:r>
            <a:r>
              <a:rPr lang="ru-RU" dirty="0"/>
              <a:t>что способствовало разработке </a:t>
            </a:r>
            <a:r>
              <a:rPr lang="ru-RU" dirty="0" smtClean="0"/>
              <a:t>ЭС </a:t>
            </a:r>
            <a:r>
              <a:rPr lang="ru-RU" dirty="0"/>
              <a:t>в разнообразных прикладных </a:t>
            </a:r>
            <a:r>
              <a:rPr lang="ru-RU" dirty="0" smtClean="0"/>
              <a:t>областях.</a:t>
            </a:r>
          </a:p>
          <a:p>
            <a:pPr marL="0" indent="0">
              <a:buNone/>
            </a:pPr>
            <a:r>
              <a:rPr lang="ru-RU" dirty="0"/>
              <a:t>На базе </a:t>
            </a:r>
            <a:r>
              <a:rPr lang="ru-RU" dirty="0" smtClean="0"/>
              <a:t>E-MYCIN </a:t>
            </a:r>
            <a:r>
              <a:rPr lang="ru-RU" dirty="0"/>
              <a:t>были разработаны </a:t>
            </a:r>
            <a:r>
              <a:rPr lang="ru-RU" dirty="0" smtClean="0"/>
              <a:t>ЭС </a:t>
            </a:r>
            <a:r>
              <a:rPr lang="ru-RU" dirty="0"/>
              <a:t>как для медицины (например, система </a:t>
            </a:r>
            <a:r>
              <a:rPr lang="ru-RU" b="1" dirty="0"/>
              <a:t>PUFF</a:t>
            </a:r>
            <a:r>
              <a:rPr lang="ru-RU" dirty="0"/>
              <a:t> для диагностики легочных заболеваний), так и для других областей знаний, </a:t>
            </a:r>
            <a:r>
              <a:rPr lang="ru-RU" dirty="0" smtClean="0"/>
              <a:t>например, </a:t>
            </a:r>
            <a:r>
              <a:rPr lang="ru-RU" dirty="0"/>
              <a:t>программа структурного анализа </a:t>
            </a:r>
            <a:r>
              <a:rPr lang="ru-RU" b="1" dirty="0"/>
              <a:t>SACON</a:t>
            </a:r>
            <a:r>
              <a:rPr lang="ru-RU" dirty="0"/>
              <a:t>.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266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ЭС. Оболочки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340768"/>
            <a:ext cx="8496944" cy="5040560"/>
          </a:xfrm>
        </p:spPr>
        <p:txBody>
          <a:bodyPr>
            <a:normAutofit/>
          </a:bodyPr>
          <a:lstStyle/>
          <a:p>
            <a:r>
              <a:rPr lang="ru-RU" b="1" dirty="0"/>
              <a:t>CLIPS</a:t>
            </a:r>
            <a:r>
              <a:rPr lang="ru-RU" dirty="0"/>
              <a:t>, </a:t>
            </a:r>
            <a:r>
              <a:rPr lang="ru-RU" dirty="0" smtClean="0"/>
              <a:t>(</a:t>
            </a:r>
            <a:r>
              <a:rPr lang="ru-RU" i="1" dirty="0" smtClean="0"/>
              <a:t>C </a:t>
            </a:r>
            <a:r>
              <a:rPr lang="ru-RU" i="1" dirty="0" err="1"/>
              <a:t>Language</a:t>
            </a:r>
            <a:r>
              <a:rPr lang="ru-RU" i="1" dirty="0"/>
              <a:t> </a:t>
            </a:r>
            <a:r>
              <a:rPr lang="ru-RU" i="1" dirty="0" err="1"/>
              <a:t>Integrated</a:t>
            </a:r>
            <a:r>
              <a:rPr lang="ru-RU" i="1" dirty="0"/>
              <a:t> </a:t>
            </a:r>
            <a:r>
              <a:rPr lang="ru-RU" i="1" dirty="0" err="1"/>
              <a:t>Production</a:t>
            </a:r>
            <a:r>
              <a:rPr lang="ru-RU" i="1" dirty="0"/>
              <a:t> </a:t>
            </a:r>
            <a:r>
              <a:rPr lang="ru-RU" i="1" dirty="0" err="1"/>
              <a:t>System</a:t>
            </a:r>
            <a:r>
              <a:rPr lang="ru-RU" dirty="0" smtClean="0"/>
              <a:t>). </a:t>
            </a:r>
            <a:r>
              <a:rPr lang="ru-RU" dirty="0"/>
              <a:t>Первые версии CLIPS разрабатывались с 1984 года в Космическом центре Джонсона </a:t>
            </a:r>
            <a:r>
              <a:rPr lang="ru-RU" dirty="0" smtClean="0"/>
              <a:t>NASA</a:t>
            </a:r>
            <a:endParaRPr lang="ru-RU" dirty="0"/>
          </a:p>
          <a:p>
            <a:r>
              <a:rPr lang="ru-RU" dirty="0"/>
              <a:t>CLIPS является продукционной </a:t>
            </a:r>
            <a:r>
              <a:rPr lang="ru-RU" dirty="0" smtClean="0"/>
              <a:t>системой</a:t>
            </a:r>
          </a:p>
          <a:p>
            <a:r>
              <a:rPr lang="ru-RU" dirty="0" smtClean="0"/>
              <a:t>Производные системы: </a:t>
            </a:r>
            <a:r>
              <a:rPr lang="en-US" dirty="0" err="1" smtClean="0"/>
              <a:t>PerlCLIPS</a:t>
            </a:r>
            <a:r>
              <a:rPr lang="en-US" dirty="0" smtClean="0"/>
              <a:t>, Protégé, Python–CLIPS, </a:t>
            </a:r>
            <a:r>
              <a:rPr lang="en-US" dirty="0" err="1" smtClean="0"/>
              <a:t>FuzzyClips</a:t>
            </a:r>
            <a:r>
              <a:rPr lang="en-US" dirty="0" smtClean="0"/>
              <a:t> </a:t>
            </a:r>
            <a:r>
              <a:rPr lang="ru-RU" dirty="0" smtClean="0"/>
              <a:t>и др.</a:t>
            </a:r>
          </a:p>
          <a:p>
            <a:endParaRPr lang="ru-RU" dirty="0"/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693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Стадии существования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Стадия </a:t>
            </a:r>
            <a:r>
              <a:rPr lang="ru-RU" dirty="0" smtClean="0"/>
              <a:t>характеризует </a:t>
            </a:r>
            <a:r>
              <a:rPr lang="ru-RU" dirty="0"/>
              <a:t>степень проработанности и отлаженности </a:t>
            </a:r>
            <a:r>
              <a:rPr lang="ru-RU" dirty="0" smtClean="0"/>
              <a:t>ЭС: </a:t>
            </a:r>
            <a:endParaRPr lang="ru-RU" dirty="0"/>
          </a:p>
          <a:p>
            <a:pPr lvl="0"/>
            <a:r>
              <a:rPr lang="ru-RU" dirty="0"/>
              <a:t>исследовательский </a:t>
            </a:r>
            <a:r>
              <a:rPr lang="ru-RU" dirty="0" smtClean="0"/>
              <a:t>прототип</a:t>
            </a:r>
            <a:endParaRPr lang="ru-RU" dirty="0"/>
          </a:p>
          <a:p>
            <a:pPr lvl="0"/>
            <a:r>
              <a:rPr lang="ru-RU" dirty="0"/>
              <a:t>действующий </a:t>
            </a:r>
            <a:r>
              <a:rPr lang="ru-RU" dirty="0" smtClean="0"/>
              <a:t>прототип</a:t>
            </a:r>
            <a:endParaRPr lang="ru-RU" dirty="0"/>
          </a:p>
          <a:p>
            <a:pPr lvl="0"/>
            <a:r>
              <a:rPr lang="ru-RU" dirty="0"/>
              <a:t>промышленная </a:t>
            </a:r>
            <a:r>
              <a:rPr lang="ru-RU" dirty="0" smtClean="0"/>
              <a:t>система</a:t>
            </a:r>
            <a:endParaRPr lang="ru-RU" dirty="0"/>
          </a:p>
          <a:p>
            <a:pPr lvl="0"/>
            <a:r>
              <a:rPr lang="ru-RU" dirty="0"/>
              <a:t>коммерческая </a:t>
            </a:r>
            <a:r>
              <a:rPr lang="ru-RU" dirty="0" smtClean="0"/>
              <a:t>система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49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Стадии существования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 smtClean="0"/>
              <a:t>Исследовательский прототип</a:t>
            </a:r>
            <a:r>
              <a:rPr lang="ru-RU" dirty="0" smtClean="0"/>
              <a:t> решает поставленные задачи, </a:t>
            </a:r>
            <a:r>
              <a:rPr lang="ru-RU" dirty="0"/>
              <a:t>но может быть </a:t>
            </a:r>
            <a:r>
              <a:rPr lang="ru-RU" dirty="0" smtClean="0"/>
              <a:t>неустойчив </a:t>
            </a:r>
            <a:r>
              <a:rPr lang="ru-RU" dirty="0"/>
              <a:t>в </a:t>
            </a:r>
            <a:r>
              <a:rPr lang="ru-RU" dirty="0" smtClean="0"/>
              <a:t>работе. Обычно в </a:t>
            </a:r>
            <a:r>
              <a:rPr lang="ru-RU" dirty="0"/>
              <a:t>базе знаний не больше </a:t>
            </a:r>
            <a:r>
              <a:rPr lang="ru-RU" dirty="0" smtClean="0"/>
              <a:t>50 </a:t>
            </a:r>
            <a:r>
              <a:rPr lang="ru-RU" dirty="0"/>
              <a:t>исполняемых </a:t>
            </a:r>
            <a:r>
              <a:rPr lang="ru-RU" dirty="0" smtClean="0"/>
              <a:t>утверждений. </a:t>
            </a:r>
            <a:endParaRPr lang="ru-RU" dirty="0"/>
          </a:p>
          <a:p>
            <a:r>
              <a:rPr lang="ru-RU" b="1" dirty="0"/>
              <a:t>Действующий прототип</a:t>
            </a:r>
            <a:r>
              <a:rPr lang="ru-RU" dirty="0"/>
              <a:t> надежно решает все задачи, но для решения сложных задач может требовать чрезмерно много времени и (или) памяти. </a:t>
            </a:r>
            <a:r>
              <a:rPr lang="ru-RU" dirty="0" smtClean="0"/>
              <a:t>Количество </a:t>
            </a:r>
            <a:r>
              <a:rPr lang="ru-RU" dirty="0"/>
              <a:t>исполняемых утверждений в базе знаний </a:t>
            </a:r>
            <a:r>
              <a:rPr lang="ru-RU" dirty="0" smtClean="0"/>
              <a:t>- </a:t>
            </a:r>
            <a:r>
              <a:rPr lang="ru-RU" dirty="0"/>
              <a:t>до 100.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00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Стадии существования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smtClean="0"/>
              <a:t>Промышленная система –</a:t>
            </a:r>
            <a:r>
              <a:rPr lang="ru-RU" dirty="0" smtClean="0"/>
              <a:t> обеспечивает высокое </a:t>
            </a:r>
            <a:r>
              <a:rPr lang="ru-RU" dirty="0"/>
              <a:t>качество решений всех </a:t>
            </a:r>
            <a:r>
              <a:rPr lang="ru-RU" dirty="0" smtClean="0"/>
              <a:t>задач предметной области </a:t>
            </a:r>
            <a:r>
              <a:rPr lang="ru-RU" dirty="0"/>
              <a:t>при </a:t>
            </a:r>
            <a:r>
              <a:rPr lang="ru-RU" dirty="0" smtClean="0"/>
              <a:t>минимуме затрат </a:t>
            </a:r>
            <a:r>
              <a:rPr lang="ru-RU" dirty="0"/>
              <a:t>времени и памяти. Обычно процесс преобразования действующего прототипа в промышленную систему состоит в расширении базы знаний (до 150 исполняемых утверждений) и ее тщательной отладки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b="1" dirty="0" smtClean="0"/>
              <a:t>Коммерческая система –</a:t>
            </a:r>
            <a:r>
              <a:rPr lang="ru-RU" dirty="0" smtClean="0"/>
              <a:t> пригодна для </a:t>
            </a:r>
            <a:r>
              <a:rPr lang="ru-RU" dirty="0"/>
              <a:t>продажи различным потребителям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63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Классификация экспертных систем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31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771800" y="1340768"/>
            <a:ext cx="345638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4" descr="Описание: Классификация экспертных систе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746" y="980728"/>
            <a:ext cx="6255598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475656" y="4509120"/>
            <a:ext cx="2232248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32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Классификация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По </a:t>
            </a:r>
            <a:r>
              <a:rPr lang="ru-RU" b="1" dirty="0" smtClean="0"/>
              <a:t>назначению</a:t>
            </a:r>
            <a:r>
              <a:rPr lang="ru-RU" dirty="0" smtClean="0"/>
              <a:t>: </a:t>
            </a:r>
            <a:endParaRPr lang="ru-RU" dirty="0"/>
          </a:p>
          <a:p>
            <a:pPr lvl="0"/>
            <a:r>
              <a:rPr lang="ru-RU" dirty="0"/>
              <a:t>диагностика состояния систем, в том числе мониторинг (непрерывное отслеживание текущего состояния</a:t>
            </a:r>
            <a:r>
              <a:rPr lang="ru-RU" dirty="0" smtClean="0"/>
              <a:t>)</a:t>
            </a:r>
            <a:endParaRPr lang="ru-RU" dirty="0"/>
          </a:p>
          <a:p>
            <a:pPr lvl="0"/>
            <a:r>
              <a:rPr lang="ru-RU" dirty="0"/>
              <a:t>прогнозирование развития систем на основе моделирования прошлого и </a:t>
            </a:r>
            <a:r>
              <a:rPr lang="ru-RU" dirty="0" smtClean="0"/>
              <a:t>настоящего</a:t>
            </a:r>
            <a:endParaRPr lang="ru-RU" dirty="0"/>
          </a:p>
          <a:p>
            <a:pPr lvl="0"/>
            <a:r>
              <a:rPr lang="ru-RU" dirty="0"/>
              <a:t>проектирование или выработка четких предписаний по построению объектов, удовлетворяющих поставленным </a:t>
            </a:r>
            <a:r>
              <a:rPr lang="ru-RU" dirty="0" smtClean="0"/>
              <a:t>требованиям</a:t>
            </a:r>
            <a:endParaRPr lang="ru-RU" dirty="0"/>
          </a:p>
          <a:p>
            <a:pPr lvl="0"/>
            <a:r>
              <a:rPr lang="ru-RU" dirty="0"/>
              <a:t>планирование и разработка мероприятий в организационном и технологическом </a:t>
            </a:r>
            <a:r>
              <a:rPr lang="ru-RU" dirty="0" smtClean="0"/>
              <a:t>управлении</a:t>
            </a:r>
            <a:endParaRPr lang="ru-RU" dirty="0"/>
          </a:p>
          <a:p>
            <a:pPr lvl="0"/>
            <a:r>
              <a:rPr lang="ru-RU" dirty="0"/>
              <a:t>автоматическое управление (регулирование</a:t>
            </a:r>
            <a:r>
              <a:rPr lang="ru-RU" dirty="0" smtClean="0"/>
              <a:t>)</a:t>
            </a:r>
            <a:endParaRPr lang="ru-RU" dirty="0"/>
          </a:p>
          <a:p>
            <a:pPr lvl="0"/>
            <a:r>
              <a:rPr lang="ru-RU" dirty="0"/>
              <a:t>обучение пользователей и </a:t>
            </a:r>
            <a:r>
              <a:rPr lang="ru-RU" dirty="0" smtClean="0"/>
              <a:t>др.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90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Классификация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По </a:t>
            </a:r>
            <a:r>
              <a:rPr lang="ru-RU" b="1" dirty="0"/>
              <a:t>предметной области</a:t>
            </a:r>
            <a:r>
              <a:rPr lang="ru-RU" dirty="0"/>
              <a:t> наибольшее количество </a:t>
            </a:r>
            <a:r>
              <a:rPr lang="ru-RU" dirty="0" smtClean="0"/>
              <a:t>ЭС </a:t>
            </a:r>
            <a:r>
              <a:rPr lang="ru-RU" dirty="0"/>
              <a:t>используется в военном деле, </a:t>
            </a:r>
            <a:r>
              <a:rPr lang="ru-RU" dirty="0" smtClean="0"/>
              <a:t>медицине.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ЭС используются в: геологии</a:t>
            </a:r>
            <a:r>
              <a:rPr lang="ru-RU" dirty="0"/>
              <a:t>, инженерном деле, информатике, космической технике, математике</a:t>
            </a:r>
            <a:r>
              <a:rPr lang="ru-RU" dirty="0" smtClean="0"/>
              <a:t>,, </a:t>
            </a:r>
            <a:r>
              <a:rPr lang="ru-RU" dirty="0"/>
              <a:t>метеорологии, промышленности, сельском хозяйстве, управлении процессами, физике, филологии, химии, электронике, юриспруденции.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14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Классификация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По </a:t>
            </a:r>
            <a:r>
              <a:rPr lang="ru-RU" b="1" dirty="0"/>
              <a:t>методам представления </a:t>
            </a:r>
            <a:r>
              <a:rPr lang="ru-RU" b="1" dirty="0" smtClean="0"/>
              <a:t>знаний:</a:t>
            </a:r>
          </a:p>
          <a:p>
            <a:r>
              <a:rPr lang="ru-RU" dirty="0" smtClean="0"/>
              <a:t>Традиционные ЭС </a:t>
            </a:r>
            <a:r>
              <a:rPr lang="ru-RU" dirty="0"/>
              <a:t>используют, в основном, эмпирические модели представления знаний и исчисление предикатов первого </a:t>
            </a:r>
            <a:r>
              <a:rPr lang="ru-RU" dirty="0" smtClean="0"/>
              <a:t>порядка</a:t>
            </a:r>
          </a:p>
          <a:p>
            <a:r>
              <a:rPr lang="ru-RU" dirty="0" smtClean="0"/>
              <a:t>Гибридные ЭС </a:t>
            </a:r>
            <a:r>
              <a:rPr lang="ru-RU" dirty="0"/>
              <a:t>используют все доступные методы, в том числе оптимизационные алгоритмы и концепции баз </a:t>
            </a:r>
            <a:r>
              <a:rPr lang="ru-RU" dirty="0" smtClean="0"/>
              <a:t>данных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60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Классификация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По </a:t>
            </a:r>
            <a:r>
              <a:rPr lang="ru-RU" b="1" dirty="0"/>
              <a:t>степени </a:t>
            </a:r>
            <a:r>
              <a:rPr lang="ru-RU" b="1" dirty="0" smtClean="0"/>
              <a:t>сложности:</a:t>
            </a:r>
          </a:p>
          <a:p>
            <a:r>
              <a:rPr lang="ru-RU" b="1" dirty="0" smtClean="0"/>
              <a:t>Поверхностные</a:t>
            </a:r>
            <a:r>
              <a:rPr lang="ru-RU" dirty="0" smtClean="0"/>
              <a:t> ЭС </a:t>
            </a:r>
            <a:r>
              <a:rPr lang="ru-RU" dirty="0"/>
              <a:t>представляют знания в </a:t>
            </a:r>
            <a:r>
              <a:rPr lang="ru-RU" dirty="0" smtClean="0"/>
              <a:t>виде логических </a:t>
            </a:r>
            <a:r>
              <a:rPr lang="ru-RU" dirty="0"/>
              <a:t>правил </a:t>
            </a:r>
            <a:r>
              <a:rPr lang="ru-RU" dirty="0" smtClean="0"/>
              <a:t>(«</a:t>
            </a:r>
            <a:r>
              <a:rPr lang="ru-RU" dirty="0"/>
              <a:t>ЕСЛИ-ТО</a:t>
            </a:r>
            <a:r>
              <a:rPr lang="ru-RU" dirty="0" smtClean="0"/>
              <a:t>»). </a:t>
            </a:r>
            <a:r>
              <a:rPr lang="ru-RU" dirty="0"/>
              <a:t>Условием выводимости решения является «</a:t>
            </a:r>
            <a:r>
              <a:rPr lang="ru-RU" dirty="0" err="1"/>
              <a:t>безобрывность</a:t>
            </a:r>
            <a:r>
              <a:rPr lang="ru-RU" dirty="0"/>
              <a:t>» цепочки </a:t>
            </a:r>
            <a:r>
              <a:rPr lang="ru-RU" dirty="0" smtClean="0"/>
              <a:t>правил</a:t>
            </a:r>
          </a:p>
          <a:p>
            <a:r>
              <a:rPr lang="ru-RU" b="1" dirty="0" smtClean="0"/>
              <a:t>Глубинные</a:t>
            </a:r>
            <a:r>
              <a:rPr lang="ru-RU" dirty="0" smtClean="0"/>
              <a:t> ЭС </a:t>
            </a:r>
            <a:r>
              <a:rPr lang="ru-RU" dirty="0"/>
              <a:t>обладают способностью при обрыве цепочки правил определять (на основе метазнаний), какие действия следует предпринять для продолжения решения </a:t>
            </a:r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1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Классификация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По «</a:t>
            </a:r>
            <a:r>
              <a:rPr lang="ru-RU" b="1" dirty="0" smtClean="0"/>
              <a:t>динамичности»:</a:t>
            </a:r>
          </a:p>
          <a:p>
            <a:r>
              <a:rPr lang="ru-RU" b="1" dirty="0" smtClean="0"/>
              <a:t>статическая</a:t>
            </a:r>
            <a:r>
              <a:rPr lang="ru-RU" dirty="0" smtClean="0"/>
              <a:t>, </a:t>
            </a:r>
            <a:r>
              <a:rPr lang="ru-RU" dirty="0"/>
              <a:t>если </a:t>
            </a:r>
            <a:r>
              <a:rPr lang="ru-RU" dirty="0" smtClean="0"/>
              <a:t>исходные данные предметной области </a:t>
            </a:r>
            <a:r>
              <a:rPr lang="ru-RU" dirty="0"/>
              <a:t>не изменяются во времени. </a:t>
            </a:r>
            <a:r>
              <a:rPr lang="ru-RU" dirty="0" smtClean="0"/>
              <a:t>При </a:t>
            </a:r>
            <a:r>
              <a:rPr lang="ru-RU" dirty="0"/>
              <a:t>этом производные данные </a:t>
            </a:r>
            <a:r>
              <a:rPr lang="ru-RU" dirty="0" smtClean="0"/>
              <a:t>могут изменяться. </a:t>
            </a:r>
            <a:endParaRPr lang="ru-RU" dirty="0"/>
          </a:p>
          <a:p>
            <a:r>
              <a:rPr lang="ru-RU" b="1" dirty="0" smtClean="0"/>
              <a:t>динамическая</a:t>
            </a:r>
            <a:r>
              <a:rPr lang="ru-RU" dirty="0" smtClean="0"/>
              <a:t>, если </a:t>
            </a:r>
            <a:r>
              <a:rPr lang="ru-RU" dirty="0"/>
              <a:t>исходные данные, описывающие предметную область, изменяются за время решения </a:t>
            </a:r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58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2935"/>
          </a:xfrm>
        </p:spPr>
        <p:txBody>
          <a:bodyPr/>
          <a:lstStyle/>
          <a:p>
            <a:r>
              <a:rPr lang="ru-RU" b="1" dirty="0"/>
              <a:t>Структура экспертной системы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37</a:t>
            </a:fld>
            <a:endParaRPr lang="ru-RU"/>
          </a:p>
        </p:txBody>
      </p:sp>
      <p:pic>
        <p:nvPicPr>
          <p:cNvPr id="6" name="Рисунок 43" descr="Описание: Структура экспертной систем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37573"/>
            <a:ext cx="8064896" cy="5287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51520" y="5589240"/>
            <a:ext cx="2448272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02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Структура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3600" b="1" dirty="0"/>
              <a:t>Механизм логического вывода</a:t>
            </a:r>
            <a:r>
              <a:rPr lang="ru-RU" sz="3600" dirty="0"/>
              <a:t> (МЛВ) </a:t>
            </a:r>
            <a:r>
              <a:rPr lang="ru-RU" sz="3600" dirty="0" smtClean="0"/>
              <a:t>- получение </a:t>
            </a:r>
            <a:r>
              <a:rPr lang="ru-RU" sz="3600" dirty="0"/>
              <a:t>новых фактов на основе </a:t>
            </a:r>
            <a:r>
              <a:rPr lang="ru-RU" sz="3600" dirty="0" smtClean="0"/>
              <a:t>исходных </a:t>
            </a:r>
            <a:r>
              <a:rPr lang="ru-RU" sz="3600" dirty="0"/>
              <a:t>данных </a:t>
            </a:r>
            <a:r>
              <a:rPr lang="ru-RU" sz="3600" dirty="0" smtClean="0"/>
              <a:t>и</a:t>
            </a:r>
            <a:r>
              <a:rPr lang="en-US" sz="3600" dirty="0" smtClean="0"/>
              <a:t> </a:t>
            </a:r>
            <a:r>
              <a:rPr lang="ru-RU" sz="3600" dirty="0" smtClean="0"/>
              <a:t>хранящихся знаний. </a:t>
            </a:r>
            <a:r>
              <a:rPr lang="ru-RU" sz="3600" b="1" dirty="0" smtClean="0"/>
              <a:t>МЛВ =</a:t>
            </a:r>
            <a:r>
              <a:rPr lang="ru-RU" sz="3600" dirty="0" smtClean="0"/>
              <a:t> </a:t>
            </a:r>
            <a:r>
              <a:rPr lang="en-US" sz="3600" b="1" dirty="0" smtClean="0"/>
              <a:t>&lt;</a:t>
            </a:r>
            <a:r>
              <a:rPr lang="en-US" sz="3600" b="1" i="1" dirty="0" smtClean="0"/>
              <a:t>V</a:t>
            </a:r>
            <a:r>
              <a:rPr lang="en-US" sz="3600" b="1" dirty="0" smtClean="0"/>
              <a:t>, </a:t>
            </a:r>
            <a:r>
              <a:rPr lang="en-US" sz="3600" b="1" i="1" dirty="0" smtClean="0"/>
              <a:t>S</a:t>
            </a:r>
            <a:r>
              <a:rPr lang="en-US" sz="3600" b="1" dirty="0" smtClean="0"/>
              <a:t>, </a:t>
            </a:r>
            <a:r>
              <a:rPr lang="en-US" sz="3600" b="1" i="1" dirty="0" smtClean="0"/>
              <a:t>K</a:t>
            </a:r>
            <a:r>
              <a:rPr lang="en-US" sz="3600" b="1" dirty="0" smtClean="0"/>
              <a:t>, </a:t>
            </a:r>
            <a:r>
              <a:rPr lang="en-US" sz="3600" b="1" i="1" dirty="0" smtClean="0"/>
              <a:t>W</a:t>
            </a:r>
            <a:r>
              <a:rPr lang="en-US" sz="3600" b="1" dirty="0" smtClean="0"/>
              <a:t>&gt;</a:t>
            </a:r>
            <a:endParaRPr lang="ru-RU" sz="3600" b="1" dirty="0"/>
          </a:p>
          <a:p>
            <a:pPr lvl="0"/>
            <a:r>
              <a:rPr lang="en-US" sz="3600" b="1" i="1" dirty="0" smtClean="0"/>
              <a:t>V</a:t>
            </a:r>
            <a:r>
              <a:rPr lang="ru-RU" sz="3600" b="1" i="1" dirty="0" smtClean="0"/>
              <a:t> </a:t>
            </a:r>
            <a:r>
              <a:rPr lang="ru-RU" sz="3600" dirty="0" smtClean="0"/>
              <a:t>– </a:t>
            </a:r>
            <a:r>
              <a:rPr lang="ru-RU" sz="3600" dirty="0"/>
              <a:t>процедура выбора </a:t>
            </a:r>
            <a:r>
              <a:rPr lang="ru-RU" sz="3600" dirty="0" smtClean="0"/>
              <a:t>правил </a:t>
            </a:r>
            <a:r>
              <a:rPr lang="ru-RU" sz="3600" dirty="0"/>
              <a:t>и </a:t>
            </a:r>
            <a:r>
              <a:rPr lang="ru-RU" sz="3600" dirty="0" smtClean="0"/>
              <a:t>фактов</a:t>
            </a:r>
            <a:endParaRPr lang="ru-RU" sz="3600" dirty="0"/>
          </a:p>
          <a:p>
            <a:pPr lvl="0"/>
            <a:r>
              <a:rPr lang="en-US" sz="3600" b="1" i="1" dirty="0" smtClean="0"/>
              <a:t>S</a:t>
            </a:r>
            <a:r>
              <a:rPr lang="ru-RU" sz="3600" b="1" i="1" dirty="0" smtClean="0"/>
              <a:t> </a:t>
            </a:r>
            <a:r>
              <a:rPr lang="ru-RU" sz="3600" dirty="0" smtClean="0"/>
              <a:t>– </a:t>
            </a:r>
            <a:r>
              <a:rPr lang="ru-RU" sz="3600" dirty="0"/>
              <a:t>процедура сопоставления правил и фактов, в результате которой определяется множество фактов, к которым применимы </a:t>
            </a:r>
            <a:r>
              <a:rPr lang="ru-RU" sz="3600" dirty="0" smtClean="0"/>
              <a:t>правила</a:t>
            </a:r>
            <a:endParaRPr lang="ru-RU" sz="3600" dirty="0"/>
          </a:p>
          <a:p>
            <a:pPr lvl="0"/>
            <a:r>
              <a:rPr lang="en-US" sz="3600" b="1" i="1" dirty="0" smtClean="0"/>
              <a:t>K</a:t>
            </a:r>
            <a:r>
              <a:rPr lang="ru-RU" sz="3600" b="1" i="1" dirty="0" smtClean="0"/>
              <a:t> </a:t>
            </a:r>
            <a:r>
              <a:rPr lang="ru-RU" sz="3600" dirty="0" smtClean="0"/>
              <a:t>– </a:t>
            </a:r>
            <a:r>
              <a:rPr lang="ru-RU" sz="3600" dirty="0"/>
              <a:t>процедура разрешения конфликтов, определяющая порядок использования </a:t>
            </a:r>
            <a:r>
              <a:rPr lang="ru-RU" sz="3600" dirty="0" smtClean="0"/>
              <a:t>правил</a:t>
            </a:r>
            <a:endParaRPr lang="ru-RU" sz="3600" dirty="0"/>
          </a:p>
          <a:p>
            <a:r>
              <a:rPr lang="en-US" sz="3600" b="1" i="1" dirty="0" smtClean="0"/>
              <a:t>W</a:t>
            </a:r>
            <a:r>
              <a:rPr lang="ru-RU" sz="3600" b="1" i="1" dirty="0" smtClean="0"/>
              <a:t> </a:t>
            </a:r>
            <a:r>
              <a:rPr lang="ru-RU" sz="3600" dirty="0" smtClean="0"/>
              <a:t>– </a:t>
            </a:r>
            <a:r>
              <a:rPr lang="ru-RU" sz="3600" dirty="0"/>
              <a:t>процедура, осуществляющая выполнение действий, соответствующих полученному значению </a:t>
            </a:r>
            <a:r>
              <a:rPr lang="ru-RU" sz="3600" dirty="0" smtClean="0"/>
              <a:t>факта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24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Структура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Рабочая память</a:t>
            </a:r>
            <a:r>
              <a:rPr lang="ru-RU" dirty="0"/>
              <a:t> предназначена для хранения исходных и промежуточных фактов решаемой в текущий момент задачи. Как правило, размещается в оперативной памяти ЭВМ и отражает текущее состояние предметной области в виде фактов с коэффициентами </a:t>
            </a:r>
            <a:r>
              <a:rPr lang="ru-RU" dirty="0" smtClean="0"/>
              <a:t>доверия </a:t>
            </a:r>
            <a:r>
              <a:rPr lang="ru-RU" dirty="0"/>
              <a:t>(</a:t>
            </a:r>
            <a:r>
              <a:rPr lang="ru-RU" dirty="0" smtClean="0"/>
              <a:t>КД) </a:t>
            </a:r>
            <a:r>
              <a:rPr lang="ru-RU" dirty="0"/>
              <a:t>в истинности этих </a:t>
            </a:r>
            <a:r>
              <a:rPr lang="ru-RU" dirty="0" smtClean="0"/>
              <a:t>фактов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36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Структура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91264" cy="50405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База знаний</a:t>
            </a:r>
            <a:r>
              <a:rPr lang="ru-RU" dirty="0"/>
              <a:t> </a:t>
            </a:r>
            <a:r>
              <a:rPr lang="ru-RU" dirty="0" smtClean="0"/>
              <a:t>(БЗ) предназначена </a:t>
            </a:r>
            <a:r>
              <a:rPr lang="ru-RU" dirty="0"/>
              <a:t>для </a:t>
            </a:r>
            <a:r>
              <a:rPr lang="ru-RU" dirty="0" smtClean="0"/>
              <a:t>хранения:</a:t>
            </a:r>
          </a:p>
          <a:p>
            <a:r>
              <a:rPr lang="ru-RU" dirty="0" smtClean="0"/>
              <a:t> </a:t>
            </a:r>
            <a:r>
              <a:rPr lang="ru-RU" dirty="0"/>
              <a:t>долгосрочных фактов, описывающих рассматриваемую область, </a:t>
            </a:r>
            <a:endParaRPr lang="ru-RU" dirty="0" smtClean="0"/>
          </a:p>
          <a:p>
            <a:r>
              <a:rPr lang="ru-RU" dirty="0" smtClean="0"/>
              <a:t>правил</a:t>
            </a:r>
            <a:r>
              <a:rPr lang="ru-RU" dirty="0"/>
              <a:t>, описывающих отношения между этими фактами </a:t>
            </a:r>
            <a:endParaRPr lang="ru-RU" dirty="0" smtClean="0"/>
          </a:p>
          <a:p>
            <a:r>
              <a:rPr lang="ru-RU" dirty="0" smtClean="0"/>
              <a:t>других </a:t>
            </a:r>
            <a:r>
              <a:rPr lang="ru-RU" dirty="0"/>
              <a:t>типов декларативных знаний о предметной области.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 базу знаний входит </a:t>
            </a:r>
            <a:r>
              <a:rPr lang="ru-RU" dirty="0"/>
              <a:t>процедурная часть – множество функций и процедур, реализующих </a:t>
            </a:r>
            <a:r>
              <a:rPr lang="ru-RU" dirty="0" smtClean="0"/>
              <a:t>алгоритмы решения задач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04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Структура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Подсистема </a:t>
            </a:r>
            <a:r>
              <a:rPr lang="ru-RU" b="1" dirty="0" smtClean="0"/>
              <a:t>пополнения БЗ</a:t>
            </a:r>
            <a:r>
              <a:rPr lang="ru-RU" dirty="0" smtClean="0"/>
              <a:t> </a:t>
            </a:r>
            <a:r>
              <a:rPr lang="ru-RU" dirty="0"/>
              <a:t>автоматизирует процесс наполнения </a:t>
            </a:r>
            <a:r>
              <a:rPr lang="ru-RU" dirty="0" smtClean="0"/>
              <a:t>ЭС </a:t>
            </a:r>
            <a:r>
              <a:rPr lang="ru-RU" dirty="0"/>
              <a:t>знаниями, осуществляемый пользователем-экспертом, и адаптации </a:t>
            </a:r>
            <a:r>
              <a:rPr lang="ru-RU" dirty="0" smtClean="0"/>
              <a:t>БЗ </a:t>
            </a:r>
            <a:r>
              <a:rPr lang="ru-RU" dirty="0"/>
              <a:t>системы к условиям ее функционирования. Адаптация </a:t>
            </a:r>
            <a:r>
              <a:rPr lang="ru-RU" dirty="0" smtClean="0"/>
              <a:t>ЭС </a:t>
            </a:r>
            <a:r>
              <a:rPr lang="ru-RU" dirty="0"/>
              <a:t>к изменениям в предметной области реализуется путем замены правил или фактов в </a:t>
            </a:r>
            <a:r>
              <a:rPr lang="ru-RU" dirty="0" smtClean="0"/>
              <a:t>БЗ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09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Структура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Подсистема </a:t>
            </a:r>
            <a:r>
              <a:rPr lang="ru-RU" b="1" dirty="0" smtClean="0"/>
              <a:t>объяснений</a:t>
            </a:r>
            <a:r>
              <a:rPr lang="ru-RU" dirty="0" smtClean="0"/>
              <a:t> осуществляет вывод информации о том, </a:t>
            </a:r>
            <a:r>
              <a:rPr lang="ru-RU" dirty="0"/>
              <a:t>как </a:t>
            </a:r>
            <a:r>
              <a:rPr lang="ru-RU" dirty="0" smtClean="0"/>
              <a:t>ЭС </a:t>
            </a:r>
            <a:r>
              <a:rPr lang="ru-RU" dirty="0"/>
              <a:t>получила решение задачи (или почему она не получила решения) и какие знания она при этом </a:t>
            </a:r>
            <a:r>
              <a:rPr lang="ru-RU" dirty="0" smtClean="0"/>
              <a:t>использовала. Это </a:t>
            </a:r>
            <a:r>
              <a:rPr lang="ru-RU" dirty="0"/>
              <a:t>облегчает эксперту тестирование системы и повышает доверие пользователя к полученному результату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0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Структура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/>
              <a:t>Подсистема диалога </a:t>
            </a:r>
            <a:r>
              <a:rPr lang="ru-RU" sz="3600" dirty="0"/>
              <a:t>ориентирована на организацию дружественного интерфейса со всеми категориями пользователей как в ходе решения задач, так и в ходе приобретения знаний и объяснения результатов работы</a:t>
            </a:r>
            <a:endParaRPr lang="ru-RU" sz="4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18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Структура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Для </a:t>
            </a:r>
            <a:r>
              <a:rPr lang="ru-RU" sz="3600" b="1" dirty="0"/>
              <a:t>динамической</a:t>
            </a:r>
            <a:r>
              <a:rPr lang="ru-RU" sz="3600" dirty="0"/>
              <a:t> </a:t>
            </a:r>
            <a:r>
              <a:rPr lang="ru-RU" sz="3600" dirty="0" smtClean="0"/>
              <a:t>ЭС добавляются:</a:t>
            </a:r>
            <a:endParaRPr lang="ru-RU" sz="3600" dirty="0"/>
          </a:p>
          <a:p>
            <a:pPr lvl="0"/>
            <a:r>
              <a:rPr lang="ru-RU" sz="3600" b="1" dirty="0"/>
              <a:t>подсистема моделирования внешнего </a:t>
            </a:r>
            <a:r>
              <a:rPr lang="ru-RU" sz="3600" b="1" dirty="0" smtClean="0"/>
              <a:t>мира</a:t>
            </a:r>
            <a:endParaRPr lang="ru-RU" sz="3600" b="1" dirty="0"/>
          </a:p>
          <a:p>
            <a:pPr lvl="0"/>
            <a:r>
              <a:rPr lang="ru-RU" sz="3600" b="1" dirty="0"/>
              <a:t>подсистема связи с внешним </a:t>
            </a:r>
            <a:r>
              <a:rPr lang="ru-RU" sz="3600" b="1" dirty="0" smtClean="0"/>
              <a:t>миром</a:t>
            </a:r>
            <a:r>
              <a:rPr lang="ru-RU" sz="3600" dirty="0" smtClean="0"/>
              <a:t> (взаимодействие </a:t>
            </a:r>
            <a:r>
              <a:rPr lang="ru-RU" sz="3600" dirty="0"/>
              <a:t>с внешним </a:t>
            </a:r>
            <a:r>
              <a:rPr lang="ru-RU" sz="3600" dirty="0" smtClean="0"/>
              <a:t>миром, например, с помощью датчиков, камер и т.д.)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61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Режимы работы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 smtClean="0"/>
              <a:t>Режим приобретения знаний:</a:t>
            </a:r>
          </a:p>
          <a:p>
            <a:r>
              <a:rPr lang="ru-RU" sz="3600" dirty="0" smtClean="0"/>
              <a:t>Эксперт описывает предметную </a:t>
            </a:r>
            <a:r>
              <a:rPr lang="ru-RU" sz="3600" dirty="0"/>
              <a:t>область в виде совокупности данных и </a:t>
            </a:r>
            <a:r>
              <a:rPr lang="ru-RU" sz="3600" dirty="0" smtClean="0"/>
              <a:t>правил, наполняет БЗ</a:t>
            </a:r>
          </a:p>
          <a:p>
            <a:r>
              <a:rPr lang="ru-RU" sz="3600" dirty="0" smtClean="0"/>
              <a:t>Данные </a:t>
            </a:r>
            <a:r>
              <a:rPr lang="ru-RU" sz="3600" dirty="0"/>
              <a:t>определяют объекты, их характеристики и </a:t>
            </a:r>
            <a:r>
              <a:rPr lang="ru-RU" sz="3600" dirty="0" smtClean="0"/>
              <a:t>значения</a:t>
            </a:r>
          </a:p>
          <a:p>
            <a:r>
              <a:rPr lang="ru-RU" sz="3600" dirty="0" smtClean="0"/>
              <a:t>Правила </a:t>
            </a:r>
            <a:r>
              <a:rPr lang="ru-RU" sz="3600" dirty="0"/>
              <a:t>определяют способы </a:t>
            </a:r>
            <a:r>
              <a:rPr lang="ru-RU" sz="3600" dirty="0" smtClean="0"/>
              <a:t>обработки данных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91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Приобретение знаний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/>
              <a:t>Приобретение знаний</a:t>
            </a:r>
            <a:r>
              <a:rPr lang="ru-RU" sz="3600" dirty="0"/>
              <a:t> – это передача потенциального опыта решения проблемы от некоторого источника знаний и преобразование его в вид, который позволяет использовать эти знания в </a:t>
            </a:r>
            <a:r>
              <a:rPr lang="ru-RU" sz="3600" dirty="0" smtClean="0"/>
              <a:t>ЭС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74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Причины низкой скорости приобретения знаний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 fontScale="92500" lnSpcReduction="10000"/>
          </a:bodyPr>
          <a:lstStyle/>
          <a:p>
            <a:r>
              <a:rPr lang="ru-RU" sz="3600" dirty="0" smtClean="0"/>
              <a:t>специалисты </a:t>
            </a:r>
            <a:r>
              <a:rPr lang="ru-RU" sz="3600" dirty="0"/>
              <a:t>в узкой области, как правило, пользуются собственным жаргоном, который трудно перевести на обычный «человеческий» </a:t>
            </a:r>
            <a:r>
              <a:rPr lang="ru-RU" sz="3600" dirty="0" smtClean="0"/>
              <a:t>язык</a:t>
            </a:r>
          </a:p>
          <a:p>
            <a:r>
              <a:rPr lang="ru-RU" sz="3600" dirty="0" smtClean="0"/>
              <a:t>факты </a:t>
            </a:r>
            <a:r>
              <a:rPr lang="ru-RU" sz="3600" dirty="0"/>
              <a:t>и принципы, лежащие в основе многих специфических областей знания эксперта, не могут быть четко сформулированы в терминах математической теории или детерминированной </a:t>
            </a:r>
            <a:r>
              <a:rPr lang="ru-RU" sz="3600" dirty="0" smtClean="0"/>
              <a:t>модели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77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Причины низкой скорости приобретения знаний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 fontScale="92500" lnSpcReduction="10000"/>
          </a:bodyPr>
          <a:lstStyle/>
          <a:p>
            <a:r>
              <a:rPr lang="ru-RU" sz="3600" dirty="0" smtClean="0"/>
              <a:t>выявить знания</a:t>
            </a:r>
            <a:r>
              <a:rPr lang="ru-RU" sz="3600" dirty="0"/>
              <a:t>, основанные на личном </a:t>
            </a:r>
            <a:r>
              <a:rPr lang="ru-RU" sz="3600" dirty="0" smtClean="0"/>
              <a:t>опыте эксперта </a:t>
            </a:r>
            <a:r>
              <a:rPr lang="ru-RU" sz="3600" dirty="0"/>
              <a:t>и плохо поддающиеся формализации, значительно сложнее, чем получить простой перечень каких-то фактов или общих принципов</a:t>
            </a:r>
            <a:endParaRPr lang="ru-RU" sz="3600" dirty="0" smtClean="0"/>
          </a:p>
          <a:p>
            <a:r>
              <a:rPr lang="ru-RU" sz="3600" dirty="0" smtClean="0"/>
              <a:t>экспертный </a:t>
            </a:r>
            <a:r>
              <a:rPr lang="ru-RU" sz="3600" dirty="0"/>
              <a:t>анализ даже в очень узкой </a:t>
            </a:r>
            <a:r>
              <a:rPr lang="ru-RU" sz="3600" dirty="0" smtClean="0"/>
              <a:t>области </a:t>
            </a:r>
            <a:r>
              <a:rPr lang="ru-RU" sz="3600" dirty="0"/>
              <a:t>часто </a:t>
            </a:r>
            <a:r>
              <a:rPr lang="ru-RU" sz="3600" dirty="0" smtClean="0"/>
              <a:t>опирается на знания, </a:t>
            </a:r>
            <a:r>
              <a:rPr lang="ru-RU" sz="3600" dirty="0"/>
              <a:t>кажущиеся эксперту само собой разумеющимися, но для </a:t>
            </a:r>
            <a:r>
              <a:rPr lang="ru-RU" sz="3600" dirty="0" smtClean="0"/>
              <a:t>пользователя </a:t>
            </a:r>
            <a:r>
              <a:rPr lang="ru-RU" sz="3600" dirty="0"/>
              <a:t>отнюдь таковыми не являющиеся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85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Режимы работы </a:t>
            </a:r>
            <a:r>
              <a:rPr lang="ru-RU" b="1" dirty="0" smtClean="0"/>
              <a:t>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3600" b="1" dirty="0" smtClean="0"/>
              <a:t>Режим консультаций:</a:t>
            </a:r>
          </a:p>
          <a:p>
            <a:r>
              <a:rPr lang="ru-RU" sz="3600" dirty="0" smtClean="0"/>
              <a:t>работу </a:t>
            </a:r>
            <a:r>
              <a:rPr lang="ru-RU" sz="3600" dirty="0"/>
              <a:t>с </a:t>
            </a:r>
            <a:r>
              <a:rPr lang="ru-RU" sz="3600" dirty="0" smtClean="0"/>
              <a:t>ЭС </a:t>
            </a:r>
            <a:r>
              <a:rPr lang="ru-RU" sz="3600" dirty="0"/>
              <a:t>осуществляет конечный пользователь, которого интересует результат и </a:t>
            </a:r>
            <a:r>
              <a:rPr lang="ru-RU" sz="3600" dirty="0" smtClean="0"/>
              <a:t>способ </a:t>
            </a:r>
            <a:r>
              <a:rPr lang="ru-RU" sz="3600" dirty="0"/>
              <a:t>его </a:t>
            </a:r>
            <a:r>
              <a:rPr lang="ru-RU" sz="3600" dirty="0" smtClean="0"/>
              <a:t>получения</a:t>
            </a:r>
          </a:p>
          <a:p>
            <a:r>
              <a:rPr lang="ru-RU" sz="3600" dirty="0" smtClean="0"/>
              <a:t>после ввода через подсистему диалога данные </a:t>
            </a:r>
            <a:r>
              <a:rPr lang="ru-RU" sz="3600" dirty="0"/>
              <a:t>поступают в рабочую </a:t>
            </a:r>
            <a:r>
              <a:rPr lang="ru-RU" sz="3600" dirty="0" smtClean="0"/>
              <a:t>память</a:t>
            </a:r>
          </a:p>
          <a:p>
            <a:r>
              <a:rPr lang="ru-RU" sz="3600" dirty="0" smtClean="0"/>
              <a:t>МЛВ </a:t>
            </a:r>
            <a:r>
              <a:rPr lang="ru-RU" sz="3600" dirty="0"/>
              <a:t>на основе </a:t>
            </a:r>
            <a:r>
              <a:rPr lang="ru-RU" sz="3600" dirty="0" smtClean="0"/>
              <a:t>данных </a:t>
            </a:r>
            <a:r>
              <a:rPr lang="ru-RU" sz="3600" dirty="0"/>
              <a:t>из рабочей памяти, общих данных о проблемной области и правил из </a:t>
            </a:r>
            <a:r>
              <a:rPr lang="ru-RU" sz="3600" dirty="0" smtClean="0"/>
              <a:t>БЗ </a:t>
            </a:r>
            <a:r>
              <a:rPr lang="ru-RU" sz="3600" dirty="0"/>
              <a:t>формирует решение задачи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94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Неопределенность знаний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Источники </a:t>
            </a:r>
            <a:r>
              <a:rPr lang="ru-RU" sz="3600" dirty="0"/>
              <a:t>неопределенности используемой </a:t>
            </a:r>
            <a:r>
              <a:rPr lang="ru-RU" sz="3600" dirty="0" smtClean="0"/>
              <a:t>информации:</a:t>
            </a:r>
            <a:endParaRPr lang="ru-RU" sz="3600" dirty="0"/>
          </a:p>
          <a:p>
            <a:pPr lvl="0"/>
            <a:r>
              <a:rPr lang="ru-RU" sz="3600" dirty="0"/>
              <a:t>недостаточно полное знание предметной </a:t>
            </a:r>
            <a:r>
              <a:rPr lang="ru-RU" sz="3600" dirty="0" smtClean="0"/>
              <a:t>области</a:t>
            </a:r>
            <a:endParaRPr lang="ru-RU" sz="3600" dirty="0"/>
          </a:p>
          <a:p>
            <a:r>
              <a:rPr lang="ru-RU" sz="3600" dirty="0"/>
              <a:t>недостаточная информация о конкретной ситуации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8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Неполное знание о предметной области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 fontScale="92500" lnSpcReduction="20000"/>
          </a:bodyPr>
          <a:lstStyle/>
          <a:p>
            <a:r>
              <a:rPr lang="ru-RU" sz="3600" dirty="0"/>
              <a:t>Теория предметной области </a:t>
            </a:r>
            <a:r>
              <a:rPr lang="ru-RU" sz="3600" dirty="0" smtClean="0"/>
              <a:t>может </a:t>
            </a:r>
            <a:r>
              <a:rPr lang="ru-RU" sz="3600" dirty="0"/>
              <a:t>быть неясной или неполной: в ней могут использоваться недостаточно четко сформулированные концепции или недостаточно изученные </a:t>
            </a:r>
            <a:r>
              <a:rPr lang="ru-RU" sz="3600" dirty="0" smtClean="0"/>
              <a:t>явления</a:t>
            </a:r>
            <a:endParaRPr lang="ru-RU" sz="3600" dirty="0"/>
          </a:p>
          <a:p>
            <a:r>
              <a:rPr lang="ru-RU" sz="3600" dirty="0"/>
              <a:t>Неопределенность знаний приводит к тому, что правила вывода </a:t>
            </a:r>
            <a:r>
              <a:rPr lang="ru-RU" sz="3600" dirty="0" smtClean="0"/>
              <a:t>не </a:t>
            </a:r>
            <a:r>
              <a:rPr lang="ru-RU" sz="3600" dirty="0"/>
              <a:t>всегда дают корректные результаты. Располагая неполным знанием, мы не можем уверенно предсказать, какой эффект даст то или иное действие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8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Недостаточная информация о ситуации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smtClean="0"/>
              <a:t>неопределенность </a:t>
            </a:r>
            <a:r>
              <a:rPr lang="ru-RU" dirty="0"/>
              <a:t>может быть внесена и неточными или ненадежными данными о конкретной </a:t>
            </a:r>
            <a:r>
              <a:rPr lang="ru-RU" dirty="0" smtClean="0"/>
              <a:t>ситуации:</a:t>
            </a:r>
          </a:p>
          <a:p>
            <a:r>
              <a:rPr lang="ru-RU" dirty="0" smtClean="0"/>
              <a:t>сенсор </a:t>
            </a:r>
            <a:r>
              <a:rPr lang="ru-RU" dirty="0"/>
              <a:t>имеет ограниченную разрешающую способность и </a:t>
            </a:r>
            <a:r>
              <a:rPr lang="ru-RU" dirty="0" smtClean="0"/>
              <a:t>не 100% надежность</a:t>
            </a:r>
          </a:p>
          <a:p>
            <a:r>
              <a:rPr lang="ru-RU" dirty="0" smtClean="0"/>
              <a:t>при наполнении БЗ </a:t>
            </a:r>
            <a:r>
              <a:rPr lang="ru-RU" dirty="0"/>
              <a:t>могут быть </a:t>
            </a:r>
            <a:r>
              <a:rPr lang="ru-RU" dirty="0" smtClean="0"/>
              <a:t>внесены </a:t>
            </a:r>
            <a:r>
              <a:rPr lang="ru-RU" dirty="0"/>
              <a:t>ошибки или </a:t>
            </a:r>
            <a:r>
              <a:rPr lang="ru-RU" dirty="0" smtClean="0"/>
              <a:t>недостоверные сведения</a:t>
            </a:r>
          </a:p>
          <a:p>
            <a:r>
              <a:rPr lang="ru-RU" dirty="0" smtClean="0"/>
              <a:t>нет времени </a:t>
            </a:r>
            <a:r>
              <a:rPr lang="ru-RU" dirty="0"/>
              <a:t>получить необходимые данные, когда ситуация требует принятия срочного решения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0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Неопределенность знаний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96855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3600" dirty="0" smtClean="0"/>
              <a:t>ЭС </a:t>
            </a:r>
            <a:r>
              <a:rPr lang="ru-RU" sz="3600" dirty="0"/>
              <a:t>пользуются неточными методами </a:t>
            </a:r>
            <a:r>
              <a:rPr lang="ru-RU" sz="3600" dirty="0" smtClean="0"/>
              <a:t>т.к.:</a:t>
            </a:r>
            <a:endParaRPr lang="ru-RU" sz="3600" dirty="0"/>
          </a:p>
          <a:p>
            <a:pPr lvl="0"/>
            <a:r>
              <a:rPr lang="ru-RU" sz="3600" dirty="0"/>
              <a:t>точных методов не </a:t>
            </a:r>
            <a:r>
              <a:rPr lang="ru-RU" sz="3600" dirty="0" smtClean="0"/>
              <a:t>существует</a:t>
            </a:r>
            <a:endParaRPr lang="ru-RU" sz="3600" dirty="0"/>
          </a:p>
          <a:p>
            <a:r>
              <a:rPr lang="ru-RU" sz="3600" dirty="0"/>
              <a:t>точные методы существуют, но не могут быть применены на практике из-за отсутствия необходимого объема данных или невозможности их накопления по соображениям стоимости, риска или из-за отсутствия времени на сбор необходимой информации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93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Неопределенность знаний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Аргументы </a:t>
            </a:r>
            <a:r>
              <a:rPr lang="ru-RU" sz="3600" b="1" dirty="0" smtClean="0"/>
              <a:t>«за»</a:t>
            </a:r>
            <a:r>
              <a:rPr lang="ru-RU" sz="3600" dirty="0" smtClean="0"/>
              <a:t> неточные методы:</a:t>
            </a:r>
            <a:endParaRPr lang="ru-RU" sz="3600" dirty="0"/>
          </a:p>
          <a:p>
            <a:pPr lvl="0"/>
            <a:r>
              <a:rPr lang="ru-RU" sz="3600" dirty="0"/>
              <a:t>теория вероятности не дает ответа на вопрос, как комбинировать вероятности с количественными данными</a:t>
            </a:r>
          </a:p>
          <a:p>
            <a:r>
              <a:rPr lang="ru-RU" sz="3600" dirty="0"/>
              <a:t>назначение вероятности определенным событиям требует информации, </a:t>
            </a:r>
            <a:r>
              <a:rPr lang="ru-RU" sz="3600" dirty="0" smtClean="0"/>
              <a:t>которой, как правило, нет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95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Неопределенность знаний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Аргументы </a:t>
            </a:r>
            <a:r>
              <a:rPr lang="ru-RU" sz="3600" b="1" dirty="0" smtClean="0"/>
              <a:t>«за»</a:t>
            </a:r>
            <a:r>
              <a:rPr lang="ru-RU" sz="3600" dirty="0" smtClean="0"/>
              <a:t> неточные методы:</a:t>
            </a:r>
            <a:endParaRPr lang="ru-RU" sz="3600" dirty="0"/>
          </a:p>
          <a:p>
            <a:pPr lvl="0"/>
            <a:r>
              <a:rPr lang="ru-RU" sz="3600" dirty="0"/>
              <a:t>непонятно, как количественно оценивать такие часто встречающиеся на практике понятия, как «в большинстве случаев», «в редких случаях», или такие приблизительные оценки, как «старый» или «высокий</a:t>
            </a:r>
            <a:r>
              <a:rPr lang="ru-RU" sz="3600" dirty="0" smtClean="0"/>
              <a:t>»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86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Неопределенность знаний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Аргументы </a:t>
            </a:r>
            <a:r>
              <a:rPr lang="ru-RU" sz="3600" b="1" dirty="0" smtClean="0"/>
              <a:t>«за»</a:t>
            </a:r>
            <a:r>
              <a:rPr lang="ru-RU" sz="3600" dirty="0" smtClean="0"/>
              <a:t> неточные методы:</a:t>
            </a:r>
            <a:endParaRPr lang="ru-RU" sz="3600" dirty="0"/>
          </a:p>
          <a:p>
            <a:pPr lvl="0"/>
            <a:r>
              <a:rPr lang="ru-RU" sz="3600" dirty="0"/>
              <a:t>применение теории вероятности требует </a:t>
            </a:r>
            <a:r>
              <a:rPr lang="ru-RU" sz="3600" dirty="0" smtClean="0"/>
              <a:t>давать </a:t>
            </a:r>
            <a:r>
              <a:rPr lang="ru-RU" sz="3600" dirty="0"/>
              <a:t>точные оценки </a:t>
            </a:r>
            <a:r>
              <a:rPr lang="ru-RU" sz="3600" dirty="0" smtClean="0"/>
              <a:t>всем </a:t>
            </a:r>
            <a:r>
              <a:rPr lang="ru-RU" sz="3600" dirty="0"/>
              <a:t>параметрам, </a:t>
            </a:r>
            <a:r>
              <a:rPr lang="ru-RU" sz="3600" dirty="0" smtClean="0"/>
              <a:t>что невозможно </a:t>
            </a:r>
            <a:endParaRPr lang="ru-RU" sz="3600" dirty="0"/>
          </a:p>
          <a:p>
            <a:r>
              <a:rPr lang="ru-RU" sz="3600" dirty="0"/>
              <a:t>обновление вероятностных оценок обходится очень дорого, поскольку требует большого объема вычислений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220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Неопределенность знаний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эти аргументы породили </a:t>
            </a:r>
            <a:r>
              <a:rPr lang="ru-RU" sz="3600" dirty="0"/>
              <a:t>новый формальный аппарат для работы с неопределенностями, который получил название нечеткая </a:t>
            </a:r>
            <a:r>
              <a:rPr lang="ru-RU" sz="3600" dirty="0" smtClean="0"/>
              <a:t>логика или теория функций доверия</a:t>
            </a:r>
          </a:p>
          <a:p>
            <a:r>
              <a:rPr lang="ru-RU" sz="3600" dirty="0" smtClean="0"/>
              <a:t>этот аппарат </a:t>
            </a:r>
            <a:r>
              <a:rPr lang="ru-RU" sz="3600" dirty="0"/>
              <a:t>широко используется при решении задач </a:t>
            </a:r>
            <a:r>
              <a:rPr lang="ru-RU" sz="3600" dirty="0" smtClean="0"/>
              <a:t>ИИ, при создании ЭС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549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Коэффициент доверия</a:t>
            </a:r>
            <a:r>
              <a:rPr lang="ru-RU" b="1" dirty="0" smtClean="0"/>
              <a:t>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/>
              <a:t>Коэффициент </a:t>
            </a:r>
            <a:r>
              <a:rPr lang="ru-RU" sz="3600" b="1" dirty="0" smtClean="0"/>
              <a:t>доверия (КД)</a:t>
            </a:r>
            <a:r>
              <a:rPr lang="ru-RU" sz="3600" dirty="0" smtClean="0"/>
              <a:t> </a:t>
            </a:r>
            <a:r>
              <a:rPr lang="ru-RU" sz="3600" dirty="0"/>
              <a:t>– это число, которое означает вероятность или, точнее, степень уверенности, с которой можно считать данный факт или правило достоверным или </a:t>
            </a:r>
            <a:r>
              <a:rPr lang="ru-RU" sz="3600" dirty="0" smtClean="0"/>
              <a:t>справедливым</a:t>
            </a:r>
          </a:p>
          <a:p>
            <a:pPr marL="0" indent="0">
              <a:buNone/>
            </a:pPr>
            <a:endParaRPr lang="ru-RU" sz="3600" dirty="0" smtClean="0"/>
          </a:p>
          <a:p>
            <a:pPr marL="0" indent="0">
              <a:buNone/>
            </a:pPr>
            <a:r>
              <a:rPr lang="ru-RU" sz="3600" dirty="0" smtClean="0"/>
              <a:t>КД </a:t>
            </a:r>
            <a:r>
              <a:rPr lang="ru-RU" sz="3600" dirty="0"/>
              <a:t>является оценкой степени доверия к решению, выдаваемому </a:t>
            </a:r>
            <a:r>
              <a:rPr lang="ru-RU" sz="3600" dirty="0" smtClean="0"/>
              <a:t>ЭС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4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Коэффициент доверия</a:t>
            </a:r>
            <a:r>
              <a:rPr lang="ru-RU" b="1" dirty="0" smtClean="0"/>
              <a:t>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3600" dirty="0" smtClean="0"/>
              <a:t>КД по </a:t>
            </a:r>
            <a:r>
              <a:rPr lang="ru-RU" sz="3600" dirty="0"/>
              <a:t>схеме </a:t>
            </a:r>
            <a:r>
              <a:rPr lang="ru-RU" sz="3600" dirty="0" err="1" smtClean="0"/>
              <a:t>Шортлиффа</a:t>
            </a:r>
            <a:r>
              <a:rPr lang="en-US" sz="3600" dirty="0" smtClean="0"/>
              <a:t> (1)</a:t>
            </a:r>
            <a:r>
              <a:rPr lang="ru-RU" sz="3600" dirty="0" smtClean="0"/>
              <a:t>:</a:t>
            </a:r>
          </a:p>
          <a:p>
            <a:pPr marL="0" indent="0" algn="ctr">
              <a:buNone/>
            </a:pPr>
            <a:r>
              <a:rPr lang="en-US" sz="3600" b="1" i="1" dirty="0" smtClean="0"/>
              <a:t>KU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 smtClean="0"/>
              <a:t>:</a:t>
            </a:r>
            <a:r>
              <a:rPr lang="en-US" sz="3600" b="1" i="1" dirty="0" smtClean="0"/>
              <a:t>E</a:t>
            </a:r>
            <a:r>
              <a:rPr lang="en-US" sz="3600" b="1" dirty="0" smtClean="0"/>
              <a:t>] = </a:t>
            </a:r>
            <a:r>
              <a:rPr lang="en-US" sz="3600" b="1" i="1" dirty="0" smtClean="0"/>
              <a:t>MD</a:t>
            </a:r>
            <a:r>
              <a:rPr lang="en-US" sz="3600" b="1" dirty="0"/>
              <a:t>[</a:t>
            </a:r>
            <a:r>
              <a:rPr lang="en-US" sz="3600" b="1" i="1" dirty="0"/>
              <a:t>H</a:t>
            </a:r>
            <a:r>
              <a:rPr lang="en-US" sz="3600" b="1" dirty="0"/>
              <a:t>:</a:t>
            </a:r>
            <a:r>
              <a:rPr lang="en-US" sz="3600" b="1" i="1" dirty="0"/>
              <a:t>E</a:t>
            </a:r>
            <a:r>
              <a:rPr lang="en-US" sz="3600" b="1" dirty="0" smtClean="0"/>
              <a:t>] - </a:t>
            </a:r>
            <a:r>
              <a:rPr lang="en-US" sz="3600" b="1" i="1" dirty="0" smtClean="0"/>
              <a:t>MND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 smtClean="0"/>
              <a:t>:</a:t>
            </a:r>
            <a:r>
              <a:rPr lang="en-US" sz="3600" b="1" i="1" dirty="0" smtClean="0"/>
              <a:t>E</a:t>
            </a:r>
            <a:r>
              <a:rPr lang="en-US" sz="3600" b="1" dirty="0" smtClean="0"/>
              <a:t>]     (1)</a:t>
            </a:r>
          </a:p>
          <a:p>
            <a:pPr marL="0" indent="0">
              <a:buNone/>
            </a:pPr>
            <a:r>
              <a:rPr lang="en-US" sz="3600" b="1" i="1" dirty="0"/>
              <a:t>KU</a:t>
            </a:r>
            <a:r>
              <a:rPr lang="en-US" sz="3600" b="1" dirty="0"/>
              <a:t>[</a:t>
            </a:r>
            <a:r>
              <a:rPr lang="en-US" sz="3600" b="1" i="1" dirty="0"/>
              <a:t>H</a:t>
            </a:r>
            <a:r>
              <a:rPr lang="en-US" sz="3600" b="1" dirty="0"/>
              <a:t>:</a:t>
            </a:r>
            <a:r>
              <a:rPr lang="en-US" sz="3600" b="1" i="1" dirty="0"/>
              <a:t>E</a:t>
            </a:r>
            <a:r>
              <a:rPr lang="en-US" sz="3600" b="1" dirty="0"/>
              <a:t>] </a:t>
            </a:r>
            <a:r>
              <a:rPr lang="en-US" sz="3600" b="1" dirty="0" smtClean="0"/>
              <a:t>– </a:t>
            </a:r>
            <a:r>
              <a:rPr lang="en-US" sz="3600" dirty="0" smtClean="0"/>
              <a:t>[</a:t>
            </a:r>
            <a:r>
              <a:rPr lang="ru-RU" sz="3600" dirty="0" smtClean="0"/>
              <a:t>-1;+1</a:t>
            </a:r>
            <a:r>
              <a:rPr lang="en-US" sz="3600" dirty="0" smtClean="0"/>
              <a:t>]</a:t>
            </a:r>
            <a:r>
              <a:rPr lang="ru-RU" sz="3600" dirty="0" smtClean="0"/>
              <a:t>,</a:t>
            </a:r>
            <a:r>
              <a:rPr lang="en-US" sz="3600" dirty="0" smtClean="0"/>
              <a:t> </a:t>
            </a:r>
            <a:r>
              <a:rPr lang="ru-RU" sz="3600" dirty="0" smtClean="0"/>
              <a:t>коэффициент </a:t>
            </a:r>
            <a:r>
              <a:rPr lang="ru-RU" sz="3600" dirty="0"/>
              <a:t>уверенности в </a:t>
            </a:r>
            <a:r>
              <a:rPr lang="ru-RU" sz="3600" dirty="0" smtClean="0"/>
              <a:t>гипотезе</a:t>
            </a:r>
            <a:r>
              <a:rPr lang="en-US" sz="3600" dirty="0" smtClean="0"/>
              <a:t> </a:t>
            </a:r>
            <a:r>
              <a:rPr lang="en-US" sz="3600" b="1" i="1" dirty="0"/>
              <a:t>H</a:t>
            </a:r>
            <a:r>
              <a:rPr lang="ru-RU" sz="3600" dirty="0" smtClean="0"/>
              <a:t> </a:t>
            </a:r>
            <a:r>
              <a:rPr lang="ru-RU" sz="3600" dirty="0"/>
              <a:t>с </a:t>
            </a:r>
            <a:r>
              <a:rPr lang="ru-RU" sz="3600" dirty="0" smtClean="0"/>
              <a:t>учетом свидетельств </a:t>
            </a:r>
            <a:r>
              <a:rPr lang="en-US" sz="3600" b="1" i="1" dirty="0" smtClean="0"/>
              <a:t>E</a:t>
            </a:r>
          </a:p>
          <a:p>
            <a:pPr marL="0" indent="0">
              <a:buNone/>
            </a:pPr>
            <a:r>
              <a:rPr lang="en-US" sz="3600" b="1" i="1" dirty="0"/>
              <a:t>MD</a:t>
            </a:r>
            <a:r>
              <a:rPr lang="en-US" sz="3600" b="1" dirty="0"/>
              <a:t>[</a:t>
            </a:r>
            <a:r>
              <a:rPr lang="en-US" sz="3600" b="1" i="1" dirty="0"/>
              <a:t>H</a:t>
            </a:r>
            <a:r>
              <a:rPr lang="en-US" sz="3600" b="1" dirty="0"/>
              <a:t>:</a:t>
            </a:r>
            <a:r>
              <a:rPr lang="en-US" sz="3600" b="1" i="1" dirty="0"/>
              <a:t>E</a:t>
            </a:r>
            <a:r>
              <a:rPr lang="en-US" sz="3600" b="1" dirty="0" smtClean="0"/>
              <a:t>] </a:t>
            </a:r>
            <a:r>
              <a:rPr lang="en-US" sz="3600" b="1" dirty="0"/>
              <a:t>–</a:t>
            </a:r>
            <a:r>
              <a:rPr lang="en-US" sz="3600" b="1" dirty="0" smtClean="0"/>
              <a:t> </a:t>
            </a:r>
            <a:r>
              <a:rPr lang="en-US" sz="3600" dirty="0" smtClean="0"/>
              <a:t>[0</a:t>
            </a:r>
            <a:r>
              <a:rPr lang="ru-RU" sz="3600" dirty="0" smtClean="0"/>
              <a:t>;+</a:t>
            </a:r>
            <a:r>
              <a:rPr lang="ru-RU" sz="3600" dirty="0"/>
              <a:t>1</a:t>
            </a:r>
            <a:r>
              <a:rPr lang="en-US" sz="3600" dirty="0" smtClean="0"/>
              <a:t>]</a:t>
            </a:r>
            <a:r>
              <a:rPr lang="ru-RU" sz="3600" dirty="0" smtClean="0"/>
              <a:t>,</a:t>
            </a:r>
            <a:r>
              <a:rPr lang="en-US" sz="3600" dirty="0" smtClean="0"/>
              <a:t> </a:t>
            </a:r>
            <a:r>
              <a:rPr lang="ru-RU" sz="3600" dirty="0" smtClean="0"/>
              <a:t>мера доверия</a:t>
            </a:r>
            <a:r>
              <a:rPr lang="ru-RU" sz="3600" dirty="0"/>
              <a:t> гипотезе</a:t>
            </a:r>
            <a:r>
              <a:rPr lang="ru-RU" sz="3600" dirty="0" smtClean="0"/>
              <a:t> </a:t>
            </a:r>
            <a:r>
              <a:rPr lang="en-US" sz="3600" b="1" i="1" dirty="0"/>
              <a:t>H</a:t>
            </a:r>
            <a:r>
              <a:rPr lang="ru-RU" sz="3600" dirty="0"/>
              <a:t> с учетом </a:t>
            </a:r>
            <a:r>
              <a:rPr lang="ru-RU" sz="3600" dirty="0" smtClean="0"/>
              <a:t>свидетельств </a:t>
            </a:r>
            <a:r>
              <a:rPr lang="en-US" sz="3600" b="1" i="1" dirty="0" smtClean="0"/>
              <a:t>E</a:t>
            </a:r>
          </a:p>
          <a:p>
            <a:pPr marL="0" indent="0">
              <a:buNone/>
            </a:pPr>
            <a:r>
              <a:rPr lang="en-US" sz="3600" b="1" i="1" dirty="0" smtClean="0"/>
              <a:t>M</a:t>
            </a:r>
            <a:r>
              <a:rPr lang="en-US" sz="3600" b="1" i="1" dirty="0"/>
              <a:t>N</a:t>
            </a:r>
            <a:r>
              <a:rPr lang="en-US" sz="3600" b="1" i="1" dirty="0" smtClean="0"/>
              <a:t>D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 smtClean="0"/>
              <a:t>:</a:t>
            </a:r>
            <a:r>
              <a:rPr lang="en-US" sz="3600" b="1" i="1" dirty="0" smtClean="0"/>
              <a:t>E</a:t>
            </a:r>
            <a:r>
              <a:rPr lang="en-US" sz="3600" b="1" dirty="0"/>
              <a:t>] –</a:t>
            </a:r>
            <a:r>
              <a:rPr lang="en-US" sz="3600" b="1" dirty="0" smtClean="0"/>
              <a:t> </a:t>
            </a:r>
            <a:r>
              <a:rPr lang="en-US" sz="3600" dirty="0"/>
              <a:t>[0</a:t>
            </a:r>
            <a:r>
              <a:rPr lang="ru-RU" sz="3600" dirty="0"/>
              <a:t>;+1</a:t>
            </a:r>
            <a:r>
              <a:rPr lang="en-US" sz="3600" dirty="0" smtClean="0"/>
              <a:t>]</a:t>
            </a:r>
            <a:r>
              <a:rPr lang="ru-RU" sz="3600" dirty="0" smtClean="0"/>
              <a:t>,</a:t>
            </a:r>
            <a:r>
              <a:rPr lang="en-US" sz="3600" dirty="0" smtClean="0"/>
              <a:t> </a:t>
            </a:r>
            <a:r>
              <a:rPr lang="ru-RU" sz="3600" dirty="0" smtClean="0"/>
              <a:t>мера недоверия </a:t>
            </a:r>
            <a:r>
              <a:rPr lang="ru-RU" sz="3600" dirty="0"/>
              <a:t>гипотезе </a:t>
            </a:r>
            <a:r>
              <a:rPr lang="en-US" sz="3600" b="1" i="1" dirty="0"/>
              <a:t>H</a:t>
            </a:r>
            <a:r>
              <a:rPr lang="ru-RU" sz="3600" dirty="0"/>
              <a:t> с учетом </a:t>
            </a:r>
            <a:r>
              <a:rPr lang="ru-RU" sz="3600" dirty="0" smtClean="0"/>
              <a:t>свидетельств </a:t>
            </a:r>
            <a:r>
              <a:rPr lang="en-US" sz="3600" b="1" i="1" dirty="0"/>
              <a:t>E</a:t>
            </a:r>
            <a:endParaRPr lang="ru-RU" sz="3600" b="1" dirty="0"/>
          </a:p>
          <a:p>
            <a:pPr marL="0" indent="0">
              <a:buNone/>
            </a:pP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476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Коэффициент доверия</a:t>
            </a:r>
            <a:r>
              <a:rPr lang="ru-RU" b="1" dirty="0" smtClean="0"/>
              <a:t>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Для расчета меры доверия к знаниям, вывод которых опирается на факты с разной мерой доверия, применяют правила нечеткой логики</a:t>
            </a:r>
            <a:r>
              <a:rPr lang="ru-RU" sz="3600" dirty="0" smtClean="0"/>
              <a:t>:</a:t>
            </a:r>
          </a:p>
          <a:p>
            <a:pPr marL="0" indent="0" algn="ctr">
              <a:buNone/>
            </a:pPr>
            <a:r>
              <a:rPr lang="en-US" sz="3600" b="1" i="1" dirty="0" smtClean="0"/>
              <a:t>MD</a:t>
            </a:r>
            <a:r>
              <a:rPr lang="ru-RU" sz="3600" b="1" dirty="0" smtClean="0"/>
              <a:t>1</a:t>
            </a:r>
            <a:r>
              <a:rPr lang="en-US" sz="3600" b="1" dirty="0" smtClean="0"/>
              <a:t> And </a:t>
            </a:r>
            <a:r>
              <a:rPr lang="en-US" sz="3600" b="1" i="1" dirty="0" smtClean="0"/>
              <a:t>MD</a:t>
            </a:r>
            <a:r>
              <a:rPr lang="ru-RU" sz="3600" b="1" dirty="0" smtClean="0"/>
              <a:t>2</a:t>
            </a:r>
            <a:r>
              <a:rPr lang="en-US" sz="3600" b="1" dirty="0" smtClean="0"/>
              <a:t> = </a:t>
            </a:r>
            <a:r>
              <a:rPr lang="en-US" sz="3600" b="1" i="1" dirty="0" smtClean="0"/>
              <a:t>MIN</a:t>
            </a:r>
            <a:r>
              <a:rPr lang="en-US" sz="3600" b="1" dirty="0" smtClean="0"/>
              <a:t>(</a:t>
            </a:r>
            <a:r>
              <a:rPr lang="en-US" sz="3600" b="1" i="1" dirty="0"/>
              <a:t>MD</a:t>
            </a:r>
            <a:r>
              <a:rPr lang="ru-RU" sz="3600" b="1" dirty="0" smtClean="0"/>
              <a:t>1</a:t>
            </a:r>
            <a:r>
              <a:rPr lang="en-US" sz="3600" b="1" dirty="0" smtClean="0"/>
              <a:t>, </a:t>
            </a:r>
            <a:r>
              <a:rPr lang="en-US" sz="3600" b="1" i="1" dirty="0" smtClean="0"/>
              <a:t>MD</a:t>
            </a:r>
            <a:r>
              <a:rPr lang="ru-RU" sz="3600" b="1" dirty="0"/>
              <a:t>2</a:t>
            </a:r>
            <a:r>
              <a:rPr lang="en-US" sz="3600" b="1" dirty="0" smtClean="0"/>
              <a:t>)</a:t>
            </a:r>
          </a:p>
          <a:p>
            <a:pPr marL="0" indent="0" algn="ctr">
              <a:buNone/>
            </a:pPr>
            <a:r>
              <a:rPr lang="en-US" sz="3600" b="1" i="1" dirty="0"/>
              <a:t>MD</a:t>
            </a:r>
            <a:r>
              <a:rPr lang="ru-RU" sz="3600" b="1" dirty="0"/>
              <a:t>1</a:t>
            </a:r>
            <a:r>
              <a:rPr lang="en-US" sz="3600" b="1" dirty="0"/>
              <a:t> </a:t>
            </a:r>
            <a:r>
              <a:rPr lang="en-US" sz="3600" b="1" dirty="0" smtClean="0"/>
              <a:t>Or </a:t>
            </a:r>
            <a:r>
              <a:rPr lang="en-US" sz="3600" b="1" i="1" dirty="0"/>
              <a:t>MD</a:t>
            </a:r>
            <a:r>
              <a:rPr lang="ru-RU" sz="3600" b="1" dirty="0"/>
              <a:t>2</a:t>
            </a:r>
            <a:r>
              <a:rPr lang="en-US" sz="3600" b="1" dirty="0"/>
              <a:t> = </a:t>
            </a:r>
            <a:r>
              <a:rPr lang="en-US" sz="3600" b="1" i="1" dirty="0" smtClean="0"/>
              <a:t>MAX</a:t>
            </a:r>
            <a:r>
              <a:rPr lang="en-US" sz="3600" b="1" dirty="0" smtClean="0"/>
              <a:t>(</a:t>
            </a:r>
            <a:r>
              <a:rPr lang="en-US" sz="3600" b="1" i="1" dirty="0" smtClean="0"/>
              <a:t>MD</a:t>
            </a:r>
            <a:r>
              <a:rPr lang="ru-RU" sz="3600" b="1" dirty="0"/>
              <a:t>1</a:t>
            </a:r>
            <a:r>
              <a:rPr lang="en-US" sz="3600" b="1" dirty="0"/>
              <a:t>, </a:t>
            </a:r>
            <a:r>
              <a:rPr lang="en-US" sz="3600" b="1" i="1" dirty="0"/>
              <a:t>MD</a:t>
            </a:r>
            <a:r>
              <a:rPr lang="ru-RU" sz="3600" b="1" dirty="0"/>
              <a:t>2</a:t>
            </a:r>
            <a:r>
              <a:rPr lang="en-US" sz="3600" b="1" dirty="0" smtClean="0"/>
              <a:t>)</a:t>
            </a:r>
          </a:p>
          <a:p>
            <a:pPr marL="0" indent="0" algn="ctr">
              <a:buNone/>
            </a:pPr>
            <a:r>
              <a:rPr lang="en-US" sz="3600" b="1" dirty="0" smtClean="0"/>
              <a:t>Not </a:t>
            </a:r>
            <a:r>
              <a:rPr lang="en-US" sz="3600" b="1" i="1" dirty="0"/>
              <a:t>MD</a:t>
            </a:r>
            <a:r>
              <a:rPr lang="ru-RU" sz="3600" b="1" dirty="0"/>
              <a:t>1</a:t>
            </a:r>
            <a:r>
              <a:rPr lang="en-US" sz="3600" b="1" dirty="0"/>
              <a:t> </a:t>
            </a:r>
            <a:r>
              <a:rPr lang="en-US" sz="3600" b="1" dirty="0" smtClean="0"/>
              <a:t>= 1 - </a:t>
            </a:r>
            <a:r>
              <a:rPr lang="en-US" sz="3600" b="1" i="1" dirty="0" smtClean="0"/>
              <a:t>MD</a:t>
            </a:r>
            <a:r>
              <a:rPr lang="ru-RU" sz="3600" b="1" dirty="0" smtClean="0"/>
              <a:t>1</a:t>
            </a:r>
            <a:endParaRPr lang="ru-RU" sz="3600" b="1" dirty="0"/>
          </a:p>
          <a:p>
            <a:pPr marL="0" indent="0">
              <a:buNone/>
            </a:pP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2083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Коэффициент доверия</a:t>
            </a:r>
            <a:r>
              <a:rPr lang="ru-RU" b="1" dirty="0" smtClean="0"/>
              <a:t>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Если имеется несколько свидетельств, </a:t>
            </a:r>
            <a:r>
              <a:rPr lang="ru-RU" sz="3600" smtClean="0"/>
              <a:t>то (если </a:t>
            </a:r>
            <a:r>
              <a:rPr lang="en-US" sz="3600" i="1" dirty="0" smtClean="0"/>
              <a:t>E</a:t>
            </a:r>
            <a:r>
              <a:rPr lang="en-US" sz="3600" dirty="0" smtClean="0"/>
              <a:t>2 </a:t>
            </a:r>
            <a:r>
              <a:rPr lang="ru-RU" sz="3600" dirty="0" smtClean="0"/>
              <a:t>следует за </a:t>
            </a:r>
            <a:r>
              <a:rPr lang="en-US" sz="3600" i="1" dirty="0" smtClean="0"/>
              <a:t>E</a:t>
            </a:r>
            <a:r>
              <a:rPr lang="ru-RU" sz="3600" dirty="0" smtClean="0"/>
              <a:t>1</a:t>
            </a:r>
            <a:r>
              <a:rPr lang="en-US" sz="3600" dirty="0" smtClean="0"/>
              <a:t>)</a:t>
            </a:r>
            <a:r>
              <a:rPr lang="ru-RU" sz="3600" dirty="0" smtClean="0"/>
              <a:t>:</a:t>
            </a:r>
          </a:p>
          <a:p>
            <a:pPr marL="0" indent="0" algn="ctr">
              <a:buNone/>
            </a:pPr>
            <a:r>
              <a:rPr lang="en-US" sz="3600" b="1" i="1" dirty="0" smtClean="0"/>
              <a:t>MD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 smtClean="0"/>
              <a:t>:</a:t>
            </a:r>
            <a:r>
              <a:rPr lang="en-US" sz="3600" b="1" i="1" dirty="0" smtClean="0"/>
              <a:t>E</a:t>
            </a:r>
            <a:r>
              <a:rPr lang="en-US" sz="3600" b="1" dirty="0" smtClean="0"/>
              <a:t>1, </a:t>
            </a:r>
            <a:r>
              <a:rPr lang="en-US" sz="3600" b="1" i="1" dirty="0" smtClean="0"/>
              <a:t>E</a:t>
            </a:r>
            <a:r>
              <a:rPr lang="en-US" sz="3600" b="1" dirty="0" smtClean="0"/>
              <a:t>2] </a:t>
            </a:r>
            <a:r>
              <a:rPr lang="en-US" sz="3600" b="1" dirty="0"/>
              <a:t>= </a:t>
            </a:r>
            <a:r>
              <a:rPr lang="en-US" sz="3600" b="1" i="1" dirty="0" smtClean="0"/>
              <a:t>MD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 smtClean="0"/>
              <a:t>:</a:t>
            </a:r>
            <a:r>
              <a:rPr lang="en-US" sz="3600" b="1" i="1" dirty="0"/>
              <a:t>E</a:t>
            </a:r>
            <a:r>
              <a:rPr lang="en-US" sz="3600" b="1" dirty="0"/>
              <a:t>1</a:t>
            </a:r>
            <a:r>
              <a:rPr lang="en-US" sz="3600" b="1" dirty="0" smtClean="0"/>
              <a:t>] + </a:t>
            </a:r>
            <a:r>
              <a:rPr lang="en-US" sz="3600" b="1" i="1" dirty="0" smtClean="0"/>
              <a:t>MD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 smtClean="0"/>
              <a:t>:</a:t>
            </a:r>
            <a:r>
              <a:rPr lang="en-US" sz="3600" b="1" i="1" dirty="0"/>
              <a:t> E</a:t>
            </a:r>
            <a:r>
              <a:rPr lang="en-US" sz="3600" b="1" dirty="0"/>
              <a:t>2</a:t>
            </a:r>
            <a:r>
              <a:rPr lang="en-US" sz="3600" b="1" dirty="0" smtClean="0"/>
              <a:t>](1 - </a:t>
            </a:r>
            <a:r>
              <a:rPr lang="en-US" sz="3600" b="1" i="1" dirty="0" smtClean="0"/>
              <a:t> </a:t>
            </a:r>
            <a:r>
              <a:rPr lang="en-US" sz="3600" b="1" i="1" dirty="0"/>
              <a:t>MD</a:t>
            </a:r>
            <a:r>
              <a:rPr lang="en-US" sz="3600" b="1" dirty="0"/>
              <a:t>[</a:t>
            </a:r>
            <a:r>
              <a:rPr lang="en-US" sz="3600" b="1" i="1" dirty="0"/>
              <a:t>H</a:t>
            </a:r>
            <a:r>
              <a:rPr lang="en-US" sz="3600" b="1" dirty="0"/>
              <a:t>:</a:t>
            </a:r>
            <a:r>
              <a:rPr lang="en-US" sz="3600" b="1" i="1" dirty="0"/>
              <a:t>E</a:t>
            </a:r>
            <a:r>
              <a:rPr lang="en-US" sz="3600" b="1" dirty="0"/>
              <a:t>1</a:t>
            </a:r>
            <a:r>
              <a:rPr lang="en-US" sz="3600" b="1" dirty="0" smtClean="0"/>
              <a:t>])                                   (2)</a:t>
            </a:r>
          </a:p>
          <a:p>
            <a:pPr marL="0" indent="0" algn="ctr">
              <a:buNone/>
            </a:pPr>
            <a:r>
              <a:rPr lang="en-US" sz="3600" b="1" i="1" dirty="0" smtClean="0"/>
              <a:t>MND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 smtClean="0"/>
              <a:t>:</a:t>
            </a:r>
            <a:r>
              <a:rPr lang="en-US" sz="3600" b="1" i="1" dirty="0" smtClean="0"/>
              <a:t>E</a:t>
            </a:r>
            <a:r>
              <a:rPr lang="en-US" sz="3600" b="1" dirty="0" smtClean="0"/>
              <a:t>1</a:t>
            </a:r>
            <a:r>
              <a:rPr lang="en-US" sz="3600" b="1" dirty="0"/>
              <a:t>, </a:t>
            </a:r>
            <a:r>
              <a:rPr lang="en-US" sz="3600" b="1" i="1" dirty="0"/>
              <a:t>E</a:t>
            </a:r>
            <a:r>
              <a:rPr lang="en-US" sz="3600" b="1" dirty="0"/>
              <a:t>2] = </a:t>
            </a:r>
            <a:r>
              <a:rPr lang="en-US" sz="3600" b="1" i="1" dirty="0" smtClean="0"/>
              <a:t>MND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 smtClean="0"/>
              <a:t>:</a:t>
            </a:r>
            <a:r>
              <a:rPr lang="en-US" sz="3600" b="1" i="1" dirty="0" smtClean="0"/>
              <a:t>E</a:t>
            </a:r>
            <a:r>
              <a:rPr lang="en-US" sz="3600" b="1" dirty="0" smtClean="0"/>
              <a:t>1</a:t>
            </a:r>
            <a:r>
              <a:rPr lang="en-US" sz="3600" b="1" dirty="0"/>
              <a:t>] + </a:t>
            </a:r>
            <a:r>
              <a:rPr lang="en-US" sz="3600" b="1" i="1" dirty="0" smtClean="0"/>
              <a:t>MND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/>
              <a:t>:</a:t>
            </a:r>
            <a:r>
              <a:rPr lang="en-US" sz="3600" b="1" i="1" dirty="0"/>
              <a:t> E</a:t>
            </a:r>
            <a:r>
              <a:rPr lang="en-US" sz="3600" b="1" dirty="0"/>
              <a:t>2](1 - </a:t>
            </a:r>
            <a:r>
              <a:rPr lang="en-US" sz="3600" b="1" i="1" dirty="0"/>
              <a:t> </a:t>
            </a:r>
            <a:r>
              <a:rPr lang="en-US" sz="3600" b="1" i="1" dirty="0" smtClean="0"/>
              <a:t>MND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 smtClean="0"/>
              <a:t>:</a:t>
            </a:r>
            <a:r>
              <a:rPr lang="en-US" sz="3600" b="1" i="1" dirty="0" smtClean="0"/>
              <a:t>E</a:t>
            </a:r>
            <a:r>
              <a:rPr lang="en-US" sz="3600" b="1" dirty="0" smtClean="0"/>
              <a:t>1</a:t>
            </a:r>
            <a:r>
              <a:rPr lang="en-US" sz="3600" b="1" dirty="0"/>
              <a:t>])                   </a:t>
            </a:r>
            <a:r>
              <a:rPr lang="en-US" sz="3600" b="1" dirty="0" smtClean="0"/>
              <a:t>(3)</a:t>
            </a:r>
            <a:endParaRPr lang="en-US" sz="3600" b="1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334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Коэффициент доверия</a:t>
            </a:r>
            <a:r>
              <a:rPr lang="ru-RU" b="1" dirty="0" smtClean="0"/>
              <a:t>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3600" dirty="0" smtClean="0"/>
              <a:t>Пример:</a:t>
            </a:r>
          </a:p>
          <a:p>
            <a:r>
              <a:rPr lang="en-US" sz="3600" b="1" i="1" dirty="0" smtClean="0"/>
              <a:t>E</a:t>
            </a:r>
            <a:r>
              <a:rPr lang="en-US" sz="3600" b="1" dirty="0" smtClean="0"/>
              <a:t>1</a:t>
            </a:r>
            <a:r>
              <a:rPr lang="ru-RU" sz="3600" b="1" dirty="0" smtClean="0"/>
              <a:t>:</a:t>
            </a:r>
            <a:r>
              <a:rPr lang="en-US" sz="3600" b="1" dirty="0" smtClean="0"/>
              <a:t> </a:t>
            </a:r>
            <a:r>
              <a:rPr lang="ru-RU" sz="3600" b="1" dirty="0" smtClean="0"/>
              <a:t>ЕСЛИ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/>
              <a:t>  X  проживает в </a:t>
            </a:r>
            <a:r>
              <a:rPr lang="en-US" sz="3600" dirty="0" smtClean="0"/>
              <a:t>Y</a:t>
            </a:r>
            <a:r>
              <a:rPr lang="ru-RU" sz="3600" dirty="0" smtClean="0"/>
              <a:t>, МD</a:t>
            </a:r>
            <a:r>
              <a:rPr lang="en-US" sz="3600" dirty="0" smtClean="0"/>
              <a:t>1</a:t>
            </a:r>
            <a:r>
              <a:rPr lang="ru-RU" sz="3600" dirty="0" smtClean="0"/>
              <a:t> </a:t>
            </a:r>
            <a:r>
              <a:rPr lang="ru-RU" sz="3600" dirty="0"/>
              <a:t>= 0.8</a:t>
            </a:r>
            <a:br>
              <a:rPr lang="ru-RU" sz="3600" dirty="0"/>
            </a:br>
            <a:r>
              <a:rPr lang="ru-RU" sz="3600" b="1" dirty="0"/>
              <a:t>и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/>
              <a:t>  X является членом партии Z, </a:t>
            </a:r>
            <a:r>
              <a:rPr lang="ru-RU" sz="3600" dirty="0" smtClean="0"/>
              <a:t>MD</a:t>
            </a:r>
            <a:r>
              <a:rPr lang="en-US" sz="3600" dirty="0"/>
              <a:t>2</a:t>
            </a:r>
            <a:r>
              <a:rPr lang="ru-RU" sz="3600" dirty="0" smtClean="0"/>
              <a:t> </a:t>
            </a:r>
            <a:r>
              <a:rPr lang="ru-RU" sz="3600" dirty="0"/>
              <a:t>= 0.75</a:t>
            </a:r>
            <a:br>
              <a:rPr lang="ru-RU" sz="3600" dirty="0"/>
            </a:br>
            <a:r>
              <a:rPr lang="ru-RU" sz="3600" b="1" dirty="0"/>
              <a:t>ТО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/>
              <a:t>  X будет голосовать за кандидата </a:t>
            </a:r>
            <a:r>
              <a:rPr lang="ru-RU" sz="3600" dirty="0" smtClean="0"/>
              <a:t>B</a:t>
            </a:r>
            <a:endParaRPr lang="en-US" sz="3600" dirty="0" smtClean="0"/>
          </a:p>
          <a:p>
            <a:r>
              <a:rPr lang="en-US" sz="3600" b="1" i="1" dirty="0" smtClean="0"/>
              <a:t>E</a:t>
            </a:r>
            <a:r>
              <a:rPr lang="en-US" sz="3600" b="1" dirty="0" smtClean="0"/>
              <a:t>2</a:t>
            </a:r>
            <a:r>
              <a:rPr lang="ru-RU" sz="3600" b="1" dirty="0" smtClean="0"/>
              <a:t>:</a:t>
            </a:r>
            <a:r>
              <a:rPr lang="en-US" sz="3600" b="1" dirty="0" smtClean="0"/>
              <a:t> </a:t>
            </a:r>
            <a:r>
              <a:rPr lang="ru-RU" sz="3600" b="1" dirty="0" smtClean="0"/>
              <a:t>ЕСЛИ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/>
              <a:t>  X имеет возраст T, </a:t>
            </a:r>
            <a:r>
              <a:rPr lang="ru-RU" sz="3600" dirty="0" smtClean="0"/>
              <a:t>MD</a:t>
            </a:r>
            <a:r>
              <a:rPr lang="en-US" sz="3600" dirty="0" smtClean="0"/>
              <a:t>3</a:t>
            </a:r>
            <a:r>
              <a:rPr lang="ru-RU" sz="3600" dirty="0" smtClean="0"/>
              <a:t> </a:t>
            </a:r>
            <a:r>
              <a:rPr lang="ru-RU" sz="3600" dirty="0"/>
              <a:t>= 0.4</a:t>
            </a:r>
            <a:br>
              <a:rPr lang="ru-RU" sz="3600" dirty="0"/>
            </a:br>
            <a:r>
              <a:rPr lang="ru-RU" sz="3600" b="1" dirty="0"/>
              <a:t>или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/>
              <a:t>  X является частным предпринимателем, </a:t>
            </a:r>
            <a:r>
              <a:rPr lang="ru-RU" sz="3600" dirty="0" smtClean="0"/>
              <a:t>MD</a:t>
            </a:r>
            <a:r>
              <a:rPr lang="en-US" sz="3600" dirty="0" smtClean="0"/>
              <a:t>4</a:t>
            </a:r>
            <a:r>
              <a:rPr lang="ru-RU" sz="3600" dirty="0" smtClean="0"/>
              <a:t> </a:t>
            </a:r>
            <a:r>
              <a:rPr lang="ru-RU" sz="3600" dirty="0"/>
              <a:t>= 0.6</a:t>
            </a:r>
            <a:br>
              <a:rPr lang="ru-RU" sz="3600" dirty="0"/>
            </a:br>
            <a:r>
              <a:rPr lang="ru-RU" sz="3600" b="1" dirty="0"/>
              <a:t>ТО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/>
              <a:t>  X будет голосовать за кандидата </a:t>
            </a:r>
            <a:r>
              <a:rPr lang="ru-RU" sz="3600" dirty="0" smtClean="0"/>
              <a:t>B</a:t>
            </a:r>
            <a:endParaRPr lang="ru-RU" sz="3600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110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Коэффициент доверия</a:t>
            </a:r>
            <a:r>
              <a:rPr lang="ru-RU" b="1" dirty="0" smtClean="0"/>
              <a:t> в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600" dirty="0" smtClean="0"/>
              <a:t>Пример:</a:t>
            </a:r>
          </a:p>
          <a:p>
            <a:r>
              <a:rPr lang="en-US" sz="3600" b="1" i="1" dirty="0"/>
              <a:t>MD</a:t>
            </a:r>
            <a:r>
              <a:rPr lang="en-US" sz="3600" b="1" dirty="0"/>
              <a:t>[</a:t>
            </a:r>
            <a:r>
              <a:rPr lang="en-US" sz="3600" b="1" i="1" dirty="0"/>
              <a:t>H</a:t>
            </a:r>
            <a:r>
              <a:rPr lang="en-US" sz="3600" b="1" dirty="0"/>
              <a:t>:</a:t>
            </a:r>
            <a:r>
              <a:rPr lang="en-US" sz="3600" b="1" i="1" dirty="0"/>
              <a:t>E</a:t>
            </a:r>
            <a:r>
              <a:rPr lang="en-US" sz="3600" b="1" dirty="0"/>
              <a:t>1, </a:t>
            </a:r>
            <a:r>
              <a:rPr lang="en-US" sz="3600" b="1" i="1" dirty="0"/>
              <a:t>E</a:t>
            </a:r>
            <a:r>
              <a:rPr lang="en-US" sz="3600" b="1" dirty="0"/>
              <a:t>2] = </a:t>
            </a:r>
            <a:r>
              <a:rPr lang="en-US" sz="3600" b="1" i="1" dirty="0"/>
              <a:t>MD</a:t>
            </a:r>
            <a:r>
              <a:rPr lang="en-US" sz="3600" b="1" dirty="0"/>
              <a:t>[</a:t>
            </a:r>
            <a:r>
              <a:rPr lang="en-US" sz="3600" b="1" i="1" dirty="0"/>
              <a:t>H</a:t>
            </a:r>
            <a:r>
              <a:rPr lang="en-US" sz="3600" b="1" dirty="0"/>
              <a:t>:</a:t>
            </a:r>
            <a:r>
              <a:rPr lang="en-US" sz="3600" b="1" i="1" dirty="0"/>
              <a:t>E</a:t>
            </a:r>
            <a:r>
              <a:rPr lang="en-US" sz="3600" b="1" dirty="0"/>
              <a:t>1] + </a:t>
            </a:r>
            <a:r>
              <a:rPr lang="en-US" sz="3600" b="1" i="1" dirty="0" smtClean="0"/>
              <a:t>MD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H</a:t>
            </a:r>
            <a:r>
              <a:rPr lang="en-US" sz="3600" b="1" dirty="0" smtClean="0"/>
              <a:t>:</a:t>
            </a:r>
            <a:r>
              <a:rPr lang="en-US" sz="3600" b="1" i="1" dirty="0" smtClean="0"/>
              <a:t>E</a:t>
            </a:r>
            <a:r>
              <a:rPr lang="en-US" sz="3600" b="1" dirty="0" smtClean="0"/>
              <a:t>2</a:t>
            </a:r>
            <a:r>
              <a:rPr lang="en-US" sz="3600" b="1" dirty="0"/>
              <a:t>](1 - </a:t>
            </a:r>
            <a:r>
              <a:rPr lang="en-US" sz="3600" b="1" i="1" dirty="0"/>
              <a:t> MD</a:t>
            </a:r>
            <a:r>
              <a:rPr lang="en-US" sz="3600" b="1" dirty="0"/>
              <a:t>[</a:t>
            </a:r>
            <a:r>
              <a:rPr lang="en-US" sz="3600" b="1" i="1" dirty="0"/>
              <a:t>H</a:t>
            </a:r>
            <a:r>
              <a:rPr lang="en-US" sz="3600" b="1" dirty="0"/>
              <a:t>:</a:t>
            </a:r>
            <a:r>
              <a:rPr lang="en-US" sz="3600" b="1" i="1" dirty="0"/>
              <a:t>E</a:t>
            </a:r>
            <a:r>
              <a:rPr lang="en-US" sz="3600" b="1" dirty="0"/>
              <a:t>1</a:t>
            </a:r>
            <a:r>
              <a:rPr lang="en-US" sz="3600" b="1" dirty="0" smtClean="0"/>
              <a:t>])</a:t>
            </a:r>
            <a:r>
              <a:rPr lang="ru-RU" sz="3600" b="1" dirty="0" smtClean="0"/>
              <a:t> = </a:t>
            </a:r>
            <a:r>
              <a:rPr lang="en-US" sz="3600" b="1" i="1" dirty="0"/>
              <a:t>MIN</a:t>
            </a:r>
            <a:r>
              <a:rPr lang="en-US" sz="3600" b="1" dirty="0"/>
              <a:t>(</a:t>
            </a:r>
            <a:r>
              <a:rPr lang="en-US" sz="3600" b="1" i="1" dirty="0"/>
              <a:t>MD</a:t>
            </a:r>
            <a:r>
              <a:rPr lang="ru-RU" sz="3600" b="1" dirty="0"/>
              <a:t>1</a:t>
            </a:r>
            <a:r>
              <a:rPr lang="en-US" sz="3600" b="1" dirty="0"/>
              <a:t>, </a:t>
            </a:r>
            <a:r>
              <a:rPr lang="en-US" sz="3600" b="1" i="1" dirty="0"/>
              <a:t>MD</a:t>
            </a:r>
            <a:r>
              <a:rPr lang="ru-RU" sz="3600" b="1" dirty="0"/>
              <a:t>2</a:t>
            </a:r>
            <a:r>
              <a:rPr lang="en-US" sz="3600" b="1" dirty="0" smtClean="0"/>
              <a:t>)</a:t>
            </a:r>
            <a:r>
              <a:rPr lang="ru-RU" sz="3600" b="1" dirty="0" smtClean="0"/>
              <a:t> + </a:t>
            </a:r>
            <a:r>
              <a:rPr lang="en-US" sz="3600" b="1" i="1" dirty="0" smtClean="0"/>
              <a:t>MAX</a:t>
            </a:r>
            <a:r>
              <a:rPr lang="en-US" sz="3600" b="1" dirty="0" smtClean="0"/>
              <a:t>(</a:t>
            </a:r>
            <a:r>
              <a:rPr lang="en-US" sz="3600" b="1" i="1" dirty="0" smtClean="0"/>
              <a:t>MD</a:t>
            </a:r>
            <a:r>
              <a:rPr lang="en-US" sz="3600" b="1" dirty="0" smtClean="0"/>
              <a:t>3, </a:t>
            </a:r>
            <a:r>
              <a:rPr lang="en-US" sz="3600" b="1" i="1" dirty="0" smtClean="0"/>
              <a:t>MD</a:t>
            </a:r>
            <a:r>
              <a:rPr lang="en-US" sz="3600" b="1" dirty="0" smtClean="0"/>
              <a:t>4)</a:t>
            </a:r>
            <a:r>
              <a:rPr lang="ru-RU" sz="3600" b="1" dirty="0" smtClean="0"/>
              <a:t>(1 - </a:t>
            </a:r>
            <a:r>
              <a:rPr lang="en-US" sz="3600" b="1" i="1" dirty="0"/>
              <a:t>MIN</a:t>
            </a:r>
            <a:r>
              <a:rPr lang="en-US" sz="3600" b="1" dirty="0"/>
              <a:t>(</a:t>
            </a:r>
            <a:r>
              <a:rPr lang="en-US" sz="3600" b="1" i="1" dirty="0"/>
              <a:t>MD</a:t>
            </a:r>
            <a:r>
              <a:rPr lang="ru-RU" sz="3600" b="1" dirty="0"/>
              <a:t>1</a:t>
            </a:r>
            <a:r>
              <a:rPr lang="en-US" sz="3600" b="1" dirty="0"/>
              <a:t>, </a:t>
            </a:r>
            <a:r>
              <a:rPr lang="en-US" sz="3600" b="1" i="1" dirty="0"/>
              <a:t>MD</a:t>
            </a:r>
            <a:r>
              <a:rPr lang="ru-RU" sz="3600" b="1" dirty="0"/>
              <a:t>2</a:t>
            </a:r>
            <a:r>
              <a:rPr lang="en-US" sz="3600" b="1" dirty="0"/>
              <a:t>)</a:t>
            </a:r>
            <a:r>
              <a:rPr lang="ru-RU" sz="3600" b="1" dirty="0" smtClean="0"/>
              <a:t>) = </a:t>
            </a:r>
            <a:r>
              <a:rPr lang="en-US" sz="3600" b="1" i="1" dirty="0" smtClean="0"/>
              <a:t>MIN</a:t>
            </a:r>
            <a:r>
              <a:rPr lang="en-US" sz="3600" b="1" dirty="0" smtClean="0"/>
              <a:t>(</a:t>
            </a:r>
            <a:r>
              <a:rPr lang="ru-RU" sz="3600" b="1" dirty="0" smtClean="0"/>
              <a:t>0.8</a:t>
            </a:r>
            <a:r>
              <a:rPr lang="en-US" sz="3600" b="1" dirty="0" smtClean="0"/>
              <a:t>, </a:t>
            </a:r>
            <a:r>
              <a:rPr lang="ru-RU" sz="3600" b="1" dirty="0" smtClean="0"/>
              <a:t>0.75</a:t>
            </a:r>
            <a:r>
              <a:rPr lang="en-US" sz="3600" b="1" dirty="0" smtClean="0"/>
              <a:t>)</a:t>
            </a:r>
            <a:r>
              <a:rPr lang="ru-RU" sz="3600" b="1" dirty="0" smtClean="0"/>
              <a:t> </a:t>
            </a:r>
            <a:r>
              <a:rPr lang="ru-RU" sz="3600" b="1" dirty="0"/>
              <a:t>+ </a:t>
            </a:r>
            <a:r>
              <a:rPr lang="en-US" sz="3600" b="1" i="1" dirty="0" smtClean="0"/>
              <a:t>MAX</a:t>
            </a:r>
            <a:r>
              <a:rPr lang="en-US" sz="3600" b="1" dirty="0" smtClean="0"/>
              <a:t>(</a:t>
            </a:r>
            <a:r>
              <a:rPr lang="ru-RU" sz="3600" b="1" dirty="0" smtClean="0"/>
              <a:t>0.4</a:t>
            </a:r>
            <a:r>
              <a:rPr lang="en-US" sz="3600" b="1" dirty="0" smtClean="0"/>
              <a:t>, </a:t>
            </a:r>
            <a:r>
              <a:rPr lang="ru-RU" sz="3600" b="1" dirty="0" smtClean="0"/>
              <a:t>0.6</a:t>
            </a:r>
            <a:r>
              <a:rPr lang="en-US" sz="3600" b="1" dirty="0" smtClean="0"/>
              <a:t>)</a:t>
            </a:r>
            <a:r>
              <a:rPr lang="ru-RU" sz="3600" b="1" dirty="0"/>
              <a:t>(1 - </a:t>
            </a:r>
            <a:r>
              <a:rPr lang="en-US" sz="3600" b="1" i="1" dirty="0" smtClean="0"/>
              <a:t>MIN</a:t>
            </a:r>
            <a:r>
              <a:rPr lang="en-US" sz="3600" b="1" dirty="0" smtClean="0"/>
              <a:t>(</a:t>
            </a:r>
            <a:r>
              <a:rPr lang="ru-RU" sz="3600" b="1" dirty="0"/>
              <a:t>0.8</a:t>
            </a:r>
            <a:r>
              <a:rPr lang="en-US" sz="3600" b="1" dirty="0"/>
              <a:t>, </a:t>
            </a:r>
            <a:r>
              <a:rPr lang="ru-RU" sz="3600" b="1" dirty="0"/>
              <a:t>0.75</a:t>
            </a:r>
            <a:r>
              <a:rPr lang="en-US" sz="3600" b="1" dirty="0" smtClean="0"/>
              <a:t>)</a:t>
            </a:r>
            <a:r>
              <a:rPr lang="ru-RU" sz="3600" b="1" dirty="0" smtClean="0"/>
              <a:t>) = 0.75 + 0.6(1 – 0.75) = 0.9</a:t>
            </a:r>
          </a:p>
          <a:p>
            <a:r>
              <a:rPr lang="ru-RU" sz="3600" dirty="0"/>
              <a:t>X будет голосовать за кандидата </a:t>
            </a:r>
            <a:r>
              <a:rPr lang="ru-RU" sz="3600" dirty="0" smtClean="0"/>
              <a:t>B с </a:t>
            </a:r>
            <a:br>
              <a:rPr lang="ru-RU" sz="3600" dirty="0" smtClean="0"/>
            </a:br>
            <a:r>
              <a:rPr lang="en-US" sz="3600" b="1" i="1" dirty="0" smtClean="0"/>
              <a:t>MD</a:t>
            </a:r>
            <a:r>
              <a:rPr lang="en-US" sz="3600" b="1" dirty="0" smtClean="0"/>
              <a:t> =</a:t>
            </a:r>
            <a:r>
              <a:rPr lang="ru-RU" sz="3600" b="1" dirty="0" smtClean="0"/>
              <a:t> 0.9</a:t>
            </a:r>
            <a:endParaRPr lang="en-US" sz="3600" dirty="0" smtClean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596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Возможность </a:t>
            </a:r>
            <a:r>
              <a:rPr lang="ru-RU" b="1" dirty="0" smtClean="0"/>
              <a:t>создания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ru-RU" sz="3600" dirty="0" smtClean="0"/>
              <a:t>наличие </a:t>
            </a:r>
            <a:r>
              <a:rPr lang="ru-RU" sz="3600" dirty="0"/>
              <a:t>экспертов в данной предметной </a:t>
            </a:r>
            <a:r>
              <a:rPr lang="ru-RU" sz="3600" dirty="0" smtClean="0"/>
              <a:t>области</a:t>
            </a:r>
            <a:endParaRPr lang="ru-RU" sz="3600" dirty="0"/>
          </a:p>
          <a:p>
            <a:pPr lvl="0"/>
            <a:r>
              <a:rPr lang="ru-RU" sz="3600" dirty="0"/>
              <a:t>эксперты способны выразить на естественном языке и объяснить используемые ими </a:t>
            </a:r>
            <a:r>
              <a:rPr lang="ru-RU" sz="3600" dirty="0" smtClean="0"/>
              <a:t>методы</a:t>
            </a:r>
            <a:endParaRPr lang="ru-RU" sz="3600" dirty="0"/>
          </a:p>
          <a:p>
            <a:pPr lvl="0"/>
            <a:r>
              <a:rPr lang="ru-RU" sz="3600" dirty="0"/>
              <a:t>задача хотя и не должна быть выражена в формальном виде, но все же должна относиться к достаточно «понятной» и структурированной области, т.е. должны быть выделены основные понятия, отношения и известные (хотя бы эксперту) способы получения решения </a:t>
            </a:r>
            <a:r>
              <a:rPr lang="ru-RU" sz="3600" dirty="0" smtClean="0"/>
              <a:t>задачи</a:t>
            </a:r>
            <a:endParaRPr lang="ru-RU" sz="3600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265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Возможность </a:t>
            </a:r>
            <a:r>
              <a:rPr lang="ru-RU" b="1" dirty="0" smtClean="0"/>
              <a:t>создания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92500"/>
          </a:bodyPr>
          <a:lstStyle/>
          <a:p>
            <a:r>
              <a:rPr lang="ru-RU" sz="3600" dirty="0" smtClean="0"/>
              <a:t>решение </a:t>
            </a:r>
            <a:r>
              <a:rPr lang="ru-RU" sz="3600" dirty="0"/>
              <a:t>задачи не полагается в значительной степени на использование так называемого «здравого смысла» (широкий спектр общих сведений о мире и о способе его функционирования, которые знает и умеет использовать любой нормальный человек), так как подобные знания пока не удается в достаточном количестве вложить в системы </a:t>
            </a:r>
            <a:r>
              <a:rPr lang="ru-RU" sz="3600" dirty="0" smtClean="0"/>
              <a:t>ИИ</a:t>
            </a:r>
            <a:endParaRPr lang="en-US" sz="36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55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Оправданность </a:t>
            </a:r>
            <a:r>
              <a:rPr lang="ru-RU" b="1" dirty="0"/>
              <a:t>создания</a:t>
            </a:r>
            <a:r>
              <a:rPr lang="ru-RU" b="1" dirty="0" smtClean="0"/>
              <a:t>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ru-RU" sz="3600" dirty="0"/>
              <a:t>решение задачи принесет значительный эффект, </a:t>
            </a:r>
            <a:r>
              <a:rPr lang="ru-RU" sz="3600" dirty="0" smtClean="0"/>
              <a:t>например, экономический</a:t>
            </a:r>
            <a:endParaRPr lang="ru-RU" sz="3600" dirty="0"/>
          </a:p>
          <a:p>
            <a:pPr lvl="0"/>
            <a:r>
              <a:rPr lang="ru-RU" sz="3600" dirty="0"/>
              <a:t>использование человека-эксперта невозможно либо из-за недостаточного количества экспертов, либо из-за необходимости выполнять экспертизу одновременно </a:t>
            </a:r>
            <a:r>
              <a:rPr lang="ru-RU" sz="3600" dirty="0" smtClean="0"/>
              <a:t>в </a:t>
            </a:r>
            <a:r>
              <a:rPr lang="ru-RU" sz="3600" dirty="0"/>
              <a:t>различных </a:t>
            </a:r>
            <a:r>
              <a:rPr lang="ru-RU" sz="3600" dirty="0" smtClean="0"/>
              <a:t>местах</a:t>
            </a:r>
            <a:endParaRPr lang="ru-RU" sz="3600" dirty="0"/>
          </a:p>
          <a:p>
            <a:pPr lvl="0"/>
            <a:r>
              <a:rPr lang="ru-RU" sz="3600" dirty="0"/>
              <a:t>при передаче информации эксперту происходит недопустимая потеря времени или </a:t>
            </a:r>
            <a:r>
              <a:rPr lang="ru-RU" sz="3600" dirty="0" smtClean="0"/>
              <a:t>информации</a:t>
            </a:r>
            <a:endParaRPr lang="ru-RU" sz="3600" dirty="0"/>
          </a:p>
          <a:p>
            <a:r>
              <a:rPr lang="ru-RU" sz="3600" dirty="0"/>
              <a:t>существует необходимость решать задачу в окружении, враждебном для человека</a:t>
            </a:r>
            <a:endParaRPr lang="ru-RU" sz="3600" b="1" dirty="0"/>
          </a:p>
          <a:p>
            <a:pPr marL="0" indent="0">
              <a:buNone/>
            </a:pP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14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Задача соответствует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pPr lvl="0"/>
            <a:r>
              <a:rPr lang="ru-RU" sz="3600" dirty="0"/>
              <a:t>задача имеет эвристическую, а не алгоритмическую </a:t>
            </a:r>
            <a:r>
              <a:rPr lang="ru-RU" sz="3600" dirty="0" smtClean="0"/>
              <a:t>природу</a:t>
            </a:r>
            <a:endParaRPr lang="ru-RU" sz="3600" dirty="0"/>
          </a:p>
          <a:p>
            <a:pPr lvl="0"/>
            <a:endParaRPr lang="ru-RU" sz="3600" dirty="0" smtClean="0"/>
          </a:p>
          <a:p>
            <a:pPr lvl="0"/>
            <a:r>
              <a:rPr lang="ru-RU" sz="3600" dirty="0" smtClean="0"/>
              <a:t>задача </a:t>
            </a:r>
            <a:r>
              <a:rPr lang="ru-RU" sz="3600" dirty="0"/>
              <a:t>должна быть достаточно узкой, чтобы решаться методами </a:t>
            </a:r>
            <a:r>
              <a:rPr lang="ru-RU" sz="3600" dirty="0" smtClean="0"/>
              <a:t>ЭС, </a:t>
            </a:r>
            <a:r>
              <a:rPr lang="ru-RU" sz="3600" dirty="0"/>
              <a:t>и практически </a:t>
            </a:r>
            <a:r>
              <a:rPr lang="ru-RU" sz="3600" dirty="0" smtClean="0"/>
              <a:t>значимой</a:t>
            </a:r>
            <a:endParaRPr lang="ru-RU" sz="3600" dirty="0"/>
          </a:p>
          <a:p>
            <a:pPr marL="0" indent="0">
              <a:buNone/>
            </a:pP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979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Разработчики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92500"/>
          </a:bodyPr>
          <a:lstStyle/>
          <a:p>
            <a:pPr lvl="0"/>
            <a:r>
              <a:rPr lang="ru-RU" sz="3600" b="1" dirty="0"/>
              <a:t>Эксперт</a:t>
            </a:r>
            <a:r>
              <a:rPr lang="ru-RU" sz="3600" dirty="0"/>
              <a:t> – это человек, способный ясно выражать свои мысли и пользующийся репутацией специалиста, умеющего находить правильные решения проблем в конкретной предметной </a:t>
            </a:r>
            <a:r>
              <a:rPr lang="ru-RU" sz="3600" dirty="0" smtClean="0"/>
              <a:t>области</a:t>
            </a:r>
          </a:p>
          <a:p>
            <a:pPr lvl="0"/>
            <a:r>
              <a:rPr lang="ru-RU" sz="3600" dirty="0" smtClean="0"/>
              <a:t>Эксперт </a:t>
            </a:r>
            <a:r>
              <a:rPr lang="ru-RU" sz="3600" dirty="0"/>
              <a:t>использует свои приёмы и ухищрения, чтобы сделать поиск решения более </a:t>
            </a:r>
            <a:r>
              <a:rPr lang="ru-RU" sz="3600" dirty="0" smtClean="0"/>
              <a:t>эффективным, ЭС </a:t>
            </a:r>
            <a:r>
              <a:rPr lang="ru-RU" sz="3600" dirty="0"/>
              <a:t>моделирует все его </a:t>
            </a:r>
            <a:r>
              <a:rPr lang="ru-RU" sz="3600" dirty="0" smtClean="0"/>
              <a:t>стратегии</a:t>
            </a: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5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Разработчики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pPr lvl="0"/>
            <a:r>
              <a:rPr lang="ru-RU" sz="3600" b="1" dirty="0"/>
              <a:t>Инженер знаний</a:t>
            </a:r>
            <a:r>
              <a:rPr lang="ru-RU" sz="3600" dirty="0"/>
              <a:t> – человек, как правило, имеющий познания в информатике и </a:t>
            </a:r>
            <a:r>
              <a:rPr lang="ru-RU" sz="3600" dirty="0" smtClean="0"/>
              <a:t>ИИ, </a:t>
            </a:r>
            <a:r>
              <a:rPr lang="ru-RU" sz="3600" dirty="0"/>
              <a:t>знающий, как надо строить </a:t>
            </a:r>
            <a:r>
              <a:rPr lang="ru-RU" sz="3600" dirty="0" smtClean="0"/>
              <a:t>ЭС</a:t>
            </a:r>
          </a:p>
          <a:p>
            <a:pPr lvl="0"/>
            <a:r>
              <a:rPr lang="ru-RU" sz="3600" dirty="0" smtClean="0"/>
              <a:t>Инженер </a:t>
            </a:r>
            <a:r>
              <a:rPr lang="ru-RU" sz="3600" dirty="0"/>
              <a:t>знаний опрашивает экспертов, формализует знания, решает, каким образом они должны быть представлены в </a:t>
            </a:r>
            <a:r>
              <a:rPr lang="ru-RU" sz="3600" dirty="0" smtClean="0"/>
              <a:t>ЭС</a:t>
            </a: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045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Разработчики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pPr lvl="0"/>
            <a:r>
              <a:rPr lang="ru-RU" sz="3600" b="1" dirty="0"/>
              <a:t>Программист</a:t>
            </a:r>
            <a:r>
              <a:rPr lang="ru-RU" sz="3600" dirty="0"/>
              <a:t> </a:t>
            </a:r>
            <a:r>
              <a:rPr lang="ru-RU" sz="3600" dirty="0" smtClean="0"/>
              <a:t>– разрабатывает инструментальное средство, </a:t>
            </a:r>
            <a:r>
              <a:rPr lang="ru-RU" sz="3600" dirty="0"/>
              <a:t>содержащее </a:t>
            </a:r>
            <a:r>
              <a:rPr lang="ru-RU" sz="3600" dirty="0" smtClean="0"/>
              <a:t>все </a:t>
            </a:r>
            <a:r>
              <a:rPr lang="ru-RU" sz="3600" dirty="0"/>
              <a:t>основные компоненты </a:t>
            </a:r>
            <a:r>
              <a:rPr lang="ru-RU" sz="3600" dirty="0" smtClean="0"/>
              <a:t>ЭС, </a:t>
            </a:r>
            <a:r>
              <a:rPr lang="ru-RU" sz="3600" dirty="0"/>
              <a:t>и осуществляет его сопряжение с той средой, в которой оно будет использовано</a:t>
            </a: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889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Подходы к созданию</a:t>
            </a:r>
            <a:r>
              <a:rPr lang="ru-RU" b="1" dirty="0" smtClean="0"/>
              <a:t> ЭС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pPr lvl="0"/>
            <a:r>
              <a:rPr lang="ru-RU" sz="3600" dirty="0"/>
              <a:t>подход, базирующийся на поверхностных </a:t>
            </a:r>
            <a:r>
              <a:rPr lang="ru-RU" sz="3600" dirty="0" smtClean="0"/>
              <a:t>знаниях</a:t>
            </a:r>
            <a:endParaRPr lang="ru-RU" sz="3600" dirty="0"/>
          </a:p>
          <a:p>
            <a:pPr lvl="0"/>
            <a:r>
              <a:rPr lang="ru-RU" sz="3600" dirty="0"/>
              <a:t>структурный </a:t>
            </a:r>
            <a:r>
              <a:rPr lang="ru-RU" sz="3600" dirty="0" smtClean="0"/>
              <a:t>подход</a:t>
            </a:r>
            <a:endParaRPr lang="ru-RU" sz="3600" dirty="0"/>
          </a:p>
          <a:p>
            <a:pPr lvl="0"/>
            <a:r>
              <a:rPr lang="ru-RU" sz="3600" dirty="0"/>
              <a:t>подход, базирующийся на глубинных </a:t>
            </a:r>
            <a:r>
              <a:rPr lang="ru-RU" sz="3600" dirty="0" smtClean="0"/>
              <a:t>знаниях</a:t>
            </a:r>
            <a:endParaRPr lang="ru-RU" sz="3600" dirty="0"/>
          </a:p>
          <a:p>
            <a:r>
              <a:rPr lang="ru-RU" sz="3600" dirty="0"/>
              <a:t>смешанный подход, базирующийся на использовании поверхностных и глубинных знаний</a:t>
            </a:r>
            <a:endParaRPr lang="ru-RU" sz="36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549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Подход, базирующийся на поверхностных знаниях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62500" lnSpcReduction="20000"/>
          </a:bodyPr>
          <a:lstStyle/>
          <a:p>
            <a:r>
              <a:rPr lang="ru-RU" sz="3600" dirty="0" smtClean="0"/>
              <a:t>Применяется </a:t>
            </a:r>
            <a:r>
              <a:rPr lang="ru-RU" sz="3600" dirty="0"/>
              <a:t>к сложным задачам, которые не могут быть точно </a:t>
            </a:r>
            <a:r>
              <a:rPr lang="ru-RU" sz="3600" dirty="0" smtClean="0"/>
              <a:t>описаны</a:t>
            </a:r>
          </a:p>
          <a:p>
            <a:r>
              <a:rPr lang="ru-RU" sz="3600" dirty="0" smtClean="0"/>
              <a:t>Заключается </a:t>
            </a:r>
            <a:r>
              <a:rPr lang="ru-RU" sz="3600" dirty="0"/>
              <a:t>в получении от эксперта фрагментов </a:t>
            </a:r>
            <a:r>
              <a:rPr lang="ru-RU" sz="3600" dirty="0" smtClean="0"/>
              <a:t>знаний, </a:t>
            </a:r>
            <a:r>
              <a:rPr lang="ru-RU" sz="3600" dirty="0"/>
              <a:t>которые </a:t>
            </a:r>
            <a:r>
              <a:rPr lang="ru-RU" sz="3600" dirty="0" err="1"/>
              <a:t>релевантны</a:t>
            </a:r>
            <a:r>
              <a:rPr lang="ru-RU" sz="3600" dirty="0"/>
              <a:t> решаемой </a:t>
            </a:r>
            <a:r>
              <a:rPr lang="ru-RU" sz="3600" dirty="0" smtClean="0"/>
              <a:t>задаче</a:t>
            </a:r>
          </a:p>
          <a:p>
            <a:r>
              <a:rPr lang="ru-RU" sz="3600" dirty="0" smtClean="0"/>
              <a:t>В </a:t>
            </a:r>
            <a:r>
              <a:rPr lang="ru-RU" sz="3600" dirty="0"/>
              <a:t>качестве способа </a:t>
            </a:r>
            <a:r>
              <a:rPr lang="ru-RU" sz="3600" dirty="0" smtClean="0"/>
              <a:t>представления знаний используются правила</a:t>
            </a:r>
          </a:p>
          <a:p>
            <a:r>
              <a:rPr lang="ru-RU" sz="3600" dirty="0" smtClean="0"/>
              <a:t>Условие </a:t>
            </a:r>
            <a:r>
              <a:rPr lang="ru-RU" sz="3600" dirty="0"/>
              <a:t>каждого правила определяет образец некоторой ситуации, при соблюдении которой правило может быть </a:t>
            </a:r>
            <a:r>
              <a:rPr lang="ru-RU" sz="3600" dirty="0" smtClean="0"/>
              <a:t>выполнено</a:t>
            </a:r>
          </a:p>
          <a:p>
            <a:r>
              <a:rPr lang="ru-RU" sz="3600" dirty="0" smtClean="0"/>
              <a:t>Поиск </a:t>
            </a:r>
            <a:r>
              <a:rPr lang="ru-RU" sz="3600" dirty="0"/>
              <a:t>решения состоит в выполнении тех правил, образцы которых сопоставляются с текущими данными. </a:t>
            </a:r>
            <a:r>
              <a:rPr lang="ru-RU" sz="3600" dirty="0" smtClean="0"/>
              <a:t>Предполагается</a:t>
            </a:r>
            <a:r>
              <a:rPr lang="ru-RU" sz="3600" dirty="0"/>
              <a:t>, что в процессе поиска решения последовательность формируемых </a:t>
            </a:r>
            <a:r>
              <a:rPr lang="ru-RU" sz="3600" dirty="0" smtClean="0"/>
              <a:t>ситуаций </a:t>
            </a:r>
            <a:r>
              <a:rPr lang="ru-RU" sz="3600" dirty="0"/>
              <a:t>не оборвется до получения решения, т.е. не возникнет неизвестной ситуации, которая не сопоставится ни с одним </a:t>
            </a:r>
            <a:r>
              <a:rPr lang="ru-RU" sz="3600" dirty="0" smtClean="0"/>
              <a:t>правилом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455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Структурный подход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Структурный </a:t>
            </a:r>
            <a:r>
              <a:rPr lang="ru-RU" sz="2800" dirty="0"/>
              <a:t>подход к построению экспертных систем подобен структурному </a:t>
            </a:r>
            <a:r>
              <a:rPr lang="ru-RU" sz="2800" dirty="0" smtClean="0"/>
              <a:t>программированию</a:t>
            </a:r>
          </a:p>
          <a:p>
            <a:r>
              <a:rPr lang="ru-RU" sz="2800" dirty="0" smtClean="0"/>
              <a:t>Применительно </a:t>
            </a:r>
            <a:r>
              <a:rPr lang="ru-RU" sz="2800" dirty="0"/>
              <a:t>к </a:t>
            </a:r>
            <a:r>
              <a:rPr lang="ru-RU" sz="2800" dirty="0" smtClean="0"/>
              <a:t>ЭС не предполагается, </a:t>
            </a:r>
            <a:r>
              <a:rPr lang="ru-RU" sz="2800" dirty="0"/>
              <a:t>что структурирование должно довести задачу до алгоритма (как в традиционном программировании</a:t>
            </a:r>
            <a:r>
              <a:rPr lang="ru-RU" sz="2800" dirty="0" smtClean="0"/>
              <a:t>)</a:t>
            </a:r>
          </a:p>
          <a:p>
            <a:r>
              <a:rPr lang="ru-RU" sz="2800" dirty="0" smtClean="0"/>
              <a:t>Часть </a:t>
            </a:r>
            <a:r>
              <a:rPr lang="ru-RU" sz="2800" dirty="0"/>
              <a:t>задачи решается с помощью </a:t>
            </a:r>
            <a:r>
              <a:rPr lang="ru-RU" sz="2800" dirty="0" smtClean="0"/>
              <a:t>поиска</a:t>
            </a:r>
          </a:p>
          <a:p>
            <a:r>
              <a:rPr lang="ru-RU" sz="2800" dirty="0" smtClean="0"/>
              <a:t>Структурный </a:t>
            </a:r>
            <a:r>
              <a:rPr lang="ru-RU" sz="2800" dirty="0"/>
              <a:t>подход в различных приложениях целесообразно сочетать с поверхностным или </a:t>
            </a:r>
            <a:r>
              <a:rPr lang="ru-RU" sz="2800" dirty="0" smtClean="0"/>
              <a:t>глубинным</a:t>
            </a:r>
            <a:endParaRPr lang="ru-RU" sz="4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876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Глубинный </a:t>
            </a:r>
            <a:r>
              <a:rPr lang="ru-RU" b="1" dirty="0" smtClean="0"/>
              <a:t>подход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92500" lnSpcReduction="10000"/>
          </a:bodyPr>
          <a:lstStyle/>
          <a:p>
            <a:r>
              <a:rPr lang="ru-RU" sz="2800" dirty="0" smtClean="0"/>
              <a:t>В </a:t>
            </a:r>
            <a:r>
              <a:rPr lang="ru-RU" sz="2800" dirty="0"/>
              <a:t>глубинном подходе компетентность </a:t>
            </a:r>
            <a:r>
              <a:rPr lang="ru-RU" sz="2800" dirty="0" smtClean="0"/>
              <a:t>ЭС </a:t>
            </a:r>
            <a:r>
              <a:rPr lang="ru-RU" sz="2800" dirty="0"/>
              <a:t>базируется на модели той </a:t>
            </a:r>
            <a:r>
              <a:rPr lang="ru-RU" sz="2800" dirty="0" smtClean="0"/>
              <a:t>предметной области, </a:t>
            </a:r>
            <a:r>
              <a:rPr lang="ru-RU" sz="2800" dirty="0"/>
              <a:t>в которой эта </a:t>
            </a:r>
            <a:r>
              <a:rPr lang="ru-RU" sz="2800" dirty="0" smtClean="0"/>
              <a:t>ЭС </a:t>
            </a:r>
            <a:r>
              <a:rPr lang="ru-RU" sz="2800" dirty="0"/>
              <a:t>работает. Модель может быть определена различными способами (декларативно, процедурно</a:t>
            </a:r>
            <a:r>
              <a:rPr lang="ru-RU" sz="2800" dirty="0" smtClean="0"/>
              <a:t>)</a:t>
            </a:r>
          </a:p>
          <a:p>
            <a:r>
              <a:rPr lang="ru-RU" sz="2800" dirty="0" smtClean="0"/>
              <a:t>Глубинные ЭС </a:t>
            </a:r>
            <a:r>
              <a:rPr lang="ru-RU" sz="2800" dirty="0"/>
              <a:t>кроме возможностей поверхностных обладают способностью при возникновении неизвестной ситуации определить с помощью некоторых общих принципов, справедливых для области экспертизы, какие действия следует </a:t>
            </a:r>
            <a:r>
              <a:rPr lang="ru-RU" sz="2800" dirty="0" smtClean="0"/>
              <a:t>выполнить</a:t>
            </a:r>
            <a:endParaRPr lang="ru-RU" sz="2800" dirty="0"/>
          </a:p>
          <a:p>
            <a:r>
              <a:rPr lang="ru-RU" sz="2800" dirty="0"/>
              <a:t>Глубинный </a:t>
            </a:r>
            <a:r>
              <a:rPr lang="ru-RU" sz="2800" dirty="0" smtClean="0"/>
              <a:t>подход </a:t>
            </a:r>
            <a:r>
              <a:rPr lang="ru-RU" sz="2800" dirty="0"/>
              <a:t>требует явного описания структуры и взаимоотношений между различными </a:t>
            </a:r>
            <a:r>
              <a:rPr lang="ru-RU" sz="2800" dirty="0" smtClean="0"/>
              <a:t>сущностями предметной области</a:t>
            </a:r>
            <a:endParaRPr lang="ru-RU" sz="4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987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Смешанный </a:t>
            </a:r>
            <a:r>
              <a:rPr lang="ru-RU" b="1" dirty="0" smtClean="0"/>
              <a:t>подход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r>
              <a:rPr lang="ru-RU" dirty="0" smtClean="0"/>
              <a:t>Смешанный </a:t>
            </a:r>
            <a:r>
              <a:rPr lang="ru-RU" dirty="0"/>
              <a:t>подход в общем случае может сочетать поверхностный, структурный и глубинный </a:t>
            </a:r>
            <a:r>
              <a:rPr lang="ru-RU" dirty="0" smtClean="0"/>
              <a:t>подходы</a:t>
            </a:r>
          </a:p>
          <a:p>
            <a:r>
              <a:rPr lang="ru-RU" dirty="0" smtClean="0"/>
              <a:t>Поверхностный </a:t>
            </a:r>
            <a:r>
              <a:rPr lang="ru-RU" dirty="0"/>
              <a:t>подход может быть использован для поиска адекватных знаний, которые затем используются некоторой глубинной </a:t>
            </a:r>
            <a:r>
              <a:rPr lang="ru-RU" dirty="0" smtClean="0"/>
              <a:t>моделью предметной области</a:t>
            </a:r>
            <a:endParaRPr lang="ru-RU" sz="4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352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Методика разработки ЭС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76</a:t>
            </a:fld>
            <a:endParaRPr lang="ru-RU" dirty="0"/>
          </a:p>
        </p:txBody>
      </p:sp>
      <p:pic>
        <p:nvPicPr>
          <p:cNvPr id="6" name="Рисунок 5" descr="Методика (этапы) разработки ЭС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7848872" cy="49685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421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Этап 1. Идентификация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Определяются задачи, которые подлежат решению </a:t>
            </a:r>
          </a:p>
          <a:p>
            <a:r>
              <a:rPr lang="ru-RU" dirty="0" smtClean="0"/>
              <a:t>Планируется </a:t>
            </a:r>
            <a:r>
              <a:rPr lang="ru-RU" dirty="0"/>
              <a:t>ход разработки прототипа </a:t>
            </a:r>
            <a:r>
              <a:rPr lang="ru-RU" dirty="0" smtClean="0"/>
              <a:t>ЭС, </a:t>
            </a:r>
            <a:r>
              <a:rPr lang="ru-RU" dirty="0"/>
              <a:t>определяются: </a:t>
            </a:r>
            <a:endParaRPr lang="ru-RU" dirty="0" smtClean="0"/>
          </a:p>
          <a:p>
            <a:pPr lvl="1"/>
            <a:r>
              <a:rPr lang="ru-RU" dirty="0" smtClean="0"/>
              <a:t>нужные </a:t>
            </a:r>
            <a:r>
              <a:rPr lang="ru-RU" dirty="0"/>
              <a:t>ресурсы (время, люди, техника и т.д.), </a:t>
            </a:r>
            <a:endParaRPr lang="ru-RU" dirty="0" smtClean="0"/>
          </a:p>
          <a:p>
            <a:pPr lvl="1"/>
            <a:r>
              <a:rPr lang="ru-RU" dirty="0" smtClean="0"/>
              <a:t>источники </a:t>
            </a:r>
            <a:r>
              <a:rPr lang="ru-RU" dirty="0"/>
              <a:t>знаний (книги, специалисты, методики и др.), </a:t>
            </a:r>
            <a:endParaRPr lang="ru-RU" dirty="0" smtClean="0"/>
          </a:p>
          <a:p>
            <a:pPr lvl="1"/>
            <a:r>
              <a:rPr lang="ru-RU" dirty="0" smtClean="0"/>
              <a:t>имеющиеся </a:t>
            </a:r>
            <a:r>
              <a:rPr lang="ru-RU" dirty="0"/>
              <a:t>аналогичные экспертные системы, </a:t>
            </a:r>
            <a:endParaRPr lang="ru-RU" dirty="0" smtClean="0"/>
          </a:p>
          <a:p>
            <a:pPr lvl="1"/>
            <a:r>
              <a:rPr lang="ru-RU" dirty="0" smtClean="0"/>
              <a:t>цели </a:t>
            </a:r>
            <a:r>
              <a:rPr lang="ru-RU" dirty="0"/>
              <a:t>(распространение опыта, автоматизация рутинных действий и др.), </a:t>
            </a:r>
            <a:endParaRPr lang="ru-RU" dirty="0" smtClean="0"/>
          </a:p>
          <a:p>
            <a:pPr lvl="1"/>
            <a:r>
              <a:rPr lang="ru-RU" dirty="0" smtClean="0"/>
              <a:t>классы </a:t>
            </a:r>
            <a:r>
              <a:rPr lang="ru-RU" dirty="0"/>
              <a:t>решаемых задач и т.д. </a:t>
            </a:r>
            <a:endParaRPr lang="ru-RU" dirty="0" smtClean="0"/>
          </a:p>
          <a:p>
            <a:r>
              <a:rPr lang="ru-RU" dirty="0" smtClean="0"/>
              <a:t>Этап </a:t>
            </a:r>
            <a:r>
              <a:rPr lang="ru-RU" dirty="0"/>
              <a:t>идентификации – это знакомство и обучение коллектива </a:t>
            </a:r>
            <a:r>
              <a:rPr lang="ru-RU" dirty="0" smtClean="0"/>
              <a:t>разработчиков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5664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Этап 1. Идентификация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На этом же этапе разработки ЭС проходит извлечение знаний. </a:t>
            </a:r>
          </a:p>
          <a:p>
            <a:r>
              <a:rPr lang="ru-RU" dirty="0" smtClean="0"/>
              <a:t>Инженер </a:t>
            </a:r>
            <a:r>
              <a:rPr lang="ru-RU" dirty="0"/>
              <a:t>по знаниям помогает эксперту выявить и структурировать знания, необходимые для работы </a:t>
            </a:r>
            <a:r>
              <a:rPr lang="ru-RU" dirty="0" smtClean="0"/>
              <a:t>ЭС:</a:t>
            </a:r>
          </a:p>
          <a:p>
            <a:pPr lvl="1"/>
            <a:r>
              <a:rPr lang="ru-RU" dirty="0" smtClean="0"/>
              <a:t>анализ </a:t>
            </a:r>
            <a:r>
              <a:rPr lang="ru-RU" dirty="0"/>
              <a:t>текстов, </a:t>
            </a:r>
            <a:endParaRPr lang="ru-RU" dirty="0" smtClean="0"/>
          </a:p>
          <a:p>
            <a:pPr lvl="1"/>
            <a:r>
              <a:rPr lang="ru-RU" dirty="0" smtClean="0"/>
              <a:t>диалоги</a:t>
            </a:r>
            <a:r>
              <a:rPr lang="ru-RU" dirty="0"/>
              <a:t>, </a:t>
            </a:r>
            <a:r>
              <a:rPr lang="ru-RU" dirty="0" smtClean="0"/>
              <a:t>экспертные </a:t>
            </a:r>
            <a:r>
              <a:rPr lang="ru-RU" dirty="0"/>
              <a:t>игры, </a:t>
            </a:r>
            <a:endParaRPr lang="ru-RU" dirty="0" smtClean="0"/>
          </a:p>
          <a:p>
            <a:pPr lvl="1"/>
            <a:r>
              <a:rPr lang="ru-RU" dirty="0" smtClean="0"/>
              <a:t>лекции</a:t>
            </a:r>
            <a:r>
              <a:rPr lang="ru-RU" dirty="0"/>
              <a:t>, дискуссии, интервью, наблюдение и </a:t>
            </a:r>
            <a:r>
              <a:rPr lang="ru-RU" dirty="0" smtClean="0"/>
              <a:t>другие</a:t>
            </a:r>
          </a:p>
          <a:p>
            <a:r>
              <a:rPr lang="ru-RU" dirty="0" smtClean="0"/>
              <a:t>Извлечение </a:t>
            </a:r>
            <a:r>
              <a:rPr lang="ru-RU" dirty="0"/>
              <a:t>знаний – это получение инженером по знаниям более полного представления о предметной области и методах принятия решения в ней.</a:t>
            </a:r>
            <a:endParaRPr lang="ru-RU" sz="4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238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Этап 2. Концептуализация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Выявляется структура полученных знаний о предметной области. Определяются: </a:t>
            </a:r>
            <a:endParaRPr lang="ru-RU" dirty="0" smtClean="0"/>
          </a:p>
          <a:p>
            <a:pPr lvl="1"/>
            <a:r>
              <a:rPr lang="ru-RU" dirty="0" smtClean="0"/>
              <a:t>терминология</a:t>
            </a:r>
            <a:r>
              <a:rPr lang="ru-RU" dirty="0"/>
              <a:t>, </a:t>
            </a:r>
            <a:endParaRPr lang="ru-RU" dirty="0" smtClean="0"/>
          </a:p>
          <a:p>
            <a:pPr lvl="1"/>
            <a:r>
              <a:rPr lang="ru-RU" dirty="0" smtClean="0"/>
              <a:t>перечень </a:t>
            </a:r>
            <a:r>
              <a:rPr lang="ru-RU" dirty="0"/>
              <a:t>главных понятий и их атрибутов, </a:t>
            </a:r>
            <a:endParaRPr lang="ru-RU" dirty="0" smtClean="0"/>
          </a:p>
          <a:p>
            <a:pPr lvl="1"/>
            <a:r>
              <a:rPr lang="ru-RU" dirty="0" smtClean="0"/>
              <a:t>структура </a:t>
            </a:r>
            <a:r>
              <a:rPr lang="ru-RU" dirty="0"/>
              <a:t>входной и выходной информации</a:t>
            </a:r>
            <a:r>
              <a:rPr lang="ru-RU" dirty="0" smtClean="0"/>
              <a:t>,</a:t>
            </a:r>
          </a:p>
          <a:p>
            <a:pPr lvl="1"/>
            <a:r>
              <a:rPr lang="ru-RU" dirty="0" smtClean="0"/>
              <a:t>стратегия </a:t>
            </a:r>
            <a:r>
              <a:rPr lang="ru-RU" dirty="0"/>
              <a:t>принятия решений и т.д. </a:t>
            </a:r>
            <a:endParaRPr lang="ru-RU" dirty="0" smtClean="0"/>
          </a:p>
          <a:p>
            <a:r>
              <a:rPr lang="ru-RU" dirty="0" smtClean="0"/>
              <a:t>Концептуализация </a:t>
            </a:r>
            <a:r>
              <a:rPr lang="ru-RU" dirty="0"/>
              <a:t>– это разработка неформального описания знаний о предметной области в виде графа, таблицы, диаграммы либо текста, которое отражает главные концепции и взаимосвязи между понятиями предметной области.</a:t>
            </a:r>
            <a:endParaRPr lang="ru-RU" sz="4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620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Этап 3. Формализация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Все </a:t>
            </a:r>
            <a:r>
              <a:rPr lang="ru-RU" dirty="0"/>
              <a:t>ключевые понятия и отношения, выявленные на этапе концептуализации, выражаются на некотором формальном языке, предложенном (выбранном) инженером по </a:t>
            </a:r>
            <a:r>
              <a:rPr lang="ru-RU" dirty="0" smtClean="0"/>
              <a:t>знаниям</a:t>
            </a:r>
          </a:p>
          <a:p>
            <a:r>
              <a:rPr lang="ru-RU" dirty="0" smtClean="0"/>
              <a:t>Определяется, </a:t>
            </a:r>
            <a:r>
              <a:rPr lang="ru-RU" dirty="0"/>
              <a:t>подходят ли имеющиеся инструментальные средства для решения рассматриваемой проблемы или необходим выбор другого инструментария, или требуются оригинальные </a:t>
            </a:r>
            <a:r>
              <a:rPr lang="ru-RU" dirty="0" smtClean="0"/>
              <a:t>разработки</a:t>
            </a:r>
            <a:endParaRPr lang="ru-RU" sz="4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529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Этап 4. </a:t>
            </a:r>
            <a:r>
              <a:rPr lang="ru-RU" b="1" dirty="0" smtClean="0"/>
              <a:t>Выполнение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Создается </a:t>
            </a:r>
            <a:r>
              <a:rPr lang="ru-RU" dirty="0"/>
              <a:t>прототип экспертной системы, включающий базу знаний и другие </a:t>
            </a:r>
            <a:r>
              <a:rPr lang="ru-RU" dirty="0" smtClean="0"/>
              <a:t>подсистемы</a:t>
            </a:r>
          </a:p>
          <a:p>
            <a:r>
              <a:rPr lang="ru-RU" dirty="0" smtClean="0"/>
              <a:t>Применяются: </a:t>
            </a:r>
          </a:p>
          <a:p>
            <a:pPr lvl="1"/>
            <a:r>
              <a:rPr lang="ru-RU" dirty="0" smtClean="0"/>
              <a:t>программирование </a:t>
            </a:r>
            <a:r>
              <a:rPr lang="ru-RU" dirty="0"/>
              <a:t>на обычных языках (Паскаль, Си и др.), </a:t>
            </a:r>
            <a:endParaRPr lang="ru-RU" dirty="0" smtClean="0"/>
          </a:p>
          <a:p>
            <a:pPr lvl="1"/>
            <a:r>
              <a:rPr lang="ru-RU" dirty="0" smtClean="0"/>
              <a:t>программирование </a:t>
            </a:r>
            <a:r>
              <a:rPr lang="ru-RU" dirty="0"/>
              <a:t>на специализированных языках, применяемых в задачах искусственного интеллекта (LISP, FRL, </a:t>
            </a:r>
            <a:r>
              <a:rPr lang="ru-RU" dirty="0" err="1"/>
              <a:t>SmallTalk</a:t>
            </a:r>
            <a:r>
              <a:rPr lang="ru-RU" dirty="0"/>
              <a:t> и др.) и др. </a:t>
            </a:r>
            <a:endParaRPr lang="ru-RU" dirty="0" smtClean="0"/>
          </a:p>
          <a:p>
            <a:r>
              <a:rPr lang="ru-RU" dirty="0" smtClean="0"/>
              <a:t>Этот </a:t>
            </a:r>
            <a:r>
              <a:rPr lang="ru-RU" dirty="0"/>
              <a:t>этап разработки </a:t>
            </a:r>
            <a:r>
              <a:rPr lang="ru-RU" dirty="0" smtClean="0"/>
              <a:t>ЭС является </a:t>
            </a:r>
            <a:r>
              <a:rPr lang="ru-RU" dirty="0"/>
              <a:t>ключевым, так как здесь происходит создание программного комплекса, демонстрирующего жизнеспособность подхода в </a:t>
            </a:r>
            <a:r>
              <a:rPr lang="ru-RU" dirty="0" smtClean="0"/>
              <a:t>целом</a:t>
            </a:r>
            <a:endParaRPr lang="ru-RU" sz="4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908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Этап 5. Тестирование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Прототип </a:t>
            </a:r>
            <a:r>
              <a:rPr lang="ru-RU" dirty="0"/>
              <a:t>проверяется на удобство и адекватность интерфейсов ввода-вывода, эффективность стратегии управления, качество проверочных примеров, корректность базы </a:t>
            </a:r>
            <a:r>
              <a:rPr lang="ru-RU" dirty="0" smtClean="0"/>
              <a:t>знаний </a:t>
            </a:r>
          </a:p>
          <a:p>
            <a:r>
              <a:rPr lang="ru-RU" dirty="0" smtClean="0"/>
              <a:t>Тестирование </a:t>
            </a:r>
            <a:r>
              <a:rPr lang="ru-RU" dirty="0"/>
              <a:t>– это выявление ошибок в выбранном подходе, выявление ошибок в реализации прототипа, а также выработка рекомендаций по доводке системы до промышленного </a:t>
            </a:r>
            <a:r>
              <a:rPr lang="ru-RU" dirty="0" smtClean="0"/>
              <a:t>варианта</a:t>
            </a:r>
            <a:endParaRPr lang="ru-RU" sz="4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796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Этап 6. Опытная эксплуатация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412776"/>
            <a:ext cx="8435280" cy="4968552"/>
          </a:xfrm>
        </p:spPr>
        <p:txBody>
          <a:bodyPr>
            <a:normAutofit/>
          </a:bodyPr>
          <a:lstStyle/>
          <a:p>
            <a:r>
              <a:rPr lang="ru-RU" dirty="0" smtClean="0"/>
              <a:t>Проверяется </a:t>
            </a:r>
            <a:r>
              <a:rPr lang="ru-RU" dirty="0"/>
              <a:t>пригодность </a:t>
            </a:r>
            <a:r>
              <a:rPr lang="ru-RU" dirty="0" smtClean="0"/>
              <a:t>ЭС </a:t>
            </a:r>
            <a:r>
              <a:rPr lang="ru-RU" dirty="0"/>
              <a:t>для конечных </a:t>
            </a:r>
            <a:r>
              <a:rPr lang="ru-RU" dirty="0" smtClean="0"/>
              <a:t>пользователей</a:t>
            </a:r>
          </a:p>
          <a:p>
            <a:endParaRPr lang="ru-RU" dirty="0" smtClean="0"/>
          </a:p>
          <a:p>
            <a:r>
              <a:rPr lang="ru-RU" dirty="0" smtClean="0"/>
              <a:t>По </a:t>
            </a:r>
            <a:r>
              <a:rPr lang="ru-RU" dirty="0"/>
              <a:t>результатам этого этапа может потребоваться существенная модификация </a:t>
            </a:r>
            <a:r>
              <a:rPr lang="ru-RU" dirty="0" smtClean="0"/>
              <a:t>ЭС</a:t>
            </a:r>
            <a:endParaRPr lang="ru-RU" sz="4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902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Тезаурусы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Под </a:t>
            </a:r>
            <a:r>
              <a:rPr lang="ru-RU" b="1" dirty="0"/>
              <a:t>тезаурусом</a:t>
            </a:r>
            <a:r>
              <a:rPr lang="ru-RU" dirty="0"/>
              <a:t> понимается сложный компонент словарного типа, в котором все значения словаря связаны между собой семантическими отношениями, отражающими основные соотношения понятий в </a:t>
            </a:r>
            <a:r>
              <a:rPr lang="ru-RU" dirty="0" smtClean="0"/>
              <a:t>предметной области знаний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Тезаурусы остаются до настоящего времени наиболее принятой формой описания знаний предметной </a:t>
            </a:r>
            <a:r>
              <a:rPr lang="ru-RU" dirty="0" smtClean="0"/>
              <a:t>области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993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Тезаурусы. История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 smtClean="0"/>
              <a:t>Начало </a:t>
            </a:r>
            <a:r>
              <a:rPr lang="ru-RU" dirty="0"/>
              <a:t>тезаурусам как понятийным словарям положил </a:t>
            </a:r>
            <a:r>
              <a:rPr lang="ru-RU" dirty="0" err="1" smtClean="0"/>
              <a:t>Роджет</a:t>
            </a:r>
            <a:r>
              <a:rPr lang="ru-RU" dirty="0" smtClean="0"/>
              <a:t> (1852), </a:t>
            </a:r>
            <a:r>
              <a:rPr lang="ru-RU" dirty="0"/>
              <a:t>систематизировавший лексику английского языка по </a:t>
            </a:r>
            <a:r>
              <a:rPr lang="ru-RU" dirty="0" smtClean="0"/>
              <a:t>группам</a:t>
            </a:r>
          </a:p>
          <a:p>
            <a:pPr marL="0" indent="0">
              <a:buNone/>
            </a:pPr>
            <a:r>
              <a:rPr lang="ru-RU" dirty="0" smtClean="0"/>
              <a:t>Каждая </a:t>
            </a:r>
            <a:r>
              <a:rPr lang="ru-RU" dirty="0"/>
              <a:t>группа представлена именем понятия </a:t>
            </a:r>
            <a:r>
              <a:rPr lang="ru-RU" dirty="0" smtClean="0"/>
              <a:t>(обычные слова языка, </a:t>
            </a:r>
            <a:r>
              <a:rPr lang="ru-RU" dirty="0"/>
              <a:t>расположенные в алфавитном порядке, </a:t>
            </a:r>
            <a:r>
              <a:rPr lang="ru-RU" dirty="0" smtClean="0"/>
              <a:t>например, </a:t>
            </a:r>
            <a:r>
              <a:rPr lang="ru-RU" dirty="0"/>
              <a:t>AFFIRMATION ... AGENCY...), далее идут его синонимы по частям речи (существительные, глаголы, прилагательные, наречия), антонимы и затем списки родственных слов </a:t>
            </a:r>
            <a:r>
              <a:rPr lang="ru-RU" dirty="0" smtClean="0"/>
              <a:t>(некоторые </a:t>
            </a:r>
            <a:r>
              <a:rPr lang="ru-RU" dirty="0"/>
              <a:t>представляют собой отсылки к именам других категорий, в словарной статье которых список «дальних родственников» может продолжаться, например, от AGENCY... </a:t>
            </a:r>
            <a:r>
              <a:rPr lang="ru-RU" dirty="0" err="1"/>
              <a:t>see</a:t>
            </a:r>
            <a:r>
              <a:rPr lang="ru-RU" dirty="0"/>
              <a:t> BUSINESS</a:t>
            </a:r>
            <a:r>
              <a:rPr lang="ru-RU" dirty="0" smtClean="0"/>
              <a:t>)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351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Тезаурусы. Основные отношения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ru-RU" b="1" dirty="0"/>
              <a:t>синонимия</a:t>
            </a:r>
            <a:r>
              <a:rPr lang="ru-RU" dirty="0"/>
              <a:t> – связь между словами одной части речи, различными по звучанию и написанию, но имеющими одинаковое или очень близкое лексическое значение, например: кавалерия – конница, смелый – </a:t>
            </a:r>
            <a:r>
              <a:rPr lang="ru-RU" dirty="0" smtClean="0"/>
              <a:t>храбрый</a:t>
            </a:r>
            <a:endParaRPr lang="ru-RU" dirty="0"/>
          </a:p>
          <a:p>
            <a:pPr lvl="0"/>
            <a:r>
              <a:rPr lang="ru-RU" b="1" dirty="0"/>
              <a:t>антонимия</a:t>
            </a:r>
            <a:r>
              <a:rPr lang="ru-RU" dirty="0"/>
              <a:t> – связь между словами одной части речи, различными по звучанию, имеющими прямо противоположные значения: правда – ложь, добрый – </a:t>
            </a:r>
            <a:r>
              <a:rPr lang="ru-RU" dirty="0" smtClean="0"/>
              <a:t>злой</a:t>
            </a:r>
            <a:endParaRPr lang="ru-RU" dirty="0"/>
          </a:p>
          <a:p>
            <a:r>
              <a:rPr lang="ru-RU" b="1" dirty="0" err="1"/>
              <a:t>меронимия</a:t>
            </a:r>
            <a:r>
              <a:rPr lang="ru-RU" b="1" dirty="0"/>
              <a:t>/</a:t>
            </a:r>
            <a:r>
              <a:rPr lang="ru-RU" b="1" dirty="0" err="1"/>
              <a:t>партонимия</a:t>
            </a:r>
            <a:r>
              <a:rPr lang="ru-RU" dirty="0"/>
              <a:t> – отношение «ЧАСТЬ-ЦЕЛОЕ». Внутри этого отношения выделяются отношения «быть элементом» и «быть сделанным из (частей)». Отношение определено только для </a:t>
            </a:r>
            <a:r>
              <a:rPr lang="ru-RU" dirty="0" smtClean="0"/>
              <a:t>существительных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406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Тезаурусы. Основные отношения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ru-RU" dirty="0" err="1" smtClean="0"/>
              <a:t>гипонимия</a:t>
            </a:r>
            <a:r>
              <a:rPr lang="ru-RU" dirty="0" smtClean="0"/>
              <a:t>/</a:t>
            </a:r>
            <a:r>
              <a:rPr lang="ru-RU" dirty="0" err="1" smtClean="0"/>
              <a:t>гиперонимия</a:t>
            </a:r>
            <a:r>
              <a:rPr lang="ru-RU" dirty="0"/>
              <a:t>. </a:t>
            </a:r>
            <a:r>
              <a:rPr lang="ru-RU" b="1" dirty="0" err="1"/>
              <a:t>Гипероним</a:t>
            </a:r>
            <a:r>
              <a:rPr lang="ru-RU" dirty="0"/>
              <a:t> – слово с более широким значением, выражающее общее, родовое понятие, название класса (множества) предметов (свойств, признаков</a:t>
            </a:r>
            <a:r>
              <a:rPr lang="ru-RU" dirty="0" smtClean="0"/>
              <a:t>)</a:t>
            </a:r>
          </a:p>
          <a:p>
            <a:pPr lvl="0"/>
            <a:r>
              <a:rPr lang="ru-RU" b="1" dirty="0" smtClean="0"/>
              <a:t>Гипоним</a:t>
            </a:r>
            <a:r>
              <a:rPr lang="ru-RU" dirty="0" smtClean="0"/>
              <a:t> </a:t>
            </a:r>
            <a:r>
              <a:rPr lang="ru-RU" dirty="0"/>
              <a:t>– слово с более узким значением, называющее предмет (свойство, признак) как элемент класса (множества). Эти отношения транзитивны и несимметричны. Гипоним наследует все свойства </a:t>
            </a:r>
            <a:r>
              <a:rPr lang="ru-RU" dirty="0" err="1"/>
              <a:t>гиперонима</a:t>
            </a:r>
            <a:r>
              <a:rPr lang="ru-RU" dirty="0"/>
              <a:t>. Являются центральными отношениями для описания </a:t>
            </a:r>
            <a:r>
              <a:rPr lang="ru-RU" dirty="0" smtClean="0"/>
              <a:t>существительных</a:t>
            </a:r>
            <a:endParaRPr lang="ru-RU" dirty="0"/>
          </a:p>
          <a:p>
            <a:pPr lvl="0"/>
            <a:r>
              <a:rPr lang="ru-RU" dirty="0" smtClean="0"/>
              <a:t>следствие </a:t>
            </a:r>
            <a:r>
              <a:rPr lang="ru-RU" dirty="0"/>
              <a:t>(это отношение связывает между собой глаголы</a:t>
            </a:r>
            <a:r>
              <a:rPr lang="ru-RU" dirty="0" smtClean="0"/>
              <a:t>)</a:t>
            </a:r>
            <a:endParaRPr lang="ru-RU" dirty="0"/>
          </a:p>
          <a:p>
            <a:pPr lvl="0"/>
            <a:r>
              <a:rPr lang="ru-RU" dirty="0"/>
              <a:t>причина (также определено для глаголов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227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Т. Дополнительные отношения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lvl="0"/>
            <a:r>
              <a:rPr lang="ru-RU" dirty="0" smtClean="0"/>
              <a:t>дизъюнкция / конъюнкция отношений</a:t>
            </a:r>
          </a:p>
          <a:p>
            <a:pPr lvl="0"/>
            <a:r>
              <a:rPr lang="ru-RU" dirty="0" smtClean="0"/>
              <a:t>если </a:t>
            </a:r>
            <a:r>
              <a:rPr lang="ru-RU" dirty="0"/>
              <a:t>некоторое понятие в </a:t>
            </a:r>
            <a:r>
              <a:rPr lang="ru-RU" dirty="0" smtClean="0"/>
              <a:t>тезаурусе </a:t>
            </a:r>
            <a:r>
              <a:rPr lang="ru-RU" dirty="0"/>
              <a:t>имеет несколько одноименных отношений, то они могут быть </a:t>
            </a:r>
            <a:r>
              <a:rPr lang="ru-RU" b="1" dirty="0"/>
              <a:t>дизъюнктивными</a:t>
            </a:r>
            <a:r>
              <a:rPr lang="ru-RU" dirty="0"/>
              <a:t>, </a:t>
            </a:r>
            <a:r>
              <a:rPr lang="ru-RU" dirty="0" smtClean="0"/>
              <a:t>т.е</a:t>
            </a:r>
            <a:r>
              <a:rPr lang="ru-RU" dirty="0"/>
              <a:t>. реально реализуется одно из этих отношений, или </a:t>
            </a:r>
            <a:r>
              <a:rPr lang="ru-RU" b="1" dirty="0"/>
              <a:t>конъюнктивными</a:t>
            </a:r>
            <a:r>
              <a:rPr lang="ru-RU" dirty="0"/>
              <a:t>, </a:t>
            </a:r>
            <a:r>
              <a:rPr lang="ru-RU" dirty="0" smtClean="0"/>
              <a:t>т.е</a:t>
            </a:r>
            <a:r>
              <a:rPr lang="ru-RU" dirty="0"/>
              <a:t>. для понятия действительны все эти отношения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303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Тезаурусы. Пример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r>
              <a:rPr lang="ru-RU" dirty="0"/>
              <a:t>Изба – деревянный крестьянский дом</a:t>
            </a:r>
            <a:br>
              <a:rPr lang="ru-RU" dirty="0"/>
            </a:br>
            <a:r>
              <a:rPr lang="ru-RU" dirty="0"/>
              <a:t>   [</a:t>
            </a:r>
            <a:r>
              <a:rPr lang="ru-RU" dirty="0" err="1"/>
              <a:t>гипероним</a:t>
            </a:r>
            <a:r>
              <a:rPr lang="ru-RU" dirty="0"/>
              <a:t>]: жилое здание</a:t>
            </a:r>
            <a:br>
              <a:rPr lang="ru-RU" dirty="0"/>
            </a:br>
            <a:r>
              <a:rPr lang="ru-RU" dirty="0"/>
              <a:t>   [</a:t>
            </a:r>
            <a:r>
              <a:rPr lang="ru-RU" dirty="0" err="1"/>
              <a:t>мероним</a:t>
            </a:r>
            <a:r>
              <a:rPr lang="ru-RU" dirty="0"/>
              <a:t>]: сельский населенный пункт</a:t>
            </a:r>
            <a:br>
              <a:rPr lang="ru-RU" dirty="0"/>
            </a:br>
            <a:r>
              <a:rPr lang="ru-RU" dirty="0"/>
              <a:t>   [синоним]: дом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385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Тезаурусы. Назначение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lnSpcReduction="10000"/>
          </a:bodyPr>
          <a:lstStyle/>
          <a:p>
            <a:pPr lvl="0"/>
            <a:r>
              <a:rPr lang="ru-RU" dirty="0"/>
              <a:t>источник специальных знаний в </a:t>
            </a:r>
            <a:r>
              <a:rPr lang="ru-RU" dirty="0" smtClean="0"/>
              <a:t>предметной </a:t>
            </a:r>
            <a:r>
              <a:rPr lang="ru-RU" dirty="0"/>
              <a:t>области, способ описания и упорядочения терминологии предметной </a:t>
            </a:r>
            <a:r>
              <a:rPr lang="ru-RU" dirty="0" smtClean="0"/>
              <a:t>области</a:t>
            </a:r>
            <a:endParaRPr lang="ru-RU" dirty="0"/>
          </a:p>
          <a:p>
            <a:pPr lvl="0"/>
            <a:r>
              <a:rPr lang="ru-RU" dirty="0"/>
              <a:t>инструмент поиска в информационно-поисковых </a:t>
            </a:r>
            <a:r>
              <a:rPr lang="ru-RU" dirty="0" smtClean="0"/>
              <a:t>системах</a:t>
            </a:r>
            <a:endParaRPr lang="ru-RU" dirty="0"/>
          </a:p>
          <a:p>
            <a:pPr lvl="0"/>
            <a:r>
              <a:rPr lang="ru-RU" dirty="0"/>
              <a:t>инструмент ручного индексирования документов в информационно-поисковых системах </a:t>
            </a:r>
            <a:r>
              <a:rPr lang="ru-RU" dirty="0" smtClean="0"/>
              <a:t>(контролирующий </a:t>
            </a:r>
            <a:r>
              <a:rPr lang="ru-RU" dirty="0"/>
              <a:t>словарь</a:t>
            </a:r>
            <a:r>
              <a:rPr lang="ru-RU" dirty="0" smtClean="0"/>
              <a:t>)</a:t>
            </a:r>
            <a:endParaRPr lang="ru-RU" dirty="0"/>
          </a:p>
          <a:p>
            <a:pPr lvl="0"/>
            <a:r>
              <a:rPr lang="ru-RU" dirty="0"/>
              <a:t>инструмент автоматического индексирования </a:t>
            </a:r>
            <a:r>
              <a:rPr lang="ru-RU" dirty="0" smtClean="0"/>
              <a:t>текстов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90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502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Тезаурусы. Задачи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обеспечение многоязычного информационного </a:t>
            </a:r>
            <a:r>
              <a:rPr lang="ru-RU" dirty="0" smtClean="0"/>
              <a:t>поиска</a:t>
            </a:r>
            <a:endParaRPr lang="ru-RU" dirty="0"/>
          </a:p>
          <a:p>
            <a:pPr lvl="0"/>
            <a:r>
              <a:rPr lang="ru-RU" dirty="0"/>
              <a:t>увеличение полноты информационного </a:t>
            </a:r>
            <a:r>
              <a:rPr lang="ru-RU" dirty="0" smtClean="0"/>
              <a:t>поиска</a:t>
            </a:r>
            <a:endParaRPr lang="ru-RU" dirty="0"/>
          </a:p>
          <a:p>
            <a:pPr lvl="0"/>
            <a:r>
              <a:rPr lang="ru-RU" dirty="0"/>
              <a:t>формулирование запроса на естественном </a:t>
            </a:r>
            <a:r>
              <a:rPr lang="ru-RU" dirty="0" smtClean="0"/>
              <a:t>языке</a:t>
            </a:r>
            <a:endParaRPr lang="ru-RU" dirty="0"/>
          </a:p>
          <a:p>
            <a:pPr lvl="0"/>
            <a:r>
              <a:rPr lang="ru-RU" dirty="0"/>
              <a:t>семантическое индексирование </a:t>
            </a:r>
            <a:r>
              <a:rPr lang="ru-RU" dirty="0" smtClean="0"/>
              <a:t>документов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91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945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Тезаурусы.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Тезаурус английского языка </a:t>
            </a:r>
            <a:r>
              <a:rPr lang="ru-RU" b="1" dirty="0" err="1"/>
              <a:t>WordNet</a:t>
            </a:r>
            <a:r>
              <a:rPr lang="ru-RU" dirty="0"/>
              <a:t> </a:t>
            </a:r>
            <a:r>
              <a:rPr lang="ru-RU" dirty="0" smtClean="0"/>
              <a:t>(1990). Используется в различных сферах </a:t>
            </a:r>
            <a:r>
              <a:rPr lang="ru-RU" dirty="0"/>
              <a:t>автоматической обработки </a:t>
            </a:r>
            <a:r>
              <a:rPr lang="ru-RU" dirty="0" smtClean="0"/>
              <a:t>текстов</a:t>
            </a:r>
          </a:p>
          <a:p>
            <a:pPr lvl="0"/>
            <a:r>
              <a:rPr lang="ru-RU" b="1" dirty="0" err="1" smtClean="0"/>
              <a:t>WordNet</a:t>
            </a:r>
            <a:r>
              <a:rPr lang="ru-RU" dirty="0" smtClean="0"/>
              <a:t> </a:t>
            </a:r>
            <a:r>
              <a:rPr lang="ru-RU" dirty="0"/>
              <a:t>охватывает </a:t>
            </a:r>
            <a:r>
              <a:rPr lang="ru-RU" dirty="0" smtClean="0"/>
              <a:t>несколько сотен </a:t>
            </a:r>
            <a:r>
              <a:rPr lang="ru-RU" dirty="0"/>
              <a:t>тыс. различных </a:t>
            </a:r>
            <a:r>
              <a:rPr lang="ru-RU" dirty="0" smtClean="0"/>
              <a:t>терминов </a:t>
            </a:r>
            <a:r>
              <a:rPr lang="ru-RU" dirty="0"/>
              <a:t>(из них почти половина – словосочетания), организованных в 70 000 </a:t>
            </a:r>
            <a:r>
              <a:rPr lang="ru-RU" dirty="0" smtClean="0"/>
              <a:t>понятий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92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838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Тезаурусы. Примеры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b="1" dirty="0" err="1"/>
              <a:t>EuroWordNet</a:t>
            </a:r>
            <a:r>
              <a:rPr lang="ru-RU" dirty="0"/>
              <a:t>. </a:t>
            </a:r>
            <a:r>
              <a:rPr lang="ru-RU" dirty="0" smtClean="0"/>
              <a:t>Для </a:t>
            </a:r>
            <a:r>
              <a:rPr lang="ru-RU" dirty="0"/>
              <a:t>четырех языков (датского, итальянского, испанского и американского английского) разрабатывается сеть значений слов, связанная семантическими отношениями и позволяющая находить близкие по смыслу слова различных </a:t>
            </a:r>
            <a:r>
              <a:rPr lang="ru-RU" dirty="0" smtClean="0"/>
              <a:t>языков</a:t>
            </a:r>
          </a:p>
          <a:p>
            <a:pPr lvl="0"/>
            <a:r>
              <a:rPr lang="ru-RU" dirty="0" smtClean="0"/>
              <a:t>В </a:t>
            </a:r>
            <a:r>
              <a:rPr lang="ru-RU" dirty="0"/>
              <a:t>отличие от </a:t>
            </a:r>
            <a:r>
              <a:rPr lang="ru-RU" dirty="0" err="1" smtClean="0"/>
              <a:t>WordNet</a:t>
            </a:r>
            <a:r>
              <a:rPr lang="ru-RU" dirty="0"/>
              <a:t>, </a:t>
            </a:r>
            <a:r>
              <a:rPr lang="ru-RU" dirty="0" smtClean="0"/>
              <a:t>который создавался </a:t>
            </a:r>
            <a:r>
              <a:rPr lang="ru-RU" dirty="0"/>
              <a:t>для описания лексической и понятийной системы английского языка, </a:t>
            </a:r>
            <a:r>
              <a:rPr lang="ru-RU" b="1" dirty="0" err="1"/>
              <a:t>EuroWordNet</a:t>
            </a:r>
            <a:r>
              <a:rPr lang="ru-RU" dirty="0"/>
              <a:t> создается </a:t>
            </a:r>
            <a:r>
              <a:rPr lang="ru-RU" dirty="0" smtClean="0"/>
              <a:t>для </a:t>
            </a:r>
            <a:r>
              <a:rPr lang="ru-RU" dirty="0"/>
              <a:t>решения практических задач автоматической обработки больших массивов текстов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93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702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 smtClean="0"/>
              <a:t>Джерратино</a:t>
            </a:r>
            <a:r>
              <a:rPr lang="ru-RU" dirty="0" smtClean="0"/>
              <a:t>, Д., </a:t>
            </a:r>
            <a:r>
              <a:rPr lang="ru-RU" dirty="0" err="1" smtClean="0"/>
              <a:t>Райли</a:t>
            </a:r>
            <a:r>
              <a:rPr lang="ru-RU" dirty="0" smtClean="0"/>
              <a:t> Г. Экспертные системы: принципы разработки и программирования</a:t>
            </a:r>
          </a:p>
          <a:p>
            <a:r>
              <a:rPr lang="ru-RU" dirty="0" smtClean="0"/>
              <a:t>Джексон, П. Введение в экспертные системы</a:t>
            </a:r>
          </a:p>
          <a:p>
            <a:r>
              <a:rPr lang="ru-RU" dirty="0"/>
              <a:t>Частиков А.П., Гаврилова Т.А., Белов Д.Л. Разработка экспертных систем. Среда </a:t>
            </a:r>
            <a:r>
              <a:rPr lang="en-US" dirty="0" smtClean="0"/>
              <a:t>CLIPS</a:t>
            </a:r>
          </a:p>
          <a:p>
            <a:r>
              <a:rPr lang="ru-RU" dirty="0"/>
              <a:t>Фальк, Ким. Рекомендательные системы на практике. М.: ДМК – </a:t>
            </a:r>
            <a:r>
              <a:rPr lang="ru-RU" dirty="0" smtClean="0"/>
              <a:t>2020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48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4758</Words>
  <Application>Microsoft Office PowerPoint</Application>
  <PresentationFormat>Экран (4:3)</PresentationFormat>
  <Paragraphs>451</Paragraphs>
  <Slides>94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94</vt:i4>
      </vt:variant>
    </vt:vector>
  </HeadingPairs>
  <TitlesOfParts>
    <vt:vector size="95" baseType="lpstr">
      <vt:lpstr>Тема Office</vt:lpstr>
      <vt:lpstr>Экспертные и рекомендательные информационно-аналитические системы (Раздел 3)</vt:lpstr>
      <vt:lpstr>Экспертные системы</vt:lpstr>
      <vt:lpstr>Экспертные системы</vt:lpstr>
      <vt:lpstr>Экспертные системы</vt:lpstr>
      <vt:lpstr>Dendral (Стэнфорд, конец 60-х гг.)</vt:lpstr>
      <vt:lpstr>Mycin (Стэнфорд, середина 70-х гг.)</vt:lpstr>
      <vt:lpstr>Характерные черты ЭС</vt:lpstr>
      <vt:lpstr>Проблемы создания ЭС</vt:lpstr>
      <vt:lpstr>Экспертные системы</vt:lpstr>
      <vt:lpstr>ЭС. Трудности создания</vt:lpstr>
      <vt:lpstr>ЭС. Трудности создания</vt:lpstr>
      <vt:lpstr>ЭС. Преимущества</vt:lpstr>
      <vt:lpstr>ЭС. Преимущества</vt:lpstr>
      <vt:lpstr>ЭС. Преимущества</vt:lpstr>
      <vt:lpstr>ЭС. Преимущества</vt:lpstr>
      <vt:lpstr>ЭС. Примеры</vt:lpstr>
      <vt:lpstr>ЭС. Примеры</vt:lpstr>
      <vt:lpstr>ЭС. Примеры</vt:lpstr>
      <vt:lpstr>ЭС. Примеры</vt:lpstr>
      <vt:lpstr>ЭС. Примеры</vt:lpstr>
      <vt:lpstr>ЭС. Примеры</vt:lpstr>
      <vt:lpstr>ЭС. Примеры</vt:lpstr>
      <vt:lpstr>ЭС. Примеры</vt:lpstr>
      <vt:lpstr>ЭС. Примеры</vt:lpstr>
      <vt:lpstr>ЭС. Примеры</vt:lpstr>
      <vt:lpstr>ЭС. Оболочки</vt:lpstr>
      <vt:lpstr>ЭС. Оболочки</vt:lpstr>
      <vt:lpstr>Стадии существования ЭС</vt:lpstr>
      <vt:lpstr>Стадии существования ЭС</vt:lpstr>
      <vt:lpstr>Стадии существования ЭС</vt:lpstr>
      <vt:lpstr>Классификация экспертных систем</vt:lpstr>
      <vt:lpstr>Классификация ЭС</vt:lpstr>
      <vt:lpstr>Классификация ЭС</vt:lpstr>
      <vt:lpstr>Классификация ЭС</vt:lpstr>
      <vt:lpstr>Классификация ЭС</vt:lpstr>
      <vt:lpstr>Классификация ЭС</vt:lpstr>
      <vt:lpstr>Структура экспертной системы</vt:lpstr>
      <vt:lpstr>Структура ЭС</vt:lpstr>
      <vt:lpstr>Структура ЭС</vt:lpstr>
      <vt:lpstr>Структура ЭС</vt:lpstr>
      <vt:lpstr>Структура ЭС</vt:lpstr>
      <vt:lpstr>Структура ЭС</vt:lpstr>
      <vt:lpstr>Структура ЭС</vt:lpstr>
      <vt:lpstr>Структура ЭС</vt:lpstr>
      <vt:lpstr>Режимы работы ЭС</vt:lpstr>
      <vt:lpstr>Приобретение знаний ЭС</vt:lpstr>
      <vt:lpstr>Причины низкой скорости приобретения знаний</vt:lpstr>
      <vt:lpstr>Причины низкой скорости приобретения знаний</vt:lpstr>
      <vt:lpstr>Режимы работы ЭС</vt:lpstr>
      <vt:lpstr>Неопределенность знаний в ЭС</vt:lpstr>
      <vt:lpstr>Неполное знание о предметной области</vt:lpstr>
      <vt:lpstr>Недостаточная информация о ситуации</vt:lpstr>
      <vt:lpstr>Неопределенность знаний в ЭС</vt:lpstr>
      <vt:lpstr>Неопределенность знаний в ЭС</vt:lpstr>
      <vt:lpstr>Неопределенность знаний в ЭС</vt:lpstr>
      <vt:lpstr>Неопределенность знаний в ЭС</vt:lpstr>
      <vt:lpstr>Неопределенность знаний в ЭС</vt:lpstr>
      <vt:lpstr>Коэффициент доверия в ЭС</vt:lpstr>
      <vt:lpstr>Коэффициент доверия в ЭС</vt:lpstr>
      <vt:lpstr>Коэффициент доверия в ЭС</vt:lpstr>
      <vt:lpstr>Коэффициент доверия в ЭС</vt:lpstr>
      <vt:lpstr>Коэффициент доверия в ЭС</vt:lpstr>
      <vt:lpstr>Коэффициент доверия в ЭС</vt:lpstr>
      <vt:lpstr>Возможность создания ЭС</vt:lpstr>
      <vt:lpstr>Возможность создания ЭС</vt:lpstr>
      <vt:lpstr>Оправданность создания ЭС</vt:lpstr>
      <vt:lpstr>Задача соответствует ЭС</vt:lpstr>
      <vt:lpstr>Разработчики ЭС</vt:lpstr>
      <vt:lpstr>Разработчики ЭС</vt:lpstr>
      <vt:lpstr>Разработчики ЭС</vt:lpstr>
      <vt:lpstr>Подходы к созданию ЭС</vt:lpstr>
      <vt:lpstr>Подход, базирующийся на поверхностных знаниях</vt:lpstr>
      <vt:lpstr>Структурный подход</vt:lpstr>
      <vt:lpstr>Глубинный подход</vt:lpstr>
      <vt:lpstr>Смешанный подход</vt:lpstr>
      <vt:lpstr>Методика разработки ЭС</vt:lpstr>
      <vt:lpstr>Этап 1. Идентификация</vt:lpstr>
      <vt:lpstr>Этап 1. Идентификация</vt:lpstr>
      <vt:lpstr>Этап 2. Концептуализация</vt:lpstr>
      <vt:lpstr>Этап 3. Формализация</vt:lpstr>
      <vt:lpstr>Этап 4. Выполнение</vt:lpstr>
      <vt:lpstr>Этап 5. Тестирование</vt:lpstr>
      <vt:lpstr>Этап 6. Опытная эксплуатация</vt:lpstr>
      <vt:lpstr>Тезаурусы</vt:lpstr>
      <vt:lpstr>Тезаурусы. История</vt:lpstr>
      <vt:lpstr>Тезаурусы. Основные отношения</vt:lpstr>
      <vt:lpstr>Тезаурусы. Основные отношения</vt:lpstr>
      <vt:lpstr>Т. Дополнительные отношения</vt:lpstr>
      <vt:lpstr>Тезаурусы. Пример</vt:lpstr>
      <vt:lpstr>Тезаурусы. Назначение</vt:lpstr>
      <vt:lpstr>Тезаурусы. Задачи</vt:lpstr>
      <vt:lpstr>Тезаурусы. Примеры</vt:lpstr>
      <vt:lpstr>Тезаурусы. Примеры</vt:lpstr>
      <vt:lpstr>Литература</vt:lpstr>
    </vt:vector>
  </TitlesOfParts>
  <Company>ИСА РАН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Экспертные и рекомендательные информационно-аналитические системы</dc:title>
  <dc:creator>Alexander V. Soloviev</dc:creator>
  <cp:lastModifiedBy>Alexander V. Soloviev</cp:lastModifiedBy>
  <cp:revision>193</cp:revision>
  <dcterms:created xsi:type="dcterms:W3CDTF">2022-09-09T08:12:53Z</dcterms:created>
  <dcterms:modified xsi:type="dcterms:W3CDTF">2023-11-10T10:40:09Z</dcterms:modified>
</cp:coreProperties>
</file>